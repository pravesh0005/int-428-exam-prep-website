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7" r:id="rId3"/>
    <p:sldId id="260" r:id="rId4"/>
    <p:sldId id="261" r:id="rId5"/>
    <p:sldId id="262" r:id="rId6"/>
    <p:sldId id="265" r:id="rId7"/>
    <p:sldId id="266" r:id="rId8"/>
    <p:sldId id="267" r:id="rId9"/>
    <p:sldId id="270" r:id="rId10"/>
    <p:sldId id="271" r:id="rId11"/>
    <p:sldId id="272" r:id="rId12"/>
    <p:sldId id="275" r:id="rId13"/>
    <p:sldId id="276" r:id="rId14"/>
    <p:sldId id="277" r:id="rId15"/>
    <p:sldId id="280" r:id="rId16"/>
    <p:sldId id="282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AEEA-3D8D-0020-6D2C-260508867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C4D1B-1E7C-613A-7080-4617FB43C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72C28-36F3-1257-6763-6AFC70FB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85966-7857-F84D-E20F-B92C3B30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019E3-5C68-C584-B2CD-6BFEFA280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73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298E-EF1A-F169-E1F0-DC12DDFC5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25F5-ECE0-399E-B490-BD465A0A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43B38-1D11-BC32-9818-06BCBC0B8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2D2C9-6E81-C800-FAF4-999EED1DC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32C3A-0353-64EC-D0C3-2DA8B126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65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45FD3-1FB2-23E2-3450-315E5B71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442EF-F71E-2EDE-AE2A-FC0B735BD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0CCC6-C55D-C9ED-7E78-ACC5BAA4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85770-FA2E-CA05-B51C-4AD391959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4A3E6-1931-8A7C-E845-187F29AA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86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21D1C-A480-B00A-C350-CFA8B73A7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00D6E-AA13-5CEC-1688-5EA8BC592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6F2FAE-BB69-FA53-E755-9AB9D2442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251FBC-BA03-B445-E377-C14E3C899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C855F-2624-BD0B-EDC2-3BAEB7C5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5A898-BC27-11CF-3B59-D0937EB9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0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AC6DE-F865-0511-4F27-176524969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EA56C-120C-0CB0-A65D-BC79AB4E4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6442A8-F16C-9A90-04F8-0A1286B38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6A707-73F0-0DB6-F3FF-06A3A0F63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2D64D-7C79-EC05-2303-1C0762382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1F486-7665-1432-0708-081477C9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E348CF-C82C-E098-118D-7A66A1093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AB5732-EA5B-FEF2-0FE3-75D6052F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35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6BBF-2369-CC31-6FE8-7F95D7A00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8905E2-0A85-0C88-CD19-B93C21DA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E1DE7-F90C-92B7-4610-9443C708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E9B26-F9BC-F00B-BAA9-6EACB0CA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9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59222-D491-A8C9-352B-9AA9A838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662B7-BEF7-90D8-9CC3-3CF7B5D9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D69C0-5C1F-6E06-49FF-8B42BF71C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82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D2C7-8BC4-E925-3039-67137479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A8B70-BC81-5055-F5C6-A57222DED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3A1E8-4338-1D75-58A6-2CFAEEEDD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88A98-3029-7B26-6D2F-9F68D11D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78579-C968-1088-AC28-433903E66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21F44-9927-BE96-9E6B-DCAB34AB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37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F96E-3E8C-C71B-327A-5840B1861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33928-9E35-5004-C03F-FCF5F8207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2DF9E-0DE3-8F75-9B21-91E6997D4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AA602-5F02-DA74-D484-ADE894E8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CB3AC-DAC1-50B8-9D1F-5AF18829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B9C61-F62B-A917-9E22-5CB2DC4A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76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A8E4-5C8C-4A51-5F8F-190B9F02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AA83E-09AA-1B65-5242-1E4449FB9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63C9C-C2DE-3B36-5A7B-F3688098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BF096-4AC3-455A-3435-EBDE19B0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6262-7F6E-227F-B977-955CFAB1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721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6AF61-55BA-7749-E70B-B70E37311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E65F1C-E936-3ED2-F9F5-97C03510A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4A06-57FF-9121-FFAE-30143373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C4606-B027-F9CA-B9E2-B170EA1E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FA61D-65FD-3768-6A2E-FCE796D72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800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F3109-6D3B-FCCC-1AA2-CA1D85FD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C7498-B590-D18E-7539-9735097E8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ED37A-BB3D-8B48-E548-B1EA541AB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3EC76-4486-4553-B3E2-D153A2B8086D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3079E-E9BB-3E6B-B7A6-6927B4713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8FADE-B782-A030-A638-B52AE30EE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39DA7-AF3B-4CBA-B80C-0DDE948BAE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493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3498DB"/>
                </a:solidFill>
              </a:defRPr>
            </a:pPr>
            <a:r>
              <a:rPr sz="2667"/>
              <a:t>Crafting Powerful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E67E22"/>
                </a:solidFill>
              </a:defRPr>
            </a:pPr>
            <a:r>
              <a:rPr sz="2133" dirty="0"/>
              <a:t>Data Preparation Mastery</a:t>
            </a:r>
          </a:p>
          <a:p>
            <a:pPr>
              <a:spcAft>
                <a:spcPts val="1333"/>
              </a:spcAft>
              <a:defRPr sz="1400">
                <a:solidFill>
                  <a:srgbClr val="3498DB"/>
                </a:solidFill>
              </a:defRPr>
            </a:pPr>
            <a:r>
              <a:rPr sz="1867" dirty="0"/>
              <a:t>🔧 Data Cleaning | ✨ Feature Creation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Missing Values, Scaling, Encoding, Selection, Transformation, Outliers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2" descr="LPU Distance Education| Recognitions &amp; Approvals">
            <a:extLst>
              <a:ext uri="{FF2B5EF4-FFF2-40B4-BE49-F238E27FC236}">
                <a16:creationId xmlns:a16="http://schemas.microsoft.com/office/drawing/2014/main" id="{F760DD50-69EB-3BDF-28C7-C26AB0DE0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9C957B4-5149-E695-7686-081FC6708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Overview</a:t>
            </a:r>
            <a:r>
              <a:rPr lang="en-IN" sz="4267" dirty="0"/>
              <a:t> of </a:t>
            </a:r>
            <a:r>
              <a:rPr sz="4267" dirty="0"/>
              <a:t>6 Core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26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Data Cleaning &amp; Missing Values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Handle </a:t>
            </a:r>
            <a:r>
              <a:rPr sz="2400" dirty="0" err="1"/>
              <a:t>NaN</a:t>
            </a:r>
            <a:r>
              <a:rPr sz="2400" dirty="0"/>
              <a:t>, imputation strategies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Feature Scaling &amp; Normalization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Standardize, normalize ranges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Categorical Encoding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One-hot, label, ordinal encoding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Feature Selection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Choose best features, reduce dimensions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Feature Transformation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Log, polynomial, interactions, binning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400" dirty="0"/>
              <a:t>Outliers &amp; Imbalanced Data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400" dirty="0"/>
              <a:t>Handle extremes, class imbalance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E874715D-F0AB-4583-E28E-CC49CCFAB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B460098-5A31-2F32-3D3C-7AD44EA0F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Missing Values - Handling Strategies</a:t>
            </a:r>
          </a:p>
        </p:txBody>
      </p:sp>
      <p:pic>
        <p:nvPicPr>
          <p:cNvPr id="5" name="Picture 4" descr="01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558500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69DF7FD-E4C4-E05F-1954-30D3557669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0D4DC83-5A71-B823-5C82-D764C5B39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Missing Values -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Deletion Methods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Delete rows: Simple but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loses data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Delete columns: Only if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&gt;50% missing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Pairwise deletion: Use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available data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308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Imputation Methods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Mean/Median: Quick, simple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Forward Fill: Time series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Interpolation: More accurate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KNN: Use neighbors' values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Prediction: ML model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0C829FA2-9377-D597-974A-F848194867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87E48B6-9BAF-EFBA-86DE-2A4DEB7DE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Missing Values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514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Problem: NaN values prevent model training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Impact: Can drop model accuracy by 20-30%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Solution: Delete (simple) or Impute (preserve data)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Practice: Use median/interpolation, not mean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Tip: Check if missingness is random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sklearn.impute import SimpleImputer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4140AD6-12BD-3D7F-09EC-2301122571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4182652-ED8A-BB27-6AC6-DB8AE173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Scaling - Before &amp; After Visualization</a:t>
            </a:r>
          </a:p>
        </p:txBody>
      </p:sp>
      <p:pic>
        <p:nvPicPr>
          <p:cNvPr id="5" name="Picture 4" descr="02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487504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AE42D79-30B2-A02C-57C9-77EE066BD8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8950050-87AE-9C2B-732B-DD81417E8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Scaling - When Not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DON'T Scale If Using: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Decision Trees/Forests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(They don't care about scale)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Interpretable coefficients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(Scaling changes meaning)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Sparse data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(Scaling makes dense)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3089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DO Scale If Using: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KNN, K-Means clustering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SVM, Neural Networks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Ridge, Lasso regression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PCA, t-SNE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Distance-based methods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95FCF43F-1993-B564-D6E6-7611673EC5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1BDC6B-5AC9-A49D-A327-B3EFA700D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Scaling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Problem: Features have different ranges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Impact: Distance algorithms affected, 3-15% accuracy loss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Solution: Min-Max (0-1) or Standardization (mean=0)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Default: StandardScaler (most algorithms)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Important: Fit on training, apply to test data!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sklearn.preprocessing import StandardScaler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FDE9A87-0A3C-5FDE-9582-50ACBD7FE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D22B4A5F-1BDC-E4F0-886D-9BFD13F6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Categorical Encoding - Methods Comparison</a:t>
            </a:r>
          </a:p>
        </p:txBody>
      </p:sp>
      <p:pic>
        <p:nvPicPr>
          <p:cNvPr id="5" name="Picture 4" descr="03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664515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46595D26-F19E-0C9B-995B-3BCE241012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FE4A467-CAF1-DC8A-25A4-68A7B041B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Encoding - Decision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Use Label Encoding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Binary feature (2 categories)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Example: Yes/No, M/F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Ordinal categories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Example: Low/Med/High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Tree-based models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(XGBoost, 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Use One-Hot Encoding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Nominal categories (no order)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Example: Red/Blue/Green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Many categories not possible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Max 10-20 categories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Linear/Distance models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KNN, SVM, Neural Networks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2BFB2F58-FA4C-14B5-D8E4-D08B9735D9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75692BE-8F25-DAEA-43C7-2092CD596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Encoding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Problem: Models can't process text like 'Red', 'Blue'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Label Encoding: Single column: 0, 1, 2 (creates order)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One-Hot Encoding: Multiple columns: creates binary flags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Ordinal Encoding: For ordered categories: Low=0, High=2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Practice: Use One-Hot for unordered categories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sklearn.preprocessing import OneHotEncoder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F1EF26E-4905-2EC9-688C-A1FD84BC39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5D990D-696B-94D5-B638-1B051028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Feature Selection - Methods Comparison</a:t>
            </a:r>
          </a:p>
        </p:txBody>
      </p:sp>
      <p:pic>
        <p:nvPicPr>
          <p:cNvPr id="5" name="Picture 4" descr="04_feature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35" y="1012590"/>
            <a:ext cx="11795146" cy="576791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3A919E1F-A1B2-BD1B-ACF4-55571996EB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08F7FB4-C55E-9B87-289E-307A274F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Feature Selection -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Start With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Domain knowledge first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(Always most important!)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Correlation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Remove highly correlated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Tree importance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(XGBoost, Random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2795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Then Try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Filter methods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(Fast, good baseline)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Embedded methods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(During training)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Wrapper if needed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(Slower but thorough)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F76D4E31-95E3-352C-FDF7-B711A33163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AADD38E-4441-4D44-A745-A90ADDA59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Feature Selection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Problem: Too many features cause overfitting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Filter: Correlation, mutual info (fast)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Wrapper: RFE, recursive elimination (slow, best)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Embedded: L1/Lasso, tree importance (balanced)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Benefit: 5-10× faster models, better accuracy!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sklearn.feature_selection import RFE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ADC195D-65F3-59D5-730D-E445B35E53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6103049-C018-45EA-8ED5-993166D81A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Transformation - Log, Polynomial, Interaction</a:t>
            </a:r>
          </a:p>
        </p:txBody>
      </p:sp>
      <p:pic>
        <p:nvPicPr>
          <p:cNvPr id="5" name="Picture 4" descr="05_trans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14224"/>
            <a:ext cx="12009120" cy="604377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08F4B14-E895-F672-73FB-7CAB927C3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6C15FE4-84D3-0980-1DE7-025F550D5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Transformation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Log Transform: Right-skewed data, exponential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Polynomial: Non-linear relationships (x^2, sqrt)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Interaction: Feature combinations (x1 * x2)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Binning: Convert continuous to categorical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Impact: Usually 5-15% accuracy improvement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np.log1p(X) or PolynomialFeatures(2)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14C4DE25-4E28-AADB-C747-EE0B87C3EF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771E2CE-7A18-39D0-9B6B-00084E428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Outliers &amp; Imbalance - Detection &amp; Solutions</a:t>
            </a:r>
          </a:p>
        </p:txBody>
      </p:sp>
      <p:pic>
        <p:nvPicPr>
          <p:cNvPr id="5" name="Picture 4" descr="06_outlier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04" y="814225"/>
            <a:ext cx="11958796" cy="602203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93288AA-6F8A-418F-0F17-2742FF517D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15BFA97-5353-7CF8-BC25-901934208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Handling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Outlier Handling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IQR method: Remove Q3+1.5*IQR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Z-score: Remove |z| &gt; 3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Clipping: Cap at min/max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Log transform: Compress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500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Imbalance Handling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Oversampling: Duplicate minority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Undersampling: Remove majority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SMOTE: Create synthetic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Class weights: Penalize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B23F64FC-474D-9E03-6850-5AAE0F70FD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34A0741-7FA4-5666-FC97-65590566C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Outliers &amp; Imbalance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1741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Outliers: Extreme values cause poor predictions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Detection: IQR method (Q1-1.5*IQR, Q3+1.5*IQR)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Handling: Remove, clip, or transform (log)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Imbalance: Unequal classes: model biased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Solution: SMOTE (best), oversampling, class weights</a:t>
            </a:r>
          </a:p>
          <a:p>
            <a:pPr>
              <a:spcAft>
                <a:spcPts val="667"/>
              </a:spcAft>
              <a:defRPr sz="850">
                <a:solidFill>
                  <a:srgbClr val="4CAF50"/>
                </a:solidFill>
                <a:latin typeface="Courier New"/>
              </a:defRPr>
            </a:pPr>
            <a:r>
              <a:rPr sz="1133"/>
              <a:t>Code: from imblearn.over_sampling import SMOTE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03A30220-86DA-8529-BD75-9366F0F17D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D296F3-510A-0817-EA63-886535C3B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Feature Engineering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40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Complete Pipeline</a:t>
            </a:r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1. DATA CLEANING: Handle missing values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Delete rows (&gt;30% missing) or Impute (mean/median)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2. OUTLIER HANDLING: Remove/clip extreme values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IQR method or Z-score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3. ENCODING: Convert categories to numbers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One-Hot for unordered, Ordinal for ordered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4. SCALING: Normalize all features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StandardScaler (default) or MinMaxScaler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5. TRANSFORMATION: Create new meaningful features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Log (skewed), Polynomial (non-linear), Interaction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6. FEATURE SELECTION: Keep only important features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Correlation, RFE, or tree importance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1E88E5"/>
                </a:solidFill>
              </a:defRPr>
            </a:pPr>
            <a:r>
              <a:rPr sz="1467"/>
              <a:t>7. HANDLE IMBALANCE: Balance class distribution</a:t>
            </a:r>
          </a:p>
          <a:p>
            <a:pPr>
              <a:defRPr sz="900">
                <a:solidFill>
                  <a:srgbClr val="16A085"/>
                </a:solidFill>
              </a:defRPr>
            </a:pPr>
            <a:r>
              <a:rPr sz="1200"/>
              <a:t>   → SMOTE or class weights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defRPr sz="1100" b="1">
                <a:solidFill>
                  <a:srgbClr val="4CAF50"/>
                </a:solidFill>
              </a:defRPr>
            </a:pPr>
            <a:r>
              <a:rPr sz="1467"/>
              <a:t>RESULT: Clean, normalized, balanced, engineered features!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Expect: 10-30% accuracy improvement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F57B602C-BE99-9441-1F96-9E7D686784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16AB49B-53D4-96CF-A927-F1C39891C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Real-World Impact: Before &amp;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298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Kaggle Competitions: Before: 75% accuracy | After: 89% (engineering) | +14%!</a:t>
            </a:r>
          </a:p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Fraud Detection: Before: 82% | After: 91% | +9%</a:t>
            </a:r>
          </a:p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Customer Churn: Before: 80% | After: 87% | +7%</a:t>
            </a:r>
          </a:p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Loan Default: Before: 78% | After: 85% | +7%</a:t>
            </a:r>
          </a:p>
          <a:p>
            <a:pPr>
              <a:spcAft>
                <a:spcPts val="10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Disease Diagnosis: Before: 85% | After: 93% | +8%</a:t>
            </a:r>
          </a:p>
          <a:p>
            <a:pPr>
              <a:spcBef>
                <a:spcPts val="1333"/>
              </a:spcBef>
              <a:defRPr sz="1000" b="1">
                <a:solidFill>
                  <a:srgbClr val="4CAF50"/>
                </a:solidFill>
              </a:defRPr>
            </a:pPr>
            <a:r>
              <a:rPr sz="1333"/>
              <a:t>Feature engineering is often 50% of ML work and 50% of accuracy gains!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958D1787-2AC3-9AA9-AE38-F4C456656A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DBBDAD1-D45C-D8C2-B864-5B4921E61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1059</Words>
  <Application>Microsoft Office PowerPoint</Application>
  <PresentationFormat>Widescreen</PresentationFormat>
  <Paragraphs>196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30</cp:revision>
  <dcterms:created xsi:type="dcterms:W3CDTF">2026-01-17T09:47:05Z</dcterms:created>
  <dcterms:modified xsi:type="dcterms:W3CDTF">2026-01-17T09:59:08Z</dcterms:modified>
</cp:coreProperties>
</file>