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92154-1F6D-9542-4B9E-CE63675800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0BFBB2-C98D-B142-E95D-0020F907B6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8A60A-1DFD-2DFE-790C-8EFFD42BD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BF00-2349-4FA8-9AED-E35827A296C4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90176-09E3-ED86-2FE1-3A1F9E1D9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95817-A0A7-A1A7-2E35-19022F2CF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83EC9-8C05-4231-9196-71F15E5DD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0854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DCDE0-2B12-0EE4-9869-F9C5E83CB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66076-40F7-3741-035E-C5A9E7D38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7785E-5094-A60D-FD5B-9DAF172E8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BF00-2349-4FA8-9AED-E35827A296C4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3FAA4-7164-D52A-6BC0-CE80B5D80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FCC47-C206-0F4E-82EE-47D6ED358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83EC9-8C05-4231-9196-71F15E5DD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65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5CC74-0638-C78E-438F-469D22DD1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AC0D3-A71B-DA6B-5419-6A5D8D105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7485A-E55A-802D-7B78-725D075AA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BF00-2349-4FA8-9AED-E35827A296C4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DCD63-ED96-2353-DCA8-EED8FBE12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D44B9-9C1A-63DE-9B34-BA575FB96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83EC9-8C05-4231-9196-71F15E5DD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230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DF4B7-1EDE-DBAA-1E9C-6881BC102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C3FDD-4470-264E-38BA-E10F7BBF7B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7AB953-4421-38AB-EEAB-7D583ABF76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E9719D-5B95-9663-E9E9-81B6B323C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BF00-2349-4FA8-9AED-E35827A296C4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19099-AADE-823E-B0A2-9107DBA12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912391-D168-A7B9-6A0F-7AB877EBD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83EC9-8C05-4231-9196-71F15E5DD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425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F7CDD-D088-C1C2-CAB6-F74752CCC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E4AD10-2ADF-7EFC-27E8-98DC03569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E58233-D16D-65DD-5372-2911BFADB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178418-1F3B-5D62-8F31-376C8CEFA4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9CABB9-C3AF-B8E4-4F98-17F0943460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35EE6E-50C4-82EC-F83B-BDC4D9EBA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BF00-2349-4FA8-9AED-E35827A296C4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33B098-9D6D-1515-225C-3CFAC3027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C03A21-4492-AA94-127D-5B88ED3B5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83EC9-8C05-4231-9196-71F15E5DD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247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39709-B9B0-854C-B471-4284EC960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F49484-AB62-A010-E2E2-98A938396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BF00-2349-4FA8-9AED-E35827A296C4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B53149-3127-0936-EE86-7E62333F6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CB1BBC-FDEC-686D-6A58-11A92C69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83EC9-8C05-4231-9196-71F15E5DD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330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4B4C28-80D5-CC32-C1EC-0EE6B927D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BF00-2349-4FA8-9AED-E35827A296C4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6C2528-0C58-C6ED-878C-F2BAAC777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09052-FCB0-FBBF-D9B6-1CB252FE3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83EC9-8C05-4231-9196-71F15E5DD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190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D52E4-5A38-6897-D5A3-886A38EB9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C671B-FCD3-F462-6216-DAEC718FA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08A85C-C853-4F53-031B-DE80D5E605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069BB5-1273-4A27-0796-283F07E11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BF00-2349-4FA8-9AED-E35827A296C4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A5D1C3-71FA-B787-D5DB-8B03D480D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4DE4A9-DFD5-1898-6EE5-58FFD3BEF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83EC9-8C05-4231-9196-71F15E5DD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882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19B45-B3A2-F83E-D57D-F67BAE278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8A2053-1D32-177D-1774-9AC5B8E73F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8AF931-6DAA-0623-1143-536205250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1D23E0-E2EE-7255-386B-93E1A1B6E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BF00-2349-4FA8-9AED-E35827A296C4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1E6A68-1ED3-33C4-5685-776A45EFE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5EBBBB-9D46-6DAB-F392-7C92DA6D5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83EC9-8C05-4231-9196-71F15E5DD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1408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5093B-17B1-BC4A-58FC-A2C62132C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198E29-66B8-C88B-2C3D-A5168B6E7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D41D5-F3EC-3983-3DA1-4BB559AA2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BF00-2349-4FA8-9AED-E35827A296C4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0D547-0397-2111-7574-7C95BDCCC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6D152-C71C-9E70-6608-4F2A3B9E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83EC9-8C05-4231-9196-71F15E5DD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078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8EC6EC-3E72-E3E1-4A24-852E6C400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61E1B3-63E0-16EB-E87B-98F45034F6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94538-A344-09F8-5FED-15691A58C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BF00-2349-4FA8-9AED-E35827A296C4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CE414-D520-0675-7E2A-F20C34932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3ED96-D3B6-A3BA-F405-DA7065DB7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83EC9-8C05-4231-9196-71F15E5DD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022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4AA77B-EC1A-A1FE-D95F-FBEF70A20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CA3C16-4B5C-9D32-449D-694D18664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B64C0-5A74-F0A1-5BB1-7387A8002E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85BF00-2349-4FA8-9AED-E35827A296C4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BF166-C68B-0A34-AEFE-94E8D9CFA8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38FCA-0142-30C0-75E1-EE4E5DC24E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183EC9-8C05-4231-9196-71F15E5DD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230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4169E1"/>
          </a:solidFill>
          <a:ln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609600" y="243840"/>
            <a:ext cx="10972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rPr sz="7200"/>
              <a:t>STATISTICS &amp; PROBABILITY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341120"/>
            <a:ext cx="10972800" cy="502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i="1">
                <a:solidFill>
                  <a:srgbClr val="FFFFFF"/>
                </a:solidFill>
              </a:defRPr>
            </a:pPr>
            <a:r>
              <a:rPr sz="2667"/>
              <a:t>Understanding Data Through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194561"/>
            <a:ext cx="5852160" cy="1223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FFFFFF"/>
                </a:solidFill>
              </a:defRPr>
            </a:pPr>
            <a:r>
              <a:rPr sz="2133" dirty="0"/>
              <a:t>The Bell Curve</a:t>
            </a:r>
          </a:p>
          <a:p>
            <a:pPr>
              <a:spcAft>
                <a:spcPts val="1333"/>
              </a:spcAft>
              <a:defRPr sz="1200">
                <a:solidFill>
                  <a:srgbClr val="FFFFC8"/>
                </a:solidFill>
              </a:defRPr>
            </a:pPr>
            <a:r>
              <a:rPr sz="1600" dirty="0"/>
              <a:t>📊 Normal Distribution | 📏 Std Deviation</a:t>
            </a:r>
            <a:endParaRPr sz="1467" dirty="0"/>
          </a:p>
          <a:p>
            <a:pPr>
              <a:defRPr sz="900">
                <a:solidFill>
                  <a:srgbClr val="C8DCFF"/>
                </a:solidFill>
              </a:defRPr>
            </a:pPr>
            <a:r>
              <a:rPr sz="1200" dirty="0"/>
              <a:t>Mean, Median, </a:t>
            </a:r>
            <a:r>
              <a:rPr sz="1200" dirty="0" err="1"/>
              <a:t>StdDev</a:t>
            </a:r>
            <a:r>
              <a:rPr sz="1200" dirty="0"/>
              <a:t>, Variance, Distributions, Hypothesis Testing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705600" y="2194560"/>
            <a:ext cx="1463040" cy="853440"/>
          </a:xfrm>
          <a:prstGeom prst="rect">
            <a:avLst/>
          </a:prstGeom>
          <a:solidFill>
            <a:srgbClr val="FF6B6B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333"/>
              <a:t>μ</a:t>
            </a:r>
            <a:br>
              <a:rPr sz="1333"/>
            </a:br>
            <a:r>
              <a:rPr sz="1333"/>
              <a:t>Mean</a:t>
            </a:r>
          </a:p>
        </p:txBody>
      </p:sp>
      <p:sp>
        <p:nvSpPr>
          <p:cNvPr id="8" name="Rectangle 7"/>
          <p:cNvSpPr/>
          <p:nvPr/>
        </p:nvSpPr>
        <p:spPr>
          <a:xfrm>
            <a:off x="6705600" y="3413760"/>
            <a:ext cx="1463040" cy="853440"/>
          </a:xfrm>
          <a:prstGeom prst="rect">
            <a:avLst/>
          </a:prstGeom>
          <a:solidFill>
            <a:srgbClr val="FFA500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333"/>
              <a:t>σ</a:t>
            </a:r>
            <a:br>
              <a:rPr sz="1333"/>
            </a:br>
            <a:r>
              <a:rPr sz="1333"/>
              <a:t>StdDev</a:t>
            </a:r>
          </a:p>
        </p:txBody>
      </p:sp>
      <p:sp>
        <p:nvSpPr>
          <p:cNvPr id="9" name="Rectangle 8"/>
          <p:cNvSpPr/>
          <p:nvPr/>
        </p:nvSpPr>
        <p:spPr>
          <a:xfrm>
            <a:off x="6705600" y="4632960"/>
            <a:ext cx="1463040" cy="853440"/>
          </a:xfrm>
          <a:prstGeom prst="rect">
            <a:avLst/>
          </a:prstGeom>
          <a:solidFill>
            <a:srgbClr val="FFD700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333"/>
              <a:t>σ²</a:t>
            </a:r>
            <a:br>
              <a:rPr sz="1333"/>
            </a:br>
            <a:r>
              <a:rPr sz="1333"/>
              <a:t>Var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0" y="2194560"/>
            <a:ext cx="1463040" cy="853440"/>
          </a:xfrm>
          <a:prstGeom prst="rect">
            <a:avLst/>
          </a:prstGeom>
          <a:solidFill>
            <a:srgbClr val="4ECDC4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333"/>
              <a:t>π</a:t>
            </a:r>
            <a:br>
              <a:rPr sz="1333"/>
            </a:br>
            <a:r>
              <a:rPr sz="1333"/>
              <a:t>Dist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3413760"/>
            <a:ext cx="1463040" cy="853440"/>
          </a:xfrm>
          <a:prstGeom prst="rect">
            <a:avLst/>
          </a:prstGeom>
          <a:solidFill>
            <a:srgbClr val="45B7D1"/>
          </a:solidFill>
          <a:ln w="25400">
            <a:solidFill>
              <a:srgbClr val="45B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333"/>
              <a:t>α</a:t>
            </a:r>
            <a:br>
              <a:rPr sz="1333"/>
            </a:br>
            <a:r>
              <a:rPr sz="1333"/>
              <a:t>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4632960"/>
            <a:ext cx="1463040" cy="853440"/>
          </a:xfrm>
          <a:prstGeom prst="rect">
            <a:avLst/>
          </a:prstGeom>
          <a:solidFill>
            <a:srgbClr val="4169E1"/>
          </a:solidFill>
          <a:ln w="25400"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333"/>
              <a:t>P</a:t>
            </a:r>
            <a:br>
              <a:rPr sz="1333"/>
            </a:br>
            <a:r>
              <a:rPr sz="1333"/>
              <a:t>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6675120"/>
            <a:ext cx="12009120" cy="182880"/>
          </a:xfrm>
          <a:prstGeom prst="rect">
            <a:avLst/>
          </a:prstGeom>
          <a:solidFill>
            <a:srgbClr val="FFA500"/>
          </a:solidFill>
          <a:ln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14" name="Picture 2" descr="LPU Distance Education| Recognitions &amp; Approvals">
            <a:extLst>
              <a:ext uri="{FF2B5EF4-FFF2-40B4-BE49-F238E27FC236}">
                <a16:creationId xmlns:a16="http://schemas.microsoft.com/office/drawing/2014/main" id="{AC898CDA-55B9-F3CA-966E-DE90065231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A75AAB70-9750-9EF0-4365-F3B3B59E8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  <a:ln>
            <a:solidFill>
              <a:srgbClr val="E8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004898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Statistics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0"/>
            <a:ext cx="5486400" cy="3833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E88E5"/>
                </a:solidFill>
              </a:defRPr>
            </a:pPr>
            <a:r>
              <a:rPr sz="2133"/>
              <a:t>Two Branches</a:t>
            </a:r>
          </a:p>
          <a:p>
            <a:pPr>
              <a:spcAft>
                <a:spcPts val="800"/>
              </a:spcAft>
              <a:defRPr sz="1200" b="1">
                <a:solidFill>
                  <a:srgbClr val="1E88E5"/>
                </a:solidFill>
              </a:defRPr>
            </a:pPr>
            <a:r>
              <a:rPr sz="1600"/>
              <a:t>Descriptive Statistics</a:t>
            </a:r>
          </a:p>
          <a:p>
            <a:pPr>
              <a:spcAft>
                <a:spcPts val="400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Summarize data</a:t>
            </a:r>
          </a:p>
          <a:p>
            <a:pPr>
              <a:spcAft>
                <a:spcPts val="400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Mean, median, mode</a:t>
            </a:r>
          </a:p>
          <a:p>
            <a:pPr>
              <a:spcAft>
                <a:spcPts val="400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Standard deviation</a:t>
            </a:r>
          </a:p>
          <a:p>
            <a:pPr>
              <a:spcAft>
                <a:spcPts val="400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Visualizations</a:t>
            </a:r>
          </a:p>
          <a:p>
            <a:pPr>
              <a:spcAft>
                <a:spcPts val="1067"/>
              </a:spcAft>
            </a:pPr>
            <a:endParaRPr sz="2400"/>
          </a:p>
          <a:p>
            <a:pPr>
              <a:spcAft>
                <a:spcPts val="800"/>
              </a:spcAft>
              <a:defRPr sz="1200" b="1">
                <a:solidFill>
                  <a:srgbClr val="16A085"/>
                </a:solidFill>
              </a:defRPr>
            </a:pPr>
            <a:r>
              <a:rPr sz="1600"/>
              <a:t>Inferential Statistics</a:t>
            </a:r>
          </a:p>
          <a:p>
            <a:pPr>
              <a:spcAft>
                <a:spcPts val="400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Make predictions</a:t>
            </a:r>
          </a:p>
          <a:p>
            <a:pPr>
              <a:spcAft>
                <a:spcPts val="400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Hypothesis testing</a:t>
            </a:r>
          </a:p>
          <a:p>
            <a:pPr>
              <a:spcAft>
                <a:spcPts val="400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Confidence intervals</a:t>
            </a:r>
          </a:p>
          <a:p>
            <a:pPr>
              <a:spcAft>
                <a:spcPts val="400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Generalize from sample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9840" y="1036321"/>
            <a:ext cx="5486400" cy="3832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4CAF50"/>
                </a:solidFill>
              </a:defRPr>
            </a:pPr>
            <a:r>
              <a:rPr sz="2133"/>
              <a:t>Key Measures</a:t>
            </a:r>
          </a:p>
          <a:p>
            <a:pPr>
              <a:spcAft>
                <a:spcPts val="267"/>
              </a:spcAft>
              <a:defRPr sz="1100" b="1">
                <a:solidFill>
                  <a:srgbClr val="16A085"/>
                </a:solidFill>
              </a:defRPr>
            </a:pPr>
            <a:r>
              <a:rPr sz="1467"/>
              <a:t>Mean (μ)</a:t>
            </a:r>
          </a:p>
          <a:p>
            <a:pPr>
              <a:spcAft>
                <a:spcPts val="800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Average value</a:t>
            </a:r>
          </a:p>
          <a:p>
            <a:pPr>
              <a:spcAft>
                <a:spcPts val="267"/>
              </a:spcAft>
              <a:defRPr sz="1100" b="1">
                <a:solidFill>
                  <a:srgbClr val="16A085"/>
                </a:solidFill>
              </a:defRPr>
            </a:pPr>
            <a:r>
              <a:rPr sz="1467"/>
              <a:t>Median</a:t>
            </a:r>
          </a:p>
          <a:p>
            <a:pPr>
              <a:spcAft>
                <a:spcPts val="800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Middle value</a:t>
            </a:r>
          </a:p>
          <a:p>
            <a:pPr>
              <a:spcAft>
                <a:spcPts val="267"/>
              </a:spcAft>
              <a:defRPr sz="1100" b="1">
                <a:solidFill>
                  <a:srgbClr val="16A085"/>
                </a:solidFill>
              </a:defRPr>
            </a:pPr>
            <a:r>
              <a:rPr sz="1467"/>
              <a:t>Mode</a:t>
            </a:r>
          </a:p>
          <a:p>
            <a:pPr>
              <a:spcAft>
                <a:spcPts val="800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Most frequent</a:t>
            </a:r>
          </a:p>
          <a:p>
            <a:pPr>
              <a:spcAft>
                <a:spcPts val="267"/>
              </a:spcAft>
              <a:defRPr sz="1100" b="1">
                <a:solidFill>
                  <a:srgbClr val="16A085"/>
                </a:solidFill>
              </a:defRPr>
            </a:pPr>
            <a:r>
              <a:rPr sz="1467"/>
              <a:t>Variance (σ²)</a:t>
            </a:r>
          </a:p>
          <a:p>
            <a:pPr>
              <a:spcAft>
                <a:spcPts val="800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Spread squared</a:t>
            </a:r>
          </a:p>
          <a:p>
            <a:pPr>
              <a:spcAft>
                <a:spcPts val="267"/>
              </a:spcAft>
              <a:defRPr sz="1100" b="1">
                <a:solidFill>
                  <a:srgbClr val="16A085"/>
                </a:solidFill>
              </a:defRPr>
            </a:pPr>
            <a:r>
              <a:rPr sz="1467"/>
              <a:t>Std Dev (σ)</a:t>
            </a:r>
          </a:p>
          <a:p>
            <a:pPr>
              <a:spcAft>
                <a:spcPts val="800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Typical distance</a:t>
            </a:r>
          </a:p>
          <a:p>
            <a:pPr>
              <a:spcAft>
                <a:spcPts val="267"/>
              </a:spcAft>
              <a:defRPr sz="1100" b="1">
                <a:solidFill>
                  <a:srgbClr val="16A085"/>
                </a:solidFill>
              </a:defRPr>
            </a:pPr>
            <a:r>
              <a:rPr sz="1467"/>
              <a:t>Correlation (r)</a:t>
            </a:r>
          </a:p>
          <a:p>
            <a:pPr>
              <a:spcAft>
                <a:spcPts val="800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Relationship -1 to +1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E9B96E58-A436-E198-0D02-B711D1C6A6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7D7AB6E1-A630-CD87-2651-5C6B9A252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  <a:ln>
            <a:solidFill>
              <a:srgbClr val="E8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0803988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Normal Distribution (Bell Curve)</a:t>
            </a:r>
          </a:p>
        </p:txBody>
      </p:sp>
      <p:pic>
        <p:nvPicPr>
          <p:cNvPr id="5" name="Picture 4" descr="01_normal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75361"/>
            <a:ext cx="11460480" cy="56821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852161"/>
            <a:ext cx="1146048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rPr sz="1467"/>
              <a:t>The most important distribution in statistics. 68% of data within 1 standard deviation, 95% within 2σ, 99.7% within 3σ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1C7CF2EC-1545-B59F-4466-5F835472D0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BB69655D-2E0E-9E39-754C-162D92012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  <a:ln>
            <a:solidFill>
              <a:srgbClr val="E8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0803987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Histograms &amp; Frequency Distributions</a:t>
            </a:r>
          </a:p>
        </p:txBody>
      </p:sp>
      <p:pic>
        <p:nvPicPr>
          <p:cNvPr id="5" name="Picture 4" descr="02_histogram_b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75361"/>
            <a:ext cx="11460480" cy="56821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852161"/>
            <a:ext cx="1146048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rPr sz="1467"/>
              <a:t>Visual representation of data distribution. Red bars show frequency, blue curve shows theoretical normal distribution fit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164F20FC-EDB6-000C-82AA-57DD500693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1E4BC9B2-A71D-32AC-5845-CE01698EB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  <a:ln>
            <a:solidFill>
              <a:srgbClr val="E8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0803988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Correlation &amp; Linear Regression</a:t>
            </a:r>
          </a:p>
        </p:txBody>
      </p:sp>
      <p:pic>
        <p:nvPicPr>
          <p:cNvPr id="5" name="Picture 4" descr="03_regression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75361"/>
            <a:ext cx="11460480" cy="56805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852160"/>
            <a:ext cx="1146048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rPr sz="1467"/>
              <a:t>Scatter plot shows relationship between variables. Blue line represents best-fit linear regression for prediction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EBEC473F-B62B-75C0-AA66-3CB64EC46F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661892F0-FC80-1A83-AE66-9EC3B74A1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  <a:ln>
            <a:solidFill>
              <a:srgbClr val="E8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0803988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Box Plots &amp; Quartiles</a:t>
            </a:r>
          </a:p>
        </p:txBody>
      </p:sp>
      <p:pic>
        <p:nvPicPr>
          <p:cNvPr id="5" name="Picture 4" descr="04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75361"/>
            <a:ext cx="7924800" cy="39224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34400" y="1097281"/>
            <a:ext cx="3291840" cy="3369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200" b="1">
                <a:solidFill>
                  <a:srgbClr val="FF6B6B"/>
                </a:solidFill>
              </a:defRPr>
            </a:pPr>
            <a:r>
              <a:rPr sz="1600"/>
              <a:t>Box Plot Components:</a:t>
            </a:r>
          </a:p>
          <a:p>
            <a:pPr>
              <a:spcAft>
                <a:spcPts val="133"/>
              </a:spcAft>
              <a:defRPr sz="1000" b="1">
                <a:solidFill>
                  <a:srgbClr val="1E88E5"/>
                </a:solidFill>
              </a:defRPr>
            </a:pPr>
            <a:r>
              <a:rPr sz="1333"/>
              <a:t>Min</a:t>
            </a:r>
          </a:p>
          <a:p>
            <a:pPr>
              <a:spcAft>
                <a:spcPts val="667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Lowest value</a:t>
            </a:r>
          </a:p>
          <a:p>
            <a:pPr>
              <a:spcAft>
                <a:spcPts val="133"/>
              </a:spcAft>
              <a:defRPr sz="1000" b="1">
                <a:solidFill>
                  <a:srgbClr val="1E88E5"/>
                </a:solidFill>
              </a:defRPr>
            </a:pPr>
            <a:r>
              <a:rPr sz="1333"/>
              <a:t>Q1 (25%)</a:t>
            </a:r>
          </a:p>
          <a:p>
            <a:pPr>
              <a:spcAft>
                <a:spcPts val="667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Lower quartile</a:t>
            </a:r>
          </a:p>
          <a:p>
            <a:pPr>
              <a:spcAft>
                <a:spcPts val="133"/>
              </a:spcAft>
              <a:defRPr sz="1000" b="1">
                <a:solidFill>
                  <a:srgbClr val="1E88E5"/>
                </a:solidFill>
              </a:defRPr>
            </a:pPr>
            <a:r>
              <a:rPr sz="1333"/>
              <a:t>Q2 (50%)</a:t>
            </a:r>
          </a:p>
          <a:p>
            <a:pPr>
              <a:spcAft>
                <a:spcPts val="667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Median</a:t>
            </a:r>
          </a:p>
          <a:p>
            <a:pPr>
              <a:spcAft>
                <a:spcPts val="133"/>
              </a:spcAft>
              <a:defRPr sz="1000" b="1">
                <a:solidFill>
                  <a:srgbClr val="1E88E5"/>
                </a:solidFill>
              </a:defRPr>
            </a:pPr>
            <a:r>
              <a:rPr sz="1333"/>
              <a:t>Q3 (75%)</a:t>
            </a:r>
          </a:p>
          <a:p>
            <a:pPr>
              <a:spcAft>
                <a:spcPts val="667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Upper quartile</a:t>
            </a:r>
          </a:p>
          <a:p>
            <a:pPr>
              <a:spcAft>
                <a:spcPts val="133"/>
              </a:spcAft>
              <a:defRPr sz="1000" b="1">
                <a:solidFill>
                  <a:srgbClr val="1E88E5"/>
                </a:solidFill>
              </a:defRPr>
            </a:pPr>
            <a:r>
              <a:rPr sz="1333"/>
              <a:t>Max</a:t>
            </a:r>
          </a:p>
          <a:p>
            <a:pPr>
              <a:spcAft>
                <a:spcPts val="667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Highest value</a:t>
            </a:r>
          </a:p>
          <a:p>
            <a:pPr>
              <a:spcAft>
                <a:spcPts val="133"/>
              </a:spcAft>
              <a:defRPr sz="1000" b="1">
                <a:solidFill>
                  <a:srgbClr val="1E88E5"/>
                </a:solidFill>
              </a:defRPr>
            </a:pPr>
            <a:r>
              <a:rPr sz="1333"/>
              <a:t>Outliers</a:t>
            </a:r>
          </a:p>
          <a:p>
            <a:pPr>
              <a:spcAft>
                <a:spcPts val="667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&gt; 1.5×IQR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8AC68011-7108-5AE5-CE51-B33230A58A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5D0EFBE5-08DD-2CB3-87BE-06B46E117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  <a:ln>
            <a:solidFill>
              <a:srgbClr val="E8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0803987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Correlation Matrix &amp; Relationships</a:t>
            </a:r>
          </a:p>
        </p:txBody>
      </p:sp>
      <p:pic>
        <p:nvPicPr>
          <p:cNvPr id="5" name="Picture 4" descr="05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41010"/>
            <a:ext cx="11862483" cy="56988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321" y="6539900"/>
            <a:ext cx="1146048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rPr sz="1467" dirty="0"/>
              <a:t>Heatmap shows correlation between variables. Red (negative), Blue (positive). Values range from -1 to +1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D815F077-1F72-0369-3218-2CA447D59F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643666A0-ECE4-A801-83EE-0051E7C28F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  <a:ln>
            <a:solidFill>
              <a:srgbClr val="E8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0803987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Q-Q Plot - Testing Normality</a:t>
            </a:r>
          </a:p>
        </p:txBody>
      </p:sp>
      <p:pic>
        <p:nvPicPr>
          <p:cNvPr id="5" name="Picture 4" descr="06_qq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01" y="792617"/>
            <a:ext cx="12132677" cy="60436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0903" y="6146733"/>
            <a:ext cx="1146048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rPr sz="1467" dirty="0"/>
              <a:t>Q-Q plot compares data quantiles against theoretical normal distribution. Points on diagonal indicate normal distribution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6D38A88F-6250-E8F2-9461-A99A01670F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3685057D-D853-6CA6-D652-64D30E3E8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  <a:ln>
            <a:solidFill>
              <a:srgbClr val="E8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0803987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Mean vs Median vs Mode</a:t>
            </a:r>
          </a:p>
        </p:txBody>
      </p:sp>
      <p:pic>
        <p:nvPicPr>
          <p:cNvPr id="5" name="Picture 4" descr="07_mean_median_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75361"/>
            <a:ext cx="11460480" cy="56821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8155"/>
            <a:ext cx="1146048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rPr sz="1467" dirty="0"/>
              <a:t>In skewed distributions, median is more robust than mean. Use median for skewed data, mean for normal data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D4607855-C2AB-B0BE-C608-2B3AE30E7D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CAED29B3-A9B6-2955-6EF6-C4A109A1D0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  <a:ln>
            <a:solidFill>
              <a:srgbClr val="E8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0803988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Confidence Intervals &amp; Uncertainty</a:t>
            </a:r>
          </a:p>
        </p:txBody>
      </p:sp>
      <p:pic>
        <p:nvPicPr>
          <p:cNvPr id="5" name="Picture 4" descr="08_confidence_interv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75361"/>
            <a:ext cx="11460480" cy="56805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852160"/>
            <a:ext cx="1146048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rPr sz="1467"/>
              <a:t>95% CI means we're 95% confident the true parameter lies in this range. Wider intervals = more uncertainty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11C9DCD2-5E0D-2F75-5340-B2510B8EB0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01F56CF8-E91E-5618-01F5-C5A347345F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  <a:ln>
            <a:solidFill>
              <a:srgbClr val="E8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0803988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Standard Error &amp; Sample Size</a:t>
            </a:r>
          </a:p>
        </p:txBody>
      </p:sp>
      <p:pic>
        <p:nvPicPr>
          <p:cNvPr id="5" name="Picture 4" descr="09_standard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75361"/>
            <a:ext cx="11460480" cy="56821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852160"/>
            <a:ext cx="1146048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rPr sz="1467"/>
              <a:t>Standard error decreases as sample size increases. Larger samples give more reliable estimates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5B3F9455-4A94-A9FB-9153-CD95D62FB6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B9EFA427-C061-FD94-169D-8A6D194CDE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  <a:ln>
            <a:solidFill>
              <a:srgbClr val="E8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0803988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Hypothesis Testing &amp; P-Values</a:t>
            </a:r>
          </a:p>
        </p:txBody>
      </p:sp>
      <p:pic>
        <p:nvPicPr>
          <p:cNvPr id="5" name="Picture 4" descr="10_hypothesis_te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75361"/>
            <a:ext cx="11460480" cy="56821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852160"/>
            <a:ext cx="1146048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rPr sz="1467"/>
              <a:t>Red regions are rejection zones. If test statistic falls in red, reject null hypothesis (typically α=0.05)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0441B672-CE1F-4C7C-A03F-227711CD6C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C0B65D16-4172-1861-5348-6F92F78C7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  <a:ln>
            <a:solidFill>
              <a:srgbClr val="E8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0803988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Statistics Drives Machine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80" y="1097280"/>
            <a:ext cx="3413760" cy="609600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1301815" y="1121664"/>
            <a:ext cx="178548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600"/>
              <a:t>🎓 Model Training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80" y="1706880"/>
            <a:ext cx="3413760" cy="4632960"/>
          </a:xfrm>
          <a:prstGeom prst="rect">
            <a:avLst/>
          </a:prstGeom>
          <a:solidFill>
            <a:srgbClr val="F5F5F5"/>
          </a:solidFill>
          <a:ln w="254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670560" y="1889761"/>
            <a:ext cx="3048000" cy="1118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Estimate parameters</a:t>
            </a:r>
          </a:p>
          <a:p>
            <a:pPr>
              <a:spcAft>
                <a:spcPts val="1600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Minimize loss</a:t>
            </a:r>
          </a:p>
          <a:p>
            <a:pPr>
              <a:spcAft>
                <a:spcPts val="1600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Optimize weights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7200" y="1097280"/>
            <a:ext cx="3413760" cy="609600"/>
          </a:xfrm>
          <a:prstGeom prst="rect">
            <a:avLst/>
          </a:prstGeom>
          <a:solidFill>
            <a:srgbClr val="16A085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5275332" y="1121664"/>
            <a:ext cx="139749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600"/>
              <a:t>📊 Evaluation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67200" y="1706880"/>
            <a:ext cx="3413760" cy="4632960"/>
          </a:xfrm>
          <a:prstGeom prst="rect">
            <a:avLst/>
          </a:prstGeom>
          <a:solidFill>
            <a:srgbClr val="F5F5F5"/>
          </a:solidFill>
          <a:ln w="254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4450080" y="1889761"/>
            <a:ext cx="3048000" cy="1118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Performance metrics</a:t>
            </a:r>
          </a:p>
          <a:p>
            <a:pPr>
              <a:spcAft>
                <a:spcPts val="1600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Cross-validation</a:t>
            </a:r>
          </a:p>
          <a:p>
            <a:pPr>
              <a:spcAft>
                <a:spcPts val="1600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Confidence bounds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68640" y="1097280"/>
            <a:ext cx="3413760" cy="6096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9220822" y="1121664"/>
            <a:ext cx="130939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600"/>
              <a:t>🔮 Inference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68640" y="1706880"/>
            <a:ext cx="3413760" cy="4632960"/>
          </a:xfrm>
          <a:prstGeom prst="rect">
            <a:avLst/>
          </a:prstGeom>
          <a:solidFill>
            <a:srgbClr val="F5F5F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8351520" y="1889761"/>
            <a:ext cx="3048000" cy="1118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Make predictions</a:t>
            </a:r>
          </a:p>
          <a:p>
            <a:pPr>
              <a:spcAft>
                <a:spcPts val="1600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Quantify uncertainty</a:t>
            </a:r>
          </a:p>
          <a:p>
            <a:pPr>
              <a:spcAft>
                <a:spcPts val="1600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Bayesian updates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486400"/>
            <a:ext cx="11460480" cy="1097280"/>
          </a:xfrm>
          <a:prstGeom prst="rect">
            <a:avLst/>
          </a:prstGeom>
          <a:solidFill>
            <a:srgbClr val="FFB300"/>
          </a:solidFill>
          <a:ln w="254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548640" y="5547361"/>
            <a:ext cx="1121664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88E5"/>
                </a:solidFill>
              </a:defRPr>
            </a:pPr>
            <a:r>
              <a:rPr sz="1467"/>
              <a:t>💡 Statistics is the foundation of ML: Parameter estimation, hypothesis testing, and uncertainty quantification are central to every algorithm</a:t>
            </a:r>
          </a:p>
        </p:txBody>
      </p:sp>
      <p:pic>
        <p:nvPicPr>
          <p:cNvPr id="19" name="Picture 2" descr="LPU Distance Education| Recognitions &amp; Approvals">
            <a:extLst>
              <a:ext uri="{FF2B5EF4-FFF2-40B4-BE49-F238E27FC236}">
                <a16:creationId xmlns:a16="http://schemas.microsoft.com/office/drawing/2014/main" id="{4C3FF31E-588F-C167-1CAF-31DD8D9429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83BBFC9E-5DDD-2862-A3B7-5CAD8B2D36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  <a:ln>
            <a:solidFill>
              <a:srgbClr val="E8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0803987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Statistical Mistakes in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60480" cy="48768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548641" y="1158240"/>
            <a:ext cx="2514535" cy="31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rPr sz="1467"/>
              <a:t>❌ Ignoring Data Distribution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84960"/>
            <a:ext cx="11460480" cy="6096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548640" y="1670304"/>
            <a:ext cx="11216640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rPr sz="1333"/>
              <a:t>Assuming normality when data is skewed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55520"/>
            <a:ext cx="11460480" cy="487680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548641" y="2316480"/>
            <a:ext cx="1674689" cy="31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rPr sz="1467"/>
              <a:t>❌ P-Value Misuse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43200"/>
            <a:ext cx="11460480" cy="609600"/>
          </a:xfrm>
          <a:prstGeom prst="rect">
            <a:avLst/>
          </a:prstGeom>
          <a:solidFill>
            <a:srgbClr val="F5F5F5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548640" y="2828544"/>
            <a:ext cx="11216640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rPr sz="1333"/>
              <a:t>P &lt; 0.05 does NOT mean 95% probability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413760"/>
            <a:ext cx="11460480" cy="487680"/>
          </a:xfrm>
          <a:prstGeom prst="rect">
            <a:avLst/>
          </a:prstGeom>
          <a:solidFill>
            <a:srgbClr val="16A085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548641" y="3474719"/>
            <a:ext cx="2157001" cy="31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rPr sz="1467"/>
              <a:t>❌ Overfitting to Sample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901439"/>
            <a:ext cx="11460480" cy="609600"/>
          </a:xfrm>
          <a:prstGeom prst="rect">
            <a:avLst/>
          </a:prstGeom>
          <a:solidFill>
            <a:srgbClr val="F5F5F5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548640" y="3986783"/>
            <a:ext cx="11216640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rPr sz="1333"/>
              <a:t>Sample statistics ≠ population parameters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572000"/>
            <a:ext cx="11460480" cy="48768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548640" y="4632960"/>
            <a:ext cx="2314288" cy="31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rPr sz="1467"/>
              <a:t>❌ Correlation ≠ Causation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059680"/>
            <a:ext cx="11460480" cy="609600"/>
          </a:xfrm>
          <a:prstGeom prst="rect">
            <a:avLst/>
          </a:prstGeom>
          <a:solidFill>
            <a:srgbClr val="F5F5F5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/>
          <p:cNvSpPr txBox="1"/>
          <p:nvPr/>
        </p:nvSpPr>
        <p:spPr>
          <a:xfrm>
            <a:off x="548640" y="5145024"/>
            <a:ext cx="11216640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rPr sz="1333"/>
              <a:t>Correlation exists but cause may differ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730240"/>
            <a:ext cx="11460480" cy="48768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548641" y="5791200"/>
            <a:ext cx="1791773" cy="31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rPr sz="1467"/>
              <a:t>❌ Ignoring Outliers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6217920"/>
            <a:ext cx="11460480" cy="6096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548640" y="6303264"/>
            <a:ext cx="11216640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rPr sz="1333"/>
              <a:t>Outliers can heavily skew mean and variance</a:t>
            </a:r>
          </a:p>
        </p:txBody>
      </p:sp>
      <p:pic>
        <p:nvPicPr>
          <p:cNvPr id="25" name="Picture 2" descr="LPU Distance Education| Recognitions &amp; Approvals">
            <a:extLst>
              <a:ext uri="{FF2B5EF4-FFF2-40B4-BE49-F238E27FC236}">
                <a16:creationId xmlns:a16="http://schemas.microsoft.com/office/drawing/2014/main" id="{13FFAD20-FFAF-0E3C-AFE2-D166BBD93F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BECB2084-92FF-67A3-7768-C52D41557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484</Words>
  <Application>Microsoft Office PowerPoint</Application>
  <PresentationFormat>Widescreen</PresentationFormat>
  <Paragraphs>94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Bharti</dc:creator>
  <cp:lastModifiedBy>Rohit Bharti</cp:lastModifiedBy>
  <cp:revision>22</cp:revision>
  <dcterms:created xsi:type="dcterms:W3CDTF">2026-01-17T04:28:29Z</dcterms:created>
  <dcterms:modified xsi:type="dcterms:W3CDTF">2026-01-17T04:38:43Z</dcterms:modified>
</cp:coreProperties>
</file>