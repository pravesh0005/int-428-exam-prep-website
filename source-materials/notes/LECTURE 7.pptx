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4"/>
  </p:notesMasterIdLst>
  <p:sldIdLst>
    <p:sldId id="4012" r:id="rId2"/>
    <p:sldId id="4024" r:id="rId3"/>
    <p:sldId id="4025" r:id="rId4"/>
    <p:sldId id="4036" r:id="rId5"/>
    <p:sldId id="4029" r:id="rId6"/>
    <p:sldId id="4031" r:id="rId7"/>
    <p:sldId id="4042" r:id="rId8"/>
    <p:sldId id="4038" r:id="rId9"/>
    <p:sldId id="4039" r:id="rId10"/>
    <p:sldId id="4040" r:id="rId11"/>
    <p:sldId id="4041" r:id="rId12"/>
    <p:sldId id="403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460ABAC-5F63-4FE4-B186-EEEFA5C1C98C}" type="datetimeFigureOut">
              <a:rPr lang="en-IN" smtClean="0"/>
              <a:t>03-02-2026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E7099B-79BE-4791-8012-DB4FFE47D3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46475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53454A-B50B-99CF-5F2C-9914471B25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4E906C5-4742-264F-78E1-18B014E036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A54A67-BCE4-0B38-9F85-498463408F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39EC9-C142-46A2-9EE7-6BAF7D5DF338}" type="datetimeFigureOut">
              <a:rPr lang="en-IN" smtClean="0"/>
              <a:t>03-02-2026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E1F8AC-443C-1ECA-AB44-6EBF6FD036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ADF0F3-AEC5-C9B9-7171-1B6A033D08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5F464-475C-44AD-B39D-86A1D68B52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48467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6A43DA-CBC5-58B5-65B8-9D38B353F9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6B5CF5-59AF-DD83-C89A-DF31B5195C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84E04A-0F9D-BFA3-1170-4193E83A91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39EC9-C142-46A2-9EE7-6BAF7D5DF338}" type="datetimeFigureOut">
              <a:rPr lang="en-IN" smtClean="0"/>
              <a:t>03-02-2026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E989B7-C73D-98DA-3AF0-70E1DF6AB9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C4C7C3-2C9F-8A2C-CC92-9224B93D4E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5F464-475C-44AD-B39D-86A1D68B52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4533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F116C-C79E-55DD-9F00-FFDBCF6077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4E630C-B948-FAC9-6274-CA2DCE44C2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03E107-FDF9-7A65-56F5-E97F0661FA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39EC9-C142-46A2-9EE7-6BAF7D5DF338}" type="datetimeFigureOut">
              <a:rPr lang="en-IN" smtClean="0"/>
              <a:t>03-02-2026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65382A-4979-C9DC-A38D-71EEC2F21C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54B501-66BB-E071-2D45-786A50329E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5F464-475C-44AD-B39D-86A1D68B52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07330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35DFD8-0D14-BAF4-B9E1-9E8435A7ED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64BAE9-DB1F-171F-6D48-3F467841FF7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8CAD39-A292-B30E-5E61-53E6C13EC3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CF5A39-F187-8FE8-5DEB-F710065934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39EC9-C142-46A2-9EE7-6BAF7D5DF338}" type="datetimeFigureOut">
              <a:rPr lang="en-IN" smtClean="0"/>
              <a:t>03-02-2026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E0DC70-1010-1A04-FE7B-7DB3E6713E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E68834-3EFD-4C90-DC78-7AB1AA3B02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5F464-475C-44AD-B39D-86A1D68B52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2013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873B6E-AAAA-C190-F84C-C7A9E54BFE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9E850B-3436-7B73-9CAF-6857749DD1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0440929-494D-74D0-7921-2D938A372A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B3974FE-72C9-137E-0265-73F50D8D7A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7C57EA2-CA11-4B56-861E-239081BE506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63161D1-E209-E17B-7F43-1EA7214E3B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39EC9-C142-46A2-9EE7-6BAF7D5DF338}" type="datetimeFigureOut">
              <a:rPr lang="en-IN" smtClean="0"/>
              <a:t>03-02-2026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53D1B75-14EF-E88A-5B4F-ECF203D093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79406F7-C76D-E3CE-11A0-2DF7C798A3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5F464-475C-44AD-B39D-86A1D68B52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28178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7C6511-9AF4-26A2-B0E0-2904E16E7D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2C37283-2B3B-38B3-2541-367195BBA1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39EC9-C142-46A2-9EE7-6BAF7D5DF338}" type="datetimeFigureOut">
              <a:rPr lang="en-IN" smtClean="0"/>
              <a:t>03-02-2026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61109F2-D873-FF79-0EAD-7BB606B35B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1DAC8C-10EC-B45D-546A-403F5F417D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5F464-475C-44AD-B39D-86A1D68B52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25058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BD1B28-282D-9541-5396-99E0DEE598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A9FACF6-3696-BA79-A674-7B2FB7D6CC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8AE520-B0BD-9957-B156-89F4DEFC7A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39EC9-C142-46A2-9EE7-6BAF7D5DF338}" type="datetimeFigureOut">
              <a:rPr lang="en-IN" smtClean="0"/>
              <a:t>03-02-2026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8C5B5D-0A2A-D9E7-19E8-E963CF0D8E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985D3D-8D58-9A45-B29D-22587F406C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5F464-475C-44AD-B39D-86A1D68B52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35515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8B756CC-275B-5F05-BC12-BB1376D404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39EC9-C142-46A2-9EE7-6BAF7D5DF338}" type="datetimeFigureOut">
              <a:rPr lang="en-IN" smtClean="0"/>
              <a:t>03-02-2026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64A5A5C-6A14-6463-9263-E1C97FDEBE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28AB0B-4F9E-B3E8-F5BE-48D1A7FC09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5F464-475C-44AD-B39D-86A1D68B52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30607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E9790F-A78E-F728-A554-7D4A7AF1C4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6C0024-81A1-24AC-3552-CA9CEA7E4F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D68CF34-E943-6E55-F9DC-69271DB3A4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3B6FBF-46A8-C3B9-7C32-FF6F9D37EA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39EC9-C142-46A2-9EE7-6BAF7D5DF338}" type="datetimeFigureOut">
              <a:rPr lang="en-IN" smtClean="0"/>
              <a:t>03-02-2026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84E712-4476-5F97-67B0-BBB596A0CC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0A3B25-9720-6577-0395-9103E77574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5F464-475C-44AD-B39D-86A1D68B52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32069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883F6F-8F6C-7195-27A7-50671BA459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BFE7027-CB64-2D79-C450-A50A1A1A5BF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A3577A-646B-877F-ACC8-447532FEA7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ABA6D9-4ADB-E95F-6717-B7292C01F6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39EC9-C142-46A2-9EE7-6BAF7D5DF338}" type="datetimeFigureOut">
              <a:rPr lang="en-IN" smtClean="0"/>
              <a:t>03-02-2026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60814B-405F-B37D-4F5F-B70E8488DE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D74CF4-2834-8D90-41B2-3FFB1D4BB5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5F464-475C-44AD-B39D-86A1D68B52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22498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6C2A8B3-3C5F-769E-BE44-7FCB772A839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6DCE24B-7910-B2E8-C9C8-E2F93AFB81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0D1D4F-E585-8CF2-AC0F-F3EA4F0C4B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39EC9-C142-46A2-9EE7-6BAF7D5DF338}" type="datetimeFigureOut">
              <a:rPr lang="en-IN" smtClean="0"/>
              <a:t>03-02-2026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1C96A0-30C4-BF0C-B817-DF0BA33BBD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C19994-D6D6-8277-D64E-72F4CB96C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5F464-475C-44AD-B39D-86A1D68B52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99372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1" y="6778868"/>
            <a:ext cx="12191997" cy="79131"/>
          </a:xfrm>
          <a:prstGeom prst="rect">
            <a:avLst/>
          </a:prstGeom>
          <a:solidFill>
            <a:srgbClr val="ED771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E43606C-9B53-79F1-02DD-16BC50BEB5CE}"/>
              </a:ext>
            </a:extLst>
          </p:cNvPr>
          <p:cNvSpPr/>
          <p:nvPr userDrawn="1"/>
        </p:nvSpPr>
        <p:spPr>
          <a:xfrm>
            <a:off x="2078655" y="431018"/>
            <a:ext cx="8107244" cy="46502"/>
          </a:xfrm>
          <a:prstGeom prst="rect">
            <a:avLst/>
          </a:prstGeom>
          <a:solidFill>
            <a:srgbClr val="F47D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E07FF37-7309-52C1-8095-3F729737C23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55072" y="178307"/>
            <a:ext cx="1547520" cy="41863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148388E-C341-A5AF-55B7-4442EC1A9BD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28281" y="178308"/>
            <a:ext cx="1581202" cy="505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563152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ction Titl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79D0555-EBDC-B53A-212D-A5921795FEC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80543"/>
          </a:xfrm>
          <a:custGeom>
            <a:avLst/>
            <a:gdLst>
              <a:gd name="connsiteX0" fmla="*/ 6309360 w 12192000"/>
              <a:gd name="connsiteY0" fmla="*/ 3951843 h 6880543"/>
              <a:gd name="connsiteX1" fmla="*/ 6309360 w 12192000"/>
              <a:gd name="connsiteY1" fmla="*/ 4052427 h 6880543"/>
              <a:gd name="connsiteX2" fmla="*/ 8442960 w 12192000"/>
              <a:gd name="connsiteY2" fmla="*/ 4052427 h 6880543"/>
              <a:gd name="connsiteX3" fmla="*/ 8442960 w 12192000"/>
              <a:gd name="connsiteY3" fmla="*/ 3951843 h 6880543"/>
              <a:gd name="connsiteX4" fmla="*/ 0 w 12192000"/>
              <a:gd name="connsiteY4" fmla="*/ 0 h 6880543"/>
              <a:gd name="connsiteX5" fmla="*/ 12192000 w 12192000"/>
              <a:gd name="connsiteY5" fmla="*/ 0 h 6880543"/>
              <a:gd name="connsiteX6" fmla="*/ 12192000 w 12192000"/>
              <a:gd name="connsiteY6" fmla="*/ 6880543 h 6880543"/>
              <a:gd name="connsiteX7" fmla="*/ 0 w 12192000"/>
              <a:gd name="connsiteY7" fmla="*/ 6880543 h 6880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80543">
                <a:moveTo>
                  <a:pt x="6309360" y="3951843"/>
                </a:moveTo>
                <a:lnTo>
                  <a:pt x="6309360" y="4052427"/>
                </a:lnTo>
                <a:lnTo>
                  <a:pt x="8442960" y="4052427"/>
                </a:lnTo>
                <a:lnTo>
                  <a:pt x="8442960" y="3951843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80543"/>
                </a:lnTo>
                <a:lnTo>
                  <a:pt x="0" y="6880543"/>
                </a:lnTo>
                <a:close/>
              </a:path>
            </a:pathLst>
          </a:custGeom>
        </p:spPr>
        <p:txBody>
          <a:bodyPr wrap="square" tIns="182880">
            <a:no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8D492973-78E3-D34E-835E-CF2D451701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09359" y="444933"/>
            <a:ext cx="5477479" cy="3291840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6000" b="1" i="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96BA398-1ED2-1FCA-63B9-8915A8C7A5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309360" y="3951843"/>
            <a:ext cx="2133600" cy="10058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88914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7104">
          <p15:clr>
            <a:srgbClr val="FBAE40"/>
          </p15:clr>
        </p15:guide>
        <p15:guide id="3" pos="4344">
          <p15:clr>
            <a:srgbClr val="FBAE40"/>
          </p15:clr>
        </p15:guide>
        <p15:guide id="4" pos="4560">
          <p15:clr>
            <a:srgbClr val="FBAE40"/>
          </p15:clr>
        </p15:guide>
        <p15:guide id="8" orient="horz" pos="1848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emf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emf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89BC712-3CD6-D18D-1483-CAFF2130AE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77F309-DEC2-2A35-6A1B-36732AEA34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0BBC8F-5AA1-6A5F-813E-EC818CB3A05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5239EC9-C142-46A2-9EE7-6BAF7D5DF338}" type="datetimeFigureOut">
              <a:rPr lang="en-IN" smtClean="0"/>
              <a:t>03-02-2026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D0EE63-802B-29AB-6E8E-2336CA6B49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485C65-30CE-BE4C-6597-F764525338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005F464-475C-44AD-B39D-86A1D68B524E}" type="slidenum">
              <a:rPr lang="en-IN" smtClean="0"/>
              <a:t>‹#›</a:t>
            </a:fld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3E00DB2-1B79-F076-988B-189E25D268A4}"/>
              </a:ext>
            </a:extLst>
          </p:cNvPr>
          <p:cNvSpPr/>
          <p:nvPr userDrawn="1"/>
        </p:nvSpPr>
        <p:spPr>
          <a:xfrm>
            <a:off x="2078655" y="431018"/>
            <a:ext cx="8107244" cy="46502"/>
          </a:xfrm>
          <a:prstGeom prst="rect">
            <a:avLst/>
          </a:prstGeom>
          <a:solidFill>
            <a:srgbClr val="F47D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9E6FB77-67DC-C0AD-16FE-6E68AF2B8876}"/>
              </a:ext>
            </a:extLst>
          </p:cNvPr>
          <p:cNvPicPr>
            <a:picLocks noChangeAspect="1"/>
          </p:cNvPicPr>
          <p:nvPr userDrawn="1"/>
        </p:nvPicPr>
        <p:blipFill>
          <a:blip r:embed="rId15"/>
          <a:stretch>
            <a:fillRect/>
          </a:stretch>
        </p:blipFill>
        <p:spPr>
          <a:xfrm>
            <a:off x="10355072" y="178307"/>
            <a:ext cx="1547520" cy="41863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9ED9CD6-CADD-7BD4-3F8E-872DFDE3128D}"/>
              </a:ext>
            </a:extLst>
          </p:cNvPr>
          <p:cNvPicPr>
            <a:picLocks noChangeAspect="1"/>
          </p:cNvPicPr>
          <p:nvPr userDrawn="1"/>
        </p:nvPicPr>
        <p:blipFill>
          <a:blip r:embed="rId16"/>
          <a:stretch>
            <a:fillRect/>
          </a:stretch>
        </p:blipFill>
        <p:spPr>
          <a:xfrm>
            <a:off x="328281" y="178308"/>
            <a:ext cx="1581202" cy="50542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F318C861-1BD5-B856-A0FD-4B28D1D8BE11}"/>
              </a:ext>
            </a:extLst>
          </p:cNvPr>
          <p:cNvSpPr/>
          <p:nvPr userDrawn="1"/>
        </p:nvSpPr>
        <p:spPr>
          <a:xfrm>
            <a:off x="1" y="6778868"/>
            <a:ext cx="12191997" cy="79131"/>
          </a:xfrm>
          <a:prstGeom prst="rect">
            <a:avLst/>
          </a:prstGeom>
          <a:solidFill>
            <a:srgbClr val="ED771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12396112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F0C57A-EB01-5294-F8AB-F5CA01DD88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816007B5-870C-4B88-9096-1F3BFF314FCC}"/>
              </a:ext>
            </a:extLst>
          </p:cNvPr>
          <p:cNvSpPr txBox="1">
            <a:spLocks noChangeArrowheads="1"/>
          </p:cNvSpPr>
          <p:nvPr/>
        </p:nvSpPr>
        <p:spPr>
          <a:xfrm>
            <a:off x="1746328" y="2279828"/>
            <a:ext cx="8405812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en-US" altLang="en-US" sz="6000" b="1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F9D2DB0F-D6C3-4D6D-B38D-59328D5F5013}"/>
              </a:ext>
            </a:extLst>
          </p:cNvPr>
          <p:cNvSpPr txBox="1">
            <a:spLocks noChangeArrowheads="1"/>
          </p:cNvSpPr>
          <p:nvPr/>
        </p:nvSpPr>
        <p:spPr>
          <a:xfrm>
            <a:off x="1836738" y="2330450"/>
            <a:ext cx="8405812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55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en-US" sz="6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LECTURE: 7</a:t>
            </a:r>
          </a:p>
          <a:p>
            <a:pPr algn="ctr"/>
            <a:br>
              <a:rPr lang="en-US" altLang="en-US" sz="6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6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SPACES AND SEARCH	</a:t>
            </a:r>
          </a:p>
        </p:txBody>
      </p:sp>
    </p:spTree>
    <p:extLst>
      <p:ext uri="{BB962C8B-B14F-4D97-AF65-F5344CB8AC3E}">
        <p14:creationId xmlns:p14="http://schemas.microsoft.com/office/powerpoint/2010/main" val="24776731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1867CE-A798-4C0D-9C53-EB5013EDBE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41264"/>
            <a:ext cx="10515600" cy="796781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is </a:t>
            </a:r>
            <a:r>
              <a:rPr lang="en-US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Production System?</a:t>
            </a:r>
            <a:endParaRPr lang="en-IN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B09418-9778-40D9-B63E-E8DD8718C9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4309" y="1338045"/>
            <a:ext cx="10515600" cy="4351338"/>
          </a:xfrm>
        </p:spPr>
        <p:txBody>
          <a:bodyPr/>
          <a:lstStyle/>
          <a:p>
            <a:pPr marL="0" indent="0" algn="just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Framework for modeling complex problem-solving tasks.</a:t>
            </a:r>
          </a:p>
          <a:p>
            <a:pPr marL="0" indent="0" algn="just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consisting of:</a:t>
            </a:r>
          </a:p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Rules: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Defined as condition-action pairs.</a:t>
            </a:r>
          </a:p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Memory: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Tracks the system's current state.</a:t>
            </a:r>
          </a:p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Strategy: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Determines rule application order.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302040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FC461E-FCE5-420C-BD36-0203E52A54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00364"/>
            <a:ext cx="10515600" cy="849746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Components of a Production System:</a:t>
            </a:r>
            <a:endParaRPr lang="en-IN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E7C350-7EB3-410B-B73A-9433B84A98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0110"/>
            <a:ext cx="10515600" cy="4351338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Knowledge Base: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Stores rules and facts.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Inference Engine: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Applies rules to facts.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Forward Chaining: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Data-driven deduction of facts.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Backward Chaining: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Goal-driven search for data.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Working Memory: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Holds system's current state.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Control Mechanism: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Manages rules and system flow.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90517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9D9560E-423B-46C6-9752-BFC96BEB9E5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943" y="951346"/>
            <a:ext cx="10949551" cy="5170199"/>
          </a:xfrm>
        </p:spPr>
      </p:pic>
    </p:spTree>
    <p:extLst>
      <p:ext uri="{BB962C8B-B14F-4D97-AF65-F5344CB8AC3E}">
        <p14:creationId xmlns:p14="http://schemas.microsoft.com/office/powerpoint/2010/main" val="3802171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72B745-E7CB-4577-B4BF-14BBB96D5D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4182"/>
            <a:ext cx="10515600" cy="858982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How Production Systems Function?</a:t>
            </a:r>
            <a:endParaRPr lang="en-IN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AF2089-D6F8-4B0E-8C68-4B0CD83155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67007"/>
            <a:ext cx="10515600" cy="4351338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Match: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rules triggered by current facts.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Choose a rule based on criteria.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Execute: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Apply rule, updating working memory.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99057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A1E8A0-702A-40A5-A828-7C402D9C62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16381"/>
            <a:ext cx="10515600" cy="770948"/>
          </a:xfrm>
        </p:spPr>
        <p:txBody>
          <a:bodyPr>
            <a:normAutofit/>
          </a:bodyPr>
          <a:lstStyle/>
          <a:p>
            <a:pPr algn="ctr"/>
            <a:r>
              <a:rPr lang="en-IN" sz="3600" b="1" i="0" u="none" strike="noStrike" baseline="0" dirty="0">
                <a:solidFill>
                  <a:srgbClr val="FF0000"/>
                </a:solidFill>
                <a:latin typeface="Times New Roman" panose="02020603050405020304" pitchFamily="18" charset="0"/>
              </a:rPr>
              <a:t>Production System Characteristics:</a:t>
            </a:r>
            <a:endParaRPr lang="en-IN" sz="3600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343638-8C6C-42C5-A1FF-29DB44D297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2409" y="1514765"/>
            <a:ext cx="10587182" cy="4726854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Monotonic Systems: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Rules don’t stop other rules later.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Nonmonotonic Systems: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Rules can block future rules.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Partially Commutative: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Rule order doesn’t change the result.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Commutative Systems: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Both monotonic and order-independent.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74973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FD09A7-BEDA-A97E-B806-052C9075A3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57664" y="643604"/>
            <a:ext cx="8229600" cy="1143000"/>
          </a:xfrm>
        </p:spPr>
        <p:txBody>
          <a:bodyPr>
            <a:normAutofit fontScale="90000"/>
          </a:bodyPr>
          <a:lstStyle/>
          <a:p>
            <a:r>
              <a:t>Characteristics of AI Problem Spaces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57664" y="1969166"/>
            <a:ext cx="8229600" cy="4525963"/>
          </a:xfrm>
        </p:spPr>
        <p:txBody>
          <a:bodyPr>
            <a:normAutofit/>
          </a:bodyPr>
          <a:lstStyle/>
          <a:p>
            <a:r>
              <a:rPr sz="2500" dirty="0"/>
              <a:t>• AI problems have very large state spaces (e.g., Chess)</a:t>
            </a:r>
          </a:p>
          <a:p>
            <a:r>
              <a:rPr sz="2500" dirty="0"/>
              <a:t>• Often involve uncertainty and incomplete information</a:t>
            </a:r>
          </a:p>
          <a:p>
            <a:r>
              <a:rPr sz="2500" dirty="0"/>
              <a:t>• Environments may be dynamic and non-deterministic</a:t>
            </a:r>
          </a:p>
          <a:p>
            <a:r>
              <a:rPr sz="2500" dirty="0"/>
              <a:t>• Problems are goal-driven and require intelligent search</a:t>
            </a:r>
          </a:p>
          <a:p>
            <a:r>
              <a:rPr sz="2500" dirty="0"/>
              <a:t>• Heuristics are needed because brute force is impractical</a:t>
            </a:r>
          </a:p>
          <a:p>
            <a:r>
              <a:rPr sz="2500" dirty="0"/>
              <a:t>• Require knowledge representation and reasoning</a:t>
            </a:r>
          </a:p>
          <a:p>
            <a:r>
              <a:rPr sz="2500" dirty="0"/>
              <a:t>• Learning from experience is often necessary</a:t>
            </a:r>
          </a:p>
        </p:txBody>
      </p:sp>
    </p:spTree>
    <p:extLst>
      <p:ext uri="{BB962C8B-B14F-4D97-AF65-F5344CB8AC3E}">
        <p14:creationId xmlns:p14="http://schemas.microsoft.com/office/powerpoint/2010/main" val="40648283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0A68ED-08DB-6A76-C5C5-1DF2B0F605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2590801" y="338806"/>
            <a:ext cx="8229600" cy="1143000"/>
          </a:xfrm>
        </p:spPr>
        <p:txBody>
          <a:bodyPr/>
          <a:lstStyle/>
          <a:p>
            <a:r>
              <a:rPr dirty="0"/>
              <a:t>Examples of AI Problem Spaces</a:t>
            </a:r>
          </a:p>
        </p:txBody>
      </p:sp>
      <p:sp>
        <p:nvSpPr>
          <p:cNvPr id="9" name="Content Placeholder 2"/>
          <p:cNvSpPr>
            <a:spLocks noGrp="1"/>
          </p:cNvSpPr>
          <p:nvPr>
            <p:ph idx="1"/>
          </p:nvPr>
        </p:nvSpPr>
        <p:spPr>
          <a:xfrm>
            <a:off x="2590801" y="1664368"/>
            <a:ext cx="8229600" cy="4525963"/>
          </a:xfrm>
        </p:spPr>
        <p:txBody>
          <a:bodyPr>
            <a:normAutofit/>
          </a:bodyPr>
          <a:lstStyle/>
          <a:p>
            <a:r>
              <a:rPr sz="2500" dirty="0"/>
              <a:t> Chess: Huge number of possible states, requires heuristic search</a:t>
            </a:r>
          </a:p>
          <a:p>
            <a:r>
              <a:rPr sz="2500" dirty="0"/>
              <a:t> Autonomous Driving: Dynamic, real-time, uncertain environment</a:t>
            </a:r>
          </a:p>
          <a:p>
            <a:r>
              <a:rPr sz="2500" dirty="0"/>
              <a:t> Medical Diagnosis: Knowledge-intensive with probabilistic reasoning</a:t>
            </a:r>
          </a:p>
          <a:p>
            <a:r>
              <a:rPr sz="2500" dirty="0"/>
              <a:t> Route Planning: Optimal path search in large graphs</a:t>
            </a:r>
          </a:p>
          <a:p>
            <a:r>
              <a:rPr sz="2500" dirty="0"/>
              <a:t> Recommendation Systems: Learning from user behavior data</a:t>
            </a:r>
          </a:p>
        </p:txBody>
      </p:sp>
    </p:spTree>
    <p:extLst>
      <p:ext uri="{BB962C8B-B14F-4D97-AF65-F5344CB8AC3E}">
        <p14:creationId xmlns:p14="http://schemas.microsoft.com/office/powerpoint/2010/main" val="2314458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5767EB-A3A2-9055-385C-AF46B9DBE0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42676" y="643604"/>
            <a:ext cx="8229600" cy="1143000"/>
          </a:xfrm>
        </p:spPr>
        <p:txBody>
          <a:bodyPr/>
          <a:lstStyle/>
          <a:p>
            <a:r>
              <a:t>Introduction to AI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42676" y="1969166"/>
            <a:ext cx="8229600" cy="4525963"/>
          </a:xfrm>
        </p:spPr>
        <p:txBody>
          <a:bodyPr>
            <a:normAutofit/>
          </a:bodyPr>
          <a:lstStyle/>
          <a:p>
            <a:r>
              <a:rPr sz="2800" dirty="0"/>
              <a:t>Data Collection from real-world sources</a:t>
            </a:r>
          </a:p>
          <a:p>
            <a:r>
              <a:rPr sz="2800" dirty="0"/>
              <a:t>Data Cleaning, Labeling, and Preprocessing</a:t>
            </a:r>
          </a:p>
          <a:p>
            <a:r>
              <a:rPr sz="2800" dirty="0"/>
              <a:t>Feature Engineering and Representation</a:t>
            </a:r>
          </a:p>
          <a:p>
            <a:r>
              <a:rPr sz="2800" dirty="0"/>
              <a:t>Model Selectio</a:t>
            </a:r>
            <a:r>
              <a:rPr lang="en-US" sz="2800" dirty="0"/>
              <a:t>n</a:t>
            </a:r>
            <a:endParaRPr sz="2800" dirty="0"/>
          </a:p>
          <a:p>
            <a:r>
              <a:rPr sz="2800" dirty="0"/>
              <a:t>Training and Evaluation</a:t>
            </a:r>
          </a:p>
          <a:p>
            <a:r>
              <a:rPr sz="2800" dirty="0"/>
              <a:t>Deployment of the trained model</a:t>
            </a:r>
          </a:p>
          <a:p>
            <a:r>
              <a:rPr sz="2800" dirty="0"/>
              <a:t>Monitoring and Feedback for improvement</a:t>
            </a:r>
          </a:p>
        </p:txBody>
      </p:sp>
    </p:spTree>
    <p:extLst>
      <p:ext uri="{BB962C8B-B14F-4D97-AF65-F5344CB8AC3E}">
        <p14:creationId xmlns:p14="http://schemas.microsoft.com/office/powerpoint/2010/main" val="33907885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2B03A8-36DB-212D-E7E5-08DF447FF1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8968" y="707772"/>
            <a:ext cx="10355180" cy="1143000"/>
          </a:xfrm>
        </p:spPr>
        <p:txBody>
          <a:bodyPr>
            <a:normAutofit/>
          </a:bodyPr>
          <a:lstStyle/>
          <a:p>
            <a:r>
              <a:rPr dirty="0"/>
              <a:t>Data-Centric vs Model-Centric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8968" y="2033334"/>
            <a:ext cx="10355180" cy="4525963"/>
          </a:xfrm>
        </p:spPr>
        <p:txBody>
          <a:bodyPr>
            <a:normAutofit/>
          </a:bodyPr>
          <a:lstStyle/>
          <a:p>
            <a:r>
              <a:rPr sz="2500" dirty="0"/>
              <a:t>Model-Centric:</a:t>
            </a:r>
          </a:p>
          <a:p>
            <a:pPr marL="0" indent="0">
              <a:buNone/>
            </a:pPr>
            <a:r>
              <a:rPr lang="en-US" sz="2500" dirty="0"/>
              <a:t>		</a:t>
            </a:r>
            <a:r>
              <a:rPr sz="2500" dirty="0"/>
              <a:t>• Focus on changing algorithms and hyperparameters</a:t>
            </a:r>
          </a:p>
          <a:p>
            <a:pPr marL="0" indent="0">
              <a:buNone/>
            </a:pPr>
            <a:r>
              <a:rPr lang="en-US" sz="2500" dirty="0"/>
              <a:t>		</a:t>
            </a:r>
            <a:r>
              <a:rPr sz="2500" dirty="0"/>
              <a:t>• Performance depends heavily on model tuning</a:t>
            </a:r>
          </a:p>
          <a:p>
            <a:endParaRPr sz="2500" dirty="0"/>
          </a:p>
          <a:p>
            <a:r>
              <a:rPr sz="2500" dirty="0"/>
              <a:t>Data-Centric:</a:t>
            </a:r>
          </a:p>
          <a:p>
            <a:pPr marL="0" indent="0">
              <a:buNone/>
            </a:pPr>
            <a:r>
              <a:rPr lang="en-US" sz="2500" dirty="0"/>
              <a:t>		</a:t>
            </a:r>
            <a:r>
              <a:rPr sz="2500" dirty="0"/>
              <a:t>• Focus on improving data quality and labels</a:t>
            </a:r>
          </a:p>
          <a:p>
            <a:pPr marL="0" indent="0">
              <a:buNone/>
            </a:pPr>
            <a:r>
              <a:rPr lang="en-US" sz="2500" dirty="0"/>
              <a:t>		</a:t>
            </a:r>
            <a:r>
              <a:rPr sz="2500" dirty="0"/>
              <a:t>• Removing noise and bias from data</a:t>
            </a:r>
          </a:p>
          <a:p>
            <a:pPr marL="0" indent="0">
              <a:buNone/>
            </a:pPr>
            <a:r>
              <a:rPr lang="en-US" sz="2500" dirty="0"/>
              <a:t>		</a:t>
            </a:r>
            <a:r>
              <a:rPr sz="2500" dirty="0"/>
              <a:t>• Leads to better performance even with simple models</a:t>
            </a:r>
          </a:p>
        </p:txBody>
      </p:sp>
    </p:spTree>
    <p:extLst>
      <p:ext uri="{BB962C8B-B14F-4D97-AF65-F5344CB8AC3E}">
        <p14:creationId xmlns:p14="http://schemas.microsoft.com/office/powerpoint/2010/main" val="4254815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F591B0-59DD-DDFC-BDE3-2946FC603A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08484" y="547352"/>
            <a:ext cx="8229600" cy="1143000"/>
          </a:xfrm>
        </p:spPr>
        <p:txBody>
          <a:bodyPr/>
          <a:lstStyle/>
          <a:p>
            <a:r>
              <a:rPr dirty="0"/>
              <a:t>Challenges in AI Problem Solving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08484" y="1872914"/>
            <a:ext cx="8229600" cy="4525963"/>
          </a:xfrm>
        </p:spPr>
        <p:txBody>
          <a:bodyPr>
            <a:normAutofit/>
          </a:bodyPr>
          <a:lstStyle/>
          <a:p>
            <a:r>
              <a:rPr sz="2500" dirty="0"/>
              <a:t>State space explosion in complex problems</a:t>
            </a:r>
          </a:p>
          <a:p>
            <a:r>
              <a:rPr sz="2500" dirty="0"/>
              <a:t>Difficulty in representing real-world knowledge</a:t>
            </a:r>
          </a:p>
          <a:p>
            <a:r>
              <a:rPr sz="2500" dirty="0"/>
              <a:t>Handling uncertainty and ambiguity</a:t>
            </a:r>
          </a:p>
          <a:p>
            <a:r>
              <a:rPr sz="2500" dirty="0"/>
              <a:t>Data quality issues: noise, bias, insufficiency</a:t>
            </a:r>
          </a:p>
          <a:p>
            <a:r>
              <a:rPr sz="2500" dirty="0"/>
              <a:t>Real-time decision-making requirements</a:t>
            </a:r>
          </a:p>
          <a:p>
            <a:r>
              <a:rPr sz="2500" dirty="0"/>
              <a:t>Ethical issues and model explainability</a:t>
            </a:r>
          </a:p>
          <a:p>
            <a:r>
              <a:rPr sz="2500" dirty="0"/>
              <a:t>Generalization from lab to real-world scenarios</a:t>
            </a:r>
          </a:p>
        </p:txBody>
      </p:sp>
    </p:spTree>
    <p:extLst>
      <p:ext uri="{BB962C8B-B14F-4D97-AF65-F5344CB8AC3E}">
        <p14:creationId xmlns:p14="http://schemas.microsoft.com/office/powerpoint/2010/main" val="30939436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EEF4476-4A51-4A44-B276-8F175BA49476}"/>
              </a:ext>
            </a:extLst>
          </p:cNvPr>
          <p:cNvSpPr txBox="1"/>
          <p:nvPr/>
        </p:nvSpPr>
        <p:spPr>
          <a:xfrm>
            <a:off x="2974110" y="2905780"/>
            <a:ext cx="732443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Next: 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Navigating the Maze of Search Strategies!</a:t>
            </a:r>
            <a:endParaRPr lang="en-IN" sz="28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6F82A9C-1BB6-4699-B5E6-77D7051AE9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3813" y="3339712"/>
            <a:ext cx="1604190" cy="19980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9328871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257</TotalTime>
  <Words>437</Words>
  <Application>Microsoft Office PowerPoint</Application>
  <PresentationFormat>Widescreen</PresentationFormat>
  <Paragraphs>68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Aptos</vt:lpstr>
      <vt:lpstr>Aptos Display</vt:lpstr>
      <vt:lpstr>Arial</vt:lpstr>
      <vt:lpstr>Calibri</vt:lpstr>
      <vt:lpstr>Times New Roman</vt:lpstr>
      <vt:lpstr>1_Office Theme</vt:lpstr>
      <vt:lpstr>PowerPoint Presentation</vt:lpstr>
      <vt:lpstr>What is Production System?</vt:lpstr>
      <vt:lpstr>Key Components of a Production System:</vt:lpstr>
      <vt:lpstr>PowerPoint Presentation</vt:lpstr>
      <vt:lpstr>How Production Systems Function?</vt:lpstr>
      <vt:lpstr>Production System Characteristics:</vt:lpstr>
      <vt:lpstr>Characteristics of AI Problem Spaces</vt:lpstr>
      <vt:lpstr>Examples of AI Problem Spaces</vt:lpstr>
      <vt:lpstr>Introduction to AI Workflow</vt:lpstr>
      <vt:lpstr>Data-Centric vs Model-Centric Approach</vt:lpstr>
      <vt:lpstr>Challenges in AI Problem Solving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lovi raj gupta</dc:creator>
  <cp:lastModifiedBy>Tarun Singh</cp:lastModifiedBy>
  <cp:revision>83</cp:revision>
  <dcterms:created xsi:type="dcterms:W3CDTF">2024-12-19T08:47:23Z</dcterms:created>
  <dcterms:modified xsi:type="dcterms:W3CDTF">2026-02-03T10:07:11Z</dcterms:modified>
</cp:coreProperties>
</file>