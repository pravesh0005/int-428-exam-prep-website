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70" r:id="rId30"/>
    <p:sldId id="266" r:id="rId31"/>
    <p:sldId id="267" r:id="rId32"/>
    <p:sldId id="268" r:id="rId33"/>
    <p:sldId id="269" r:id="rId34"/>
    <p:sldId id="310" r:id="rId35"/>
    <p:sldId id="290" r:id="rId36"/>
    <p:sldId id="257" r:id="rId37"/>
    <p:sldId id="291" r:id="rId38"/>
    <p:sldId id="292" r:id="rId39"/>
    <p:sldId id="309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05" r:id="rId69"/>
    <p:sldId id="306" r:id="rId70"/>
    <p:sldId id="327" r:id="rId71"/>
    <p:sldId id="328" r:id="rId72"/>
    <p:sldId id="329" r:id="rId73"/>
    <p:sldId id="330" r:id="rId74"/>
    <p:sldId id="333" r:id="rId75"/>
    <p:sldId id="331" r:id="rId76"/>
    <p:sldId id="332" r:id="rId77"/>
    <p:sldId id="334" r:id="rId78"/>
    <p:sldId id="335" r:id="rId79"/>
    <p:sldId id="336" r:id="rId80"/>
    <p:sldId id="307" r:id="rId81"/>
    <p:sldId id="308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6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2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8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8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9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8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4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1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4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3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05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778869"/>
            <a:ext cx="9143998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1558991" y="431018"/>
            <a:ext cx="6080433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304" y="178307"/>
            <a:ext cx="116064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11" y="178308"/>
            <a:ext cx="11859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71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44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2020" y="444933"/>
            <a:ext cx="410810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5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2020" y="3951843"/>
            <a:ext cx="16002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0371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6D748-DB19-468C-9D75-CB1F309EA6DE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97835-D2AF-4EF2-8C3A-CB5E0C2A39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1558991" y="431018"/>
            <a:ext cx="6080433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66304" y="178307"/>
            <a:ext cx="116064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211" y="178308"/>
            <a:ext cx="11859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6778869"/>
            <a:ext cx="9143998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12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500043"/>
            <a:ext cx="7772400" cy="1071570"/>
          </a:xfrm>
        </p:spPr>
        <p:txBody>
          <a:bodyPr/>
          <a:lstStyle/>
          <a:p>
            <a:r>
              <a:rPr lang="en-US" dirty="0"/>
              <a:t>Unit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662" y="1714488"/>
            <a:ext cx="6400800" cy="1752600"/>
          </a:xfrm>
        </p:spPr>
        <p:txBody>
          <a:bodyPr>
            <a:no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Machine Learning : Probability, Statistics, Linear algebra (applied focus)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Supervised, unsupervised, and reinforcement learning: concepts and real-world use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Feature engineering and model evaluation (cross-validation, precision, recall)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Bayes</a:t>
            </a:r>
            <a:r>
              <a:rPr lang="en-US" sz="2400" dirty="0">
                <a:solidFill>
                  <a:schemeClr val="tx1"/>
                </a:solidFill>
              </a:rPr>
              <a:t> theorem, Bayesian networks and probabilistic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642918"/>
            <a:ext cx="8786874" cy="774720"/>
          </a:xfrm>
        </p:spPr>
        <p:txBody>
          <a:bodyPr>
            <a:normAutofit fontScale="90000"/>
          </a:bodyPr>
          <a:lstStyle/>
          <a:p>
            <a:br>
              <a:rPr lang="en-US" sz="3100" b="1" dirty="0"/>
            </a:br>
            <a:r>
              <a:rPr lang="en-US" sz="4000" b="1" dirty="0"/>
              <a:t>Machine Learning : Probability, Statistics, Linear algebra (applied focus)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Probability means: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How likely something is to happen.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It always lies between: 0≤P≤1</a:t>
            </a:r>
          </a:p>
          <a:p>
            <a:r>
              <a:rPr lang="en-US" dirty="0"/>
              <a:t>0 → Impossible</a:t>
            </a:r>
          </a:p>
          <a:p>
            <a:r>
              <a:rPr lang="en-US" dirty="0"/>
              <a:t>1 → Certain</a:t>
            </a:r>
          </a:p>
          <a:p>
            <a:r>
              <a:rPr lang="en-US" dirty="0"/>
              <a:t>0.5 → 50% chance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4832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Machine learning deals with </a:t>
            </a:r>
            <a:r>
              <a:rPr lang="en-US" b="1" dirty="0"/>
              <a:t>uncertain data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Is this email spam?</a:t>
            </a:r>
          </a:p>
          <a:p>
            <a:r>
              <a:rPr lang="en-US" dirty="0"/>
              <a:t>Does this patient have diabetes?</a:t>
            </a:r>
          </a:p>
          <a:p>
            <a:r>
              <a:rPr lang="en-US" dirty="0"/>
              <a:t>Will this customer buy a product?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The model does not say only </a:t>
            </a:r>
            <a:r>
              <a:rPr lang="en-US" b="1" dirty="0"/>
              <a:t>Yes or No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It says:</a:t>
            </a:r>
          </a:p>
          <a:p>
            <a:r>
              <a:rPr lang="en-US" dirty="0"/>
              <a:t>“There is 80% chance this is spam.”</a:t>
            </a:r>
          </a:p>
          <a:p>
            <a:pPr>
              <a:buNone/>
            </a:pPr>
            <a:r>
              <a:rPr lang="en-US" dirty="0"/>
              <a:t>That 80% comes from </a:t>
            </a:r>
            <a:r>
              <a:rPr lang="en-US" b="1" dirty="0"/>
              <a:t>probability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807249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17" y="714356"/>
            <a:ext cx="842968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142984"/>
            <a:ext cx="692658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Probability in ML helps us answer:</a:t>
            </a:r>
          </a:p>
          <a:p>
            <a:r>
              <a:rPr lang="en-US" dirty="0"/>
              <a:t>“How confident is the model about its prediction?”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642918"/>
            <a:ext cx="8072494" cy="5250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44" y="357166"/>
            <a:ext cx="8786874" cy="5768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6690360" cy="2621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Theorem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7143800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35811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8768" y="1825625"/>
            <a:ext cx="68464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28650" y="2433456"/>
            <a:ext cx="7886700" cy="313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214554"/>
            <a:ext cx="607223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818388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9144000" cy="3788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857364"/>
            <a:ext cx="692948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28650" y="1921086"/>
            <a:ext cx="7886700" cy="4160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28650" y="2359268"/>
            <a:ext cx="7886700" cy="328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Supervised Learning</a:t>
            </a:r>
          </a:p>
          <a:p>
            <a:r>
              <a:rPr lang="en-US" b="1" dirty="0"/>
              <a:t>Meaning</a:t>
            </a:r>
            <a:r>
              <a:rPr lang="en-US" dirty="0"/>
              <a:t>: The machine learns from </a:t>
            </a:r>
            <a:r>
              <a:rPr lang="en-US" b="1" dirty="0"/>
              <a:t>labeled data</a:t>
            </a:r>
            <a:r>
              <a:rPr lang="en-US" dirty="0"/>
              <a:t> (we already know the correct answers).</a:t>
            </a:r>
          </a:p>
          <a:p>
            <a:r>
              <a:rPr lang="en-US" b="1" dirty="0"/>
              <a:t>Goal</a:t>
            </a:r>
            <a:r>
              <a:rPr lang="en-US" dirty="0"/>
              <a:t>: Learn the mapping from input → output.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show the model </a:t>
            </a:r>
            <a:r>
              <a:rPr lang="en-US" b="1" dirty="0"/>
              <a:t>pictures of fruits</a:t>
            </a:r>
            <a:r>
              <a:rPr lang="en-US" dirty="0"/>
              <a:t> with labels:“Apple”, “Banana”, “Orange”.</a:t>
            </a:r>
          </a:p>
          <a:p>
            <a:pPr lvl="1"/>
            <a:r>
              <a:rPr lang="en-US" dirty="0"/>
              <a:t>The model learns to classify new pictures correctly.</a:t>
            </a:r>
          </a:p>
          <a:p>
            <a:r>
              <a:rPr lang="en-US" dirty="0"/>
              <a:t>Used for: Classification (spam </a:t>
            </a:r>
            <a:r>
              <a:rPr lang="en-US" dirty="0" err="1"/>
              <a:t>vs</a:t>
            </a:r>
            <a:r>
              <a:rPr lang="en-US" dirty="0"/>
              <a:t> not spam), Regression (house price prediction).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Unsupervised Learning</a:t>
            </a:r>
          </a:p>
          <a:p>
            <a:r>
              <a:rPr lang="en-US" b="1" dirty="0"/>
              <a:t>Meaning</a:t>
            </a:r>
            <a:r>
              <a:rPr lang="en-US" dirty="0"/>
              <a:t>: The machine learns from </a:t>
            </a:r>
            <a:r>
              <a:rPr lang="en-US" b="1" dirty="0"/>
              <a:t>unlabeled data</a:t>
            </a:r>
            <a:r>
              <a:rPr lang="en-US" dirty="0"/>
              <a:t> (no correct answers given).</a:t>
            </a:r>
          </a:p>
          <a:p>
            <a:r>
              <a:rPr lang="en-US" b="1" dirty="0"/>
              <a:t>Goal</a:t>
            </a:r>
            <a:r>
              <a:rPr lang="en-US" dirty="0"/>
              <a:t>: Find hidden patterns, groups, or structure in data.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give the model </a:t>
            </a:r>
            <a:r>
              <a:rPr lang="en-US" b="1" dirty="0"/>
              <a:t>pictures of fruits</a:t>
            </a:r>
            <a:r>
              <a:rPr lang="en-US" dirty="0"/>
              <a:t> but with </a:t>
            </a:r>
            <a:r>
              <a:rPr lang="en-US" b="1" dirty="0"/>
              <a:t>no labels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model groups them into clusters: all apples together, bananas together, oranges together — without being told their names.</a:t>
            </a:r>
          </a:p>
          <a:p>
            <a:r>
              <a:rPr lang="en-US" dirty="0"/>
              <a:t>Used for: Clustering (customer segmentation), Dimensionality reduction (data compression).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  <a:r>
              <a:rPr lang="en-US" dirty="0"/>
              <a:t> → Learn with answers provided.</a:t>
            </a:r>
          </a:p>
          <a:p>
            <a:r>
              <a:rPr lang="en-US" b="1" dirty="0"/>
              <a:t>Unsupervised learning</a:t>
            </a:r>
            <a:r>
              <a:rPr lang="en-US" dirty="0"/>
              <a:t> → Learn without answers, find patterns yourself.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Reinforcement Learning (RL)</a:t>
            </a:r>
          </a:p>
          <a:p>
            <a:r>
              <a:rPr lang="en-US" dirty="0"/>
              <a:t>Reinforcement Learning is a type of </a:t>
            </a:r>
            <a:r>
              <a:rPr lang="en-US" b="1" dirty="0"/>
              <a:t>machine learning</a:t>
            </a:r>
            <a:r>
              <a:rPr lang="en-US" dirty="0"/>
              <a:t> where an </a:t>
            </a:r>
            <a:r>
              <a:rPr lang="en-US" b="1" dirty="0"/>
              <a:t>agent</a:t>
            </a:r>
            <a:r>
              <a:rPr lang="en-US" dirty="0"/>
              <a:t> learns to make decisions by interacting with an </a:t>
            </a:r>
            <a:r>
              <a:rPr lang="en-US" b="1" dirty="0"/>
              <a:t>environment</a:t>
            </a:r>
            <a:r>
              <a:rPr lang="en-US" dirty="0"/>
              <a:t>, aiming to maximize </a:t>
            </a:r>
            <a:r>
              <a:rPr lang="en-US" b="1" dirty="0"/>
              <a:t>reward</a:t>
            </a:r>
            <a:r>
              <a:rPr lang="en-US" dirty="0"/>
              <a:t>.</a:t>
            </a:r>
          </a:p>
          <a:p>
            <a:r>
              <a:rPr lang="en-US" dirty="0"/>
              <a:t>Think of it like </a:t>
            </a:r>
            <a:r>
              <a:rPr lang="en-US" b="1" dirty="0"/>
              <a:t>training a pet dog</a:t>
            </a:r>
            <a:r>
              <a:rPr lang="en-US" dirty="0"/>
              <a:t>:</a:t>
            </a:r>
          </a:p>
          <a:p>
            <a:r>
              <a:rPr lang="en-US" dirty="0"/>
              <a:t>When the dog does the right trick → you give a biscuit (</a:t>
            </a:r>
            <a:r>
              <a:rPr lang="en-US" b="1" dirty="0"/>
              <a:t>reward</a:t>
            </a:r>
            <a:r>
              <a:rPr lang="en-US" dirty="0"/>
              <a:t>)</a:t>
            </a:r>
          </a:p>
          <a:p>
            <a:r>
              <a:rPr lang="en-US" dirty="0"/>
              <a:t>When it does something wrong → no treat (or mild punishment)</a:t>
            </a:r>
            <a:br>
              <a:rPr lang="en-US" dirty="0"/>
            </a:br>
            <a:r>
              <a:rPr lang="en-US" dirty="0"/>
              <a:t>Over time, the dog learns which actions bring rewards.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Parts of RL:</a:t>
            </a:r>
          </a:p>
          <a:p>
            <a:r>
              <a:rPr lang="en-US" b="1" dirty="0"/>
              <a:t>Agent</a:t>
            </a:r>
            <a:r>
              <a:rPr lang="en-US" dirty="0"/>
              <a:t> → The learner/decision maker (robot, AI program, game character).</a:t>
            </a:r>
          </a:p>
          <a:p>
            <a:r>
              <a:rPr lang="en-US" b="1" dirty="0"/>
              <a:t>Environment</a:t>
            </a:r>
            <a:r>
              <a:rPr lang="en-US" dirty="0"/>
              <a:t> → The world the agent interacts with (a game, a maze, stock market, real world).</a:t>
            </a:r>
          </a:p>
          <a:p>
            <a:r>
              <a:rPr lang="en-US" b="1" dirty="0"/>
              <a:t>Action</a:t>
            </a:r>
            <a:r>
              <a:rPr lang="en-US" dirty="0"/>
              <a:t> → What the agent does (move left, right, jump, invest, etc.).</a:t>
            </a:r>
          </a:p>
          <a:p>
            <a:r>
              <a:rPr lang="en-US" b="1" dirty="0"/>
              <a:t>State</a:t>
            </a:r>
            <a:r>
              <a:rPr lang="en-US" dirty="0"/>
              <a:t> → The current situation (where the agent is, what it sees).</a:t>
            </a:r>
          </a:p>
          <a:p>
            <a:r>
              <a:rPr lang="en-US" b="1" dirty="0"/>
              <a:t>Reward</a:t>
            </a:r>
            <a:r>
              <a:rPr lang="en-US" dirty="0"/>
              <a:t> → Feedback signal (positive or negative) telling how good the action was.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95529"/>
            <a:ext cx="7886700" cy="538143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Real-Life Examples:</a:t>
            </a:r>
          </a:p>
          <a:p>
            <a:r>
              <a:rPr lang="en-US" b="1" dirty="0"/>
              <a:t>Self-driving Cars </a:t>
            </a:r>
            <a:endParaRPr lang="en-US" dirty="0"/>
          </a:p>
          <a:p>
            <a:pPr lvl="1"/>
            <a:r>
              <a:rPr lang="en-US" dirty="0"/>
              <a:t>Action: Brake, accelerate, turn.</a:t>
            </a:r>
          </a:p>
          <a:p>
            <a:pPr lvl="1"/>
            <a:r>
              <a:rPr lang="en-US" dirty="0"/>
              <a:t>Reward: Staying safe &amp; reaching destination without accidents.</a:t>
            </a:r>
          </a:p>
          <a:p>
            <a:pPr lvl="1"/>
            <a:endParaRPr lang="en-US" dirty="0"/>
          </a:p>
          <a:p>
            <a:r>
              <a:rPr lang="en-US" b="1" dirty="0"/>
              <a:t>Games (Chess, Go, Atari, etc.)</a:t>
            </a:r>
            <a:endParaRPr lang="en-US" dirty="0"/>
          </a:p>
          <a:p>
            <a:pPr lvl="1"/>
            <a:r>
              <a:rPr lang="en-US" dirty="0"/>
              <a:t>Action: Move a piece.</a:t>
            </a:r>
          </a:p>
          <a:p>
            <a:pPr lvl="1"/>
            <a:r>
              <a:rPr lang="en-US" dirty="0"/>
              <a:t>Reward: Winning points or the game.</a:t>
            </a:r>
          </a:p>
          <a:p>
            <a:pPr lvl="1"/>
            <a:endParaRPr lang="en-US" dirty="0"/>
          </a:p>
          <a:p>
            <a:r>
              <a:rPr lang="en-US" b="1" dirty="0"/>
              <a:t>Robotics</a:t>
            </a:r>
            <a:endParaRPr lang="en-US" dirty="0"/>
          </a:p>
          <a:p>
            <a:pPr lvl="1"/>
            <a:r>
              <a:rPr lang="en-US" dirty="0"/>
              <a:t>Robot arm learns to pick up an object.</a:t>
            </a:r>
          </a:p>
          <a:p>
            <a:r>
              <a:rPr lang="en-US" dirty="0"/>
              <a:t>Reward: Successfully grabbing and placing it.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en-US" b="1" dirty="0"/>
              <a:t>Personalized Recommendations (Netflix/YouTube)</a:t>
            </a:r>
            <a:endParaRPr lang="en-US" dirty="0"/>
          </a:p>
          <a:p>
            <a:r>
              <a:rPr lang="en-US" dirty="0"/>
              <a:t>Action: Suggest a movie/video.</a:t>
            </a:r>
          </a:p>
          <a:p>
            <a:r>
              <a:rPr lang="en-US" dirty="0"/>
              <a:t>Reward: User clicks and watches → positive reward.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Vs Clustering Vs </a:t>
            </a:r>
            <a:r>
              <a:rPr lang="en-US" dirty="0" err="1"/>
              <a:t>Regresion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 Classification (labels / categories)</a:t>
            </a:r>
          </a:p>
          <a:p>
            <a:r>
              <a:rPr lang="en-US" dirty="0"/>
              <a:t>Goal: </a:t>
            </a:r>
            <a:r>
              <a:rPr lang="en-US" b="1" dirty="0"/>
              <a:t>Put data into fixed groups (classes).</a:t>
            </a:r>
            <a:endParaRPr lang="en-US" dirty="0"/>
          </a:p>
          <a:p>
            <a:r>
              <a:rPr lang="en-US" dirty="0"/>
              <a:t>Output: </a:t>
            </a:r>
            <a:r>
              <a:rPr lang="en-US" b="1" dirty="0"/>
              <a:t>Discrete labels</a:t>
            </a:r>
            <a:r>
              <a:rPr lang="en-US" dirty="0"/>
              <a:t> (Yes/No, Cat/Dog, Spam/Not Spam).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Email filter → “Spam” or “Not Spam”.</a:t>
            </a:r>
          </a:p>
          <a:p>
            <a:pPr lvl="1"/>
            <a:r>
              <a:rPr lang="en-US" dirty="0"/>
              <a:t>Medical test → “Positive” or “Negative”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2. Regression (numbers / prediction)</a:t>
            </a:r>
          </a:p>
          <a:p>
            <a:r>
              <a:rPr lang="en-US" dirty="0"/>
              <a:t>Goal: </a:t>
            </a:r>
            <a:r>
              <a:rPr lang="en-US" b="1" dirty="0"/>
              <a:t>Predict a continuous value (a number).</a:t>
            </a:r>
            <a:endParaRPr lang="en-US" dirty="0"/>
          </a:p>
          <a:p>
            <a:r>
              <a:rPr lang="en-US" dirty="0"/>
              <a:t>Output: </a:t>
            </a:r>
            <a:r>
              <a:rPr lang="en-US" b="1" dirty="0"/>
              <a:t>Real values</a:t>
            </a:r>
            <a:r>
              <a:rPr lang="en-US" dirty="0"/>
              <a:t> (0.5, 73.2, etc.).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Predict house price = ₹45,20,000.</a:t>
            </a:r>
          </a:p>
          <a:p>
            <a:pPr lvl="1"/>
            <a:r>
              <a:rPr lang="en-US" dirty="0"/>
              <a:t>Predict tomorrow’s temperature = 32.5°C.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23925" y="2948781"/>
            <a:ext cx="729615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 1: House Price</a:t>
            </a:r>
          </a:p>
          <a:p>
            <a:r>
              <a:rPr lang="en-US" dirty="0"/>
              <a:t>Suppose we have data of houses:</a:t>
            </a:r>
          </a:p>
          <a:p>
            <a:pPr lvl="1"/>
            <a:r>
              <a:rPr lang="en-US" dirty="0"/>
              <a:t>Size = 1000 sq. ft → Price = ₹30 </a:t>
            </a:r>
            <a:r>
              <a:rPr lang="en-US" dirty="0" err="1"/>
              <a:t>lakhs</a:t>
            </a:r>
            <a:endParaRPr lang="en-US" dirty="0"/>
          </a:p>
          <a:p>
            <a:pPr lvl="1"/>
            <a:r>
              <a:rPr lang="en-US" dirty="0"/>
              <a:t>Size = 1500 sq. ft → Price = ₹45 </a:t>
            </a:r>
            <a:r>
              <a:rPr lang="en-US" dirty="0" err="1"/>
              <a:t>lakhs</a:t>
            </a:r>
            <a:endParaRPr lang="en-US" dirty="0"/>
          </a:p>
          <a:p>
            <a:pPr lvl="1"/>
            <a:r>
              <a:rPr lang="en-US" dirty="0"/>
              <a:t>Size = 2000 sq. ft → Price = ₹60 </a:t>
            </a:r>
            <a:r>
              <a:rPr lang="en-US" dirty="0" err="1"/>
              <a:t>lakhs</a:t>
            </a:r>
            <a:endParaRPr lang="en-US" dirty="0"/>
          </a:p>
          <a:p>
            <a:r>
              <a:rPr lang="en-US" dirty="0"/>
              <a:t>If someone asks: </a:t>
            </a:r>
            <a:r>
              <a:rPr lang="en-US" i="1" dirty="0"/>
              <a:t>“What would be the price of a 1700 sq. ft house?”</a:t>
            </a:r>
            <a:endParaRPr lang="en-US" dirty="0"/>
          </a:p>
          <a:p>
            <a:r>
              <a:rPr lang="en-US" b="1" dirty="0"/>
              <a:t>Regression predicts this number</a:t>
            </a:r>
            <a:r>
              <a:rPr lang="en-US" dirty="0"/>
              <a:t> (maybe ~₹51 </a:t>
            </a:r>
            <a:r>
              <a:rPr lang="en-US" dirty="0" err="1"/>
              <a:t>lakhs</a:t>
            </a:r>
            <a:r>
              <a:rPr 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 2: Student Marks</a:t>
            </a:r>
          </a:p>
          <a:p>
            <a:r>
              <a:rPr lang="en-US" dirty="0"/>
              <a:t>Study hours vs. Exam Marks.</a:t>
            </a:r>
          </a:p>
          <a:p>
            <a:r>
              <a:rPr lang="en-US" dirty="0"/>
              <a:t>If you study 2 hrs → 50 marks, 4 hrs → 65 marks, 6 hrs → 80 marks.</a:t>
            </a:r>
          </a:p>
          <a:p>
            <a:r>
              <a:rPr lang="en-US" dirty="0"/>
              <a:t>Regression finds the </a:t>
            </a:r>
            <a:r>
              <a:rPr lang="en-US" b="1" dirty="0"/>
              <a:t>trend/line</a:t>
            </a:r>
            <a:r>
              <a:rPr lang="en-US" dirty="0"/>
              <a:t> and predicts marks for 5 hrs (~72).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500042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3. Clustering (grouping without labels)</a:t>
            </a:r>
          </a:p>
          <a:p>
            <a:r>
              <a:rPr lang="en-US" dirty="0"/>
              <a:t>Goal: </a:t>
            </a:r>
            <a:r>
              <a:rPr lang="en-US" b="1" dirty="0"/>
              <a:t>Group similar data points together</a:t>
            </a:r>
            <a:r>
              <a:rPr lang="en-US" dirty="0"/>
              <a:t> (no predefined labels).</a:t>
            </a:r>
          </a:p>
          <a:p>
            <a:r>
              <a:rPr lang="en-US" dirty="0"/>
              <a:t>Output: </a:t>
            </a:r>
            <a:r>
              <a:rPr lang="en-US" b="1" dirty="0"/>
              <a:t>Clusters of similar things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Grouping customers by shopping habits (loyalty, luxury, budget).</a:t>
            </a:r>
          </a:p>
          <a:p>
            <a:pPr lvl="1"/>
            <a:r>
              <a:rPr lang="en-US" dirty="0"/>
              <a:t>Grouping students by learning style (fast, average, slow).</a:t>
            </a:r>
          </a:p>
          <a:p>
            <a:r>
              <a:rPr lang="en-US" b="1" dirty="0"/>
              <a:t>finding natural groups without knowing them before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Classification → Predict categories (cat/dog).</a:t>
            </a:r>
            <a:endParaRPr lang="en-US" dirty="0"/>
          </a:p>
          <a:p>
            <a:r>
              <a:rPr lang="en-US" b="1" dirty="0"/>
              <a:t>Regression → Predict numbers (price, temperature).</a:t>
            </a:r>
            <a:endParaRPr lang="en-US" dirty="0"/>
          </a:p>
          <a:p>
            <a:r>
              <a:rPr lang="en-US" b="1" dirty="0"/>
              <a:t>Clustering → Discover groups (similar customers).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5D3A-9E70-53AA-E1B1-A4F07605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8073-4A2B-B073-EA79-C1B595DC0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2D3A8-42C9-E470-726A-5244BDCED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73" y="2357288"/>
            <a:ext cx="7392739" cy="301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66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Cross-Validation, Precision &amp; Recall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Feature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is not directly usable</a:t>
            </a:r>
          </a:p>
          <a:p>
            <a:pPr lvl="1"/>
            <a:r>
              <a:t>Machines understand numbers, not meaning</a:t>
            </a:r>
          </a:p>
          <a:p>
            <a:pPr lvl="1"/>
            <a:r>
              <a:t>Better features → Better model performance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Feature?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= Input variable used by ML model</a:t>
            </a:r>
          </a:p>
          <a:p>
            <a:pPr lvl="1"/>
            <a:r>
              <a:t>Example: Attendance %, Study hours</a:t>
            </a:r>
          </a:p>
          <a:p>
            <a:pPr lvl="1"/>
            <a:r>
              <a:t>Previous marks, Assignment score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Feature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transforming raw data into meaningful features</a:t>
            </a:r>
          </a:p>
          <a:p>
            <a:pPr lvl="1"/>
            <a:r>
              <a:t>Raw Data → Clean → Transform → Improve → Model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1FBF-DA35-6398-927F-214844CC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ADDF45-5232-B064-8BD9-8202817E0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28650" y="2188796"/>
            <a:ext cx="7886700" cy="362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99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Transformation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of Birth = 2002</a:t>
            </a:r>
          </a:p>
          <a:p>
            <a:pPr lvl="1"/>
            <a:r>
              <a:t>Engineered Feature: Age = 2026 – 2002 = 24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Gender: Male / Female</a:t>
            </a:r>
          </a:p>
          <a:p>
            <a:pPr lvl="1"/>
            <a:r>
              <a:t>Encoded as: Male = 0, Female =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= 5,00,000</a:t>
            </a:r>
          </a:p>
          <a:p>
            <a:pPr lvl="1"/>
            <a:r>
              <a:t>Experience = 2 years</a:t>
            </a:r>
          </a:p>
          <a:p>
            <a:pPr lvl="1"/>
            <a:r>
              <a:t>Scaling formula: X' = (X - Xmin) / (Xmax - Xmin)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Length = 10, Width = 5</a:t>
            </a:r>
          </a:p>
          <a:p>
            <a:pPr lvl="1"/>
            <a:r>
              <a:t>New Feature: Area = Length × Width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Feature Engineering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accuracy</a:t>
            </a:r>
          </a:p>
          <a:p>
            <a:pPr lvl="1"/>
            <a:r>
              <a:t>Reduces overfitting</a:t>
            </a:r>
          </a:p>
          <a:p>
            <a:pPr lvl="1"/>
            <a:r>
              <a:t>Removes irrelevant features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Model Evaluation?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model on unseen data</a:t>
            </a:r>
          </a:p>
          <a:p>
            <a:pPr lvl="1"/>
            <a:r>
              <a:t>Training Data ≠ Testing Data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split: 70% Training, 30% Testing</a:t>
            </a:r>
          </a:p>
          <a:p>
            <a:pPr lvl="1"/>
            <a:r>
              <a:t>Training → Learn</a:t>
            </a:r>
          </a:p>
          <a:p>
            <a:pPr lvl="1"/>
            <a:r>
              <a:t>Testing → Evaluate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vs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Overfitting: High train accuracy, Low test accuracy</a:t>
            </a:r>
          </a:p>
          <a:p>
            <a:pPr lvl="1"/>
            <a:r>
              <a:t>Underfitting: Low train &amp; test accuracy</a:t>
            </a:r>
          </a:p>
        </p:txBody>
      </p:sp>
      <p:pic>
        <p:nvPicPr>
          <p:cNvPr id="1026" name="Picture 2" descr="Understanding Overfitting and Underfitting in Machine Learning | by ankit  sharma | GoPenAI">
            <a:extLst>
              <a:ext uri="{FF2B5EF4-FFF2-40B4-BE49-F238E27FC236}">
                <a16:creationId xmlns:a16="http://schemas.microsoft.com/office/drawing/2014/main" id="{DA1BCDA2-E288-A825-4912-EBDF91E37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788901"/>
            <a:ext cx="5310077" cy="354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with Single 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split may give biased results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Cross-Validation?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 data into K folds</a:t>
            </a:r>
          </a:p>
          <a:p>
            <a:pPr lvl="1"/>
            <a:r>
              <a:t>Train on K-1 folds</a:t>
            </a:r>
          </a:p>
          <a:p>
            <a:pPr lvl="1"/>
            <a:r>
              <a:t>Test on 1 fold</a:t>
            </a:r>
          </a:p>
          <a:p>
            <a:pPr lvl="1"/>
            <a:r>
              <a:t>Repeat K times</a:t>
            </a:r>
          </a:p>
          <a:p>
            <a:pPr lvl="1"/>
            <a:r>
              <a:t>Take average performance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5-Fold Cross-Validation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= 100 samples, Each fold = 20</a:t>
            </a:r>
          </a:p>
          <a:p>
            <a:pPr lvl="1"/>
            <a:r>
              <a:t>Accuracies: 72%, 75%, 74%, 73%, 76%</a:t>
            </a:r>
          </a:p>
          <a:p>
            <a:pPr lvl="1"/>
            <a:r>
              <a:t>Final Accuracy = 74%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Actual vs Predicted</a:t>
            </a:r>
          </a:p>
          <a:p>
            <a:pPr lvl="1"/>
            <a:r>
              <a:t>True Positive (TP)</a:t>
            </a:r>
          </a:p>
          <a:p>
            <a:pPr lvl="1"/>
            <a:r>
              <a:t>False Positive (FP)</a:t>
            </a:r>
          </a:p>
          <a:p>
            <a:pPr lvl="1"/>
            <a:r>
              <a:t>False Negative (FN)</a:t>
            </a:r>
          </a:p>
          <a:p>
            <a:pPr lvl="1"/>
            <a:r>
              <a:t>True Negative (TN)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F4654-AAF8-96CF-D94E-05B40235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140968"/>
            <a:ext cx="5036815" cy="226243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7C83C-BC4D-6C8F-7997-CC0DC444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92696"/>
            <a:ext cx="8191822" cy="548426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Airport Security AI System</a:t>
            </a:r>
          </a:p>
          <a:p>
            <a:r>
              <a:rPr lang="en-US" dirty="0"/>
              <a:t>An international airport installs an </a:t>
            </a:r>
            <a:r>
              <a:rPr lang="en-US" b="1" dirty="0"/>
              <a:t>AI-based security screening system</a:t>
            </a:r>
            <a:r>
              <a:rPr lang="en-US" dirty="0"/>
              <a:t> that scans passenger luggage and predicts whether a bag contains a dangerous item.</a:t>
            </a:r>
          </a:p>
          <a:p>
            <a:r>
              <a:rPr lang="en-US" dirty="0"/>
              <a:t>The AI system gives two possible predictions:</a:t>
            </a:r>
          </a:p>
          <a:p>
            <a:r>
              <a:rPr lang="en-US" b="1" dirty="0"/>
              <a:t>Dangerous Item Detected </a:t>
            </a:r>
            <a:r>
              <a:rPr lang="en-US" dirty="0"/>
              <a:t>or </a:t>
            </a:r>
            <a:r>
              <a:rPr lang="en-US" b="1" dirty="0"/>
              <a:t>No Dangerous Item</a:t>
            </a:r>
            <a:endParaRPr lang="en-US" dirty="0"/>
          </a:p>
          <a:p>
            <a:r>
              <a:rPr lang="en-US" dirty="0"/>
              <a:t>After the security inspection, the </a:t>
            </a:r>
            <a:r>
              <a:rPr lang="en-US" b="1" dirty="0"/>
              <a:t>actual truth</a:t>
            </a:r>
            <a:r>
              <a:rPr lang="en-US" dirty="0"/>
              <a:t> about the bag is discovered by manual checking.</a:t>
            </a:r>
          </a:p>
          <a:p>
            <a:r>
              <a:rPr lang="en-US" dirty="0"/>
              <a:t>During one day, the following results were observed.</a:t>
            </a:r>
          </a:p>
          <a:p>
            <a:r>
              <a:rPr lang="en-US" dirty="0"/>
              <a:t>A passenger bag actually contained a knife, and the AI system correctly detected it as dangerous.</a:t>
            </a:r>
          </a:p>
          <a:p>
            <a:r>
              <a:rPr lang="en-US" dirty="0"/>
              <a:t>A passenger bag did not contain any dangerous item, but the AI system flagged it as dangerous.</a:t>
            </a:r>
          </a:p>
          <a:p>
            <a:r>
              <a:rPr lang="en-US" dirty="0"/>
              <a:t>A passenger bag actually contained explosives, but the AI system failed to detect it.</a:t>
            </a:r>
          </a:p>
          <a:p>
            <a:r>
              <a:rPr lang="en-US" dirty="0"/>
              <a:t>A passenger bag did not contain anything dangerous, and the AI system correctly allowed it through.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376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D44E-21A4-D748-5A31-1A9921E3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8491-71B7-4236-2E6A-410D2ADF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classify each situation into the following categories:</a:t>
            </a:r>
          </a:p>
          <a:p>
            <a:r>
              <a:rPr lang="en-US" dirty="0"/>
              <a:t>True Positive</a:t>
            </a:r>
            <a:br>
              <a:rPr lang="en-US" dirty="0"/>
            </a:br>
            <a:r>
              <a:rPr lang="en-US" dirty="0"/>
              <a:t>False Positive</a:t>
            </a:r>
            <a:br>
              <a:rPr lang="en-US" dirty="0"/>
            </a:br>
            <a:r>
              <a:rPr lang="en-US" dirty="0"/>
              <a:t>True Negative</a:t>
            </a:r>
            <a:br>
              <a:rPr lang="en-US" dirty="0"/>
            </a:br>
            <a:r>
              <a:rPr lang="en-US" dirty="0"/>
              <a:t>False Negative</a:t>
            </a:r>
          </a:p>
          <a:p>
            <a:r>
              <a:rPr lang="en-US" dirty="0"/>
              <a:t> </a:t>
            </a:r>
            <a:r>
              <a:rPr lang="en-US" b="1" dirty="0"/>
              <a:t>construct the confusion matrix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512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F00-EA6E-1D83-C956-DF574E36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CD7F-E972-378C-7CC4-8A49258F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Positive = Dangerous item is present</a:t>
            </a:r>
            <a:br>
              <a:rPr lang="en-US" dirty="0"/>
            </a:br>
            <a:r>
              <a:rPr lang="en-US" b="1" dirty="0"/>
              <a:t>Negative = Dangerous item is not present</a:t>
            </a:r>
          </a:p>
          <a:p>
            <a:endParaRPr lang="en-US" b="1" dirty="0"/>
          </a:p>
          <a:p>
            <a:r>
              <a:rPr lang="en-US" dirty="0"/>
              <a:t>If the AI says </a:t>
            </a:r>
            <a:r>
              <a:rPr lang="en-US" b="1" dirty="0"/>
              <a:t>dangerous</a:t>
            </a:r>
            <a:r>
              <a:rPr lang="en-US" dirty="0"/>
              <a:t>, that is a </a:t>
            </a:r>
            <a:r>
              <a:rPr lang="en-US" b="1" dirty="0"/>
              <a:t>positive prediction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the AI says </a:t>
            </a:r>
            <a:r>
              <a:rPr lang="en-US" b="1" dirty="0"/>
              <a:t>safe</a:t>
            </a:r>
            <a:r>
              <a:rPr lang="en-US" dirty="0"/>
              <a:t>, that is a </a:t>
            </a:r>
            <a:r>
              <a:rPr lang="en-US" b="1" dirty="0"/>
              <a:t>negative prediction</a:t>
            </a:r>
            <a:r>
              <a:rPr lang="en-US" dirty="0"/>
              <a:t>.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767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7895-32AD-3A5E-84EB-6D66C4C4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8882-00F0-C334-101D-B0023CF0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Write the four possibilities clearly</a:t>
            </a:r>
          </a:p>
          <a:p>
            <a:r>
              <a:rPr lang="en-US" dirty="0"/>
              <a:t>In confusion matrix, every case will go into one of these four categories:</a:t>
            </a:r>
          </a:p>
          <a:p>
            <a:r>
              <a:rPr lang="en-US" b="1" dirty="0"/>
              <a:t>True Positive (TP)</a:t>
            </a:r>
            <a:br>
              <a:rPr lang="en-US" dirty="0"/>
            </a:br>
            <a:r>
              <a:rPr lang="en-US" dirty="0"/>
              <a:t>Model predicted positive, and actual answer is also positive.</a:t>
            </a:r>
          </a:p>
          <a:p>
            <a:r>
              <a:rPr lang="en-US" b="1" dirty="0"/>
              <a:t>False Positive (FP)</a:t>
            </a:r>
            <a:br>
              <a:rPr lang="en-US" dirty="0"/>
            </a:br>
            <a:r>
              <a:rPr lang="en-US" dirty="0"/>
              <a:t>Model predicted positive, but actual answer is negative.</a:t>
            </a:r>
          </a:p>
          <a:p>
            <a:r>
              <a:rPr lang="en-US" b="1" dirty="0"/>
              <a:t>True Negative (TN)</a:t>
            </a:r>
            <a:br>
              <a:rPr lang="en-US" dirty="0"/>
            </a:br>
            <a:r>
              <a:rPr lang="en-US" dirty="0"/>
              <a:t>Model predicted negative, and actual answer is also negative.</a:t>
            </a:r>
          </a:p>
          <a:p>
            <a:r>
              <a:rPr lang="en-US" b="1" dirty="0"/>
              <a:t>False Negative (FN)</a:t>
            </a:r>
            <a:br>
              <a:rPr lang="en-US" dirty="0"/>
            </a:br>
            <a:r>
              <a:rPr lang="en-US" dirty="0"/>
              <a:t>Model predicted negative, but actual answer is positive.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3129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69F8-EED3-FA66-A669-F686E892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9AC7E-65BF-2A5E-EA1B-EE09227D3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Solve Situation 1</a:t>
            </a:r>
          </a:p>
          <a:p>
            <a:r>
              <a:rPr lang="en-US" b="1" dirty="0"/>
              <a:t>Situation 1</a:t>
            </a:r>
          </a:p>
          <a:p>
            <a:r>
              <a:rPr lang="en-US" dirty="0"/>
              <a:t>“A passenger bag actually contained a knife, and the AI system correctly detected it as dangerous.”</a:t>
            </a:r>
          </a:p>
          <a:p>
            <a:r>
              <a:rPr lang="en-US" dirty="0"/>
              <a:t>Now extract the two parts:</a:t>
            </a:r>
          </a:p>
          <a:p>
            <a:r>
              <a:rPr lang="en-US" b="1" dirty="0"/>
              <a:t>Actual truth:</a:t>
            </a:r>
            <a:r>
              <a:rPr lang="en-US" dirty="0"/>
              <a:t> Bag had a dangerous item</a:t>
            </a:r>
            <a:br>
              <a:rPr lang="en-US" dirty="0"/>
            </a:br>
            <a:r>
              <a:rPr lang="en-US" dirty="0"/>
              <a:t>So actual class = </a:t>
            </a:r>
            <a:r>
              <a:rPr lang="en-US" b="1" dirty="0"/>
              <a:t>Positive</a:t>
            </a:r>
            <a:endParaRPr lang="en-US" dirty="0"/>
          </a:p>
          <a:p>
            <a:r>
              <a:rPr lang="en-US" b="1" dirty="0"/>
              <a:t>Prediction:</a:t>
            </a:r>
            <a:r>
              <a:rPr lang="en-US" dirty="0"/>
              <a:t> AI detected it as dangerous</a:t>
            </a:r>
            <a:br>
              <a:rPr lang="en-US" dirty="0"/>
            </a:br>
            <a:r>
              <a:rPr lang="en-US" dirty="0"/>
              <a:t>So predicted class = </a:t>
            </a:r>
            <a:r>
              <a:rPr lang="en-US" b="1" dirty="0"/>
              <a:t>Positive</a:t>
            </a:r>
            <a:endParaRPr lang="en-US" dirty="0"/>
          </a:p>
          <a:p>
            <a:r>
              <a:rPr lang="en-US" dirty="0"/>
              <a:t>Now compare:</a:t>
            </a:r>
          </a:p>
          <a:p>
            <a:r>
              <a:rPr lang="en-US" dirty="0"/>
              <a:t>Predicted Positive + Actual Positive = </a:t>
            </a:r>
            <a:r>
              <a:rPr lang="en-US" b="1" dirty="0"/>
              <a:t>True Positive</a:t>
            </a:r>
            <a:endParaRPr lang="en-US" dirty="0"/>
          </a:p>
          <a:p>
            <a:r>
              <a:rPr lang="en-US" b="1" dirty="0"/>
              <a:t>Answer for Situation 1:</a:t>
            </a:r>
          </a:p>
          <a:p>
            <a:r>
              <a:rPr lang="en-US" b="1" dirty="0"/>
              <a:t>True Positive (TP)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944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51FF-E958-669C-8CD9-0AC3408E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C36AF-60FB-29D4-B91E-80A9ED01C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Solve Situation 2</a:t>
            </a:r>
          </a:p>
          <a:p>
            <a:r>
              <a:rPr lang="en-US" b="1" dirty="0"/>
              <a:t>Situation 2</a:t>
            </a:r>
          </a:p>
          <a:p>
            <a:r>
              <a:rPr lang="en-US" dirty="0"/>
              <a:t>“A passenger bag did not contain any dangerous item, but the AI system flagged it as dangerous.”</a:t>
            </a:r>
          </a:p>
          <a:p>
            <a:r>
              <a:rPr lang="en-US" dirty="0"/>
              <a:t>Again extract both parts:</a:t>
            </a:r>
          </a:p>
          <a:p>
            <a:r>
              <a:rPr lang="en-US" b="1" dirty="0"/>
              <a:t>Actual truth:</a:t>
            </a:r>
            <a:r>
              <a:rPr lang="en-US" dirty="0"/>
              <a:t> No dangerous item</a:t>
            </a:r>
            <a:br>
              <a:rPr lang="en-US" dirty="0"/>
            </a:br>
            <a:r>
              <a:rPr lang="en-US" dirty="0"/>
              <a:t>So actual class = </a:t>
            </a:r>
            <a:r>
              <a:rPr lang="en-US" b="1" dirty="0"/>
              <a:t>Negative</a:t>
            </a:r>
            <a:endParaRPr lang="en-US" dirty="0"/>
          </a:p>
          <a:p>
            <a:r>
              <a:rPr lang="en-US" b="1" dirty="0"/>
              <a:t>Prediction:</a:t>
            </a:r>
            <a:r>
              <a:rPr lang="en-US" dirty="0"/>
              <a:t> AI said dangerous</a:t>
            </a:r>
            <a:br>
              <a:rPr lang="en-US" dirty="0"/>
            </a:br>
            <a:r>
              <a:rPr lang="en-US" dirty="0"/>
              <a:t>So predicted class = </a:t>
            </a:r>
            <a:r>
              <a:rPr lang="en-US" b="1" dirty="0"/>
              <a:t>Positive</a:t>
            </a:r>
            <a:endParaRPr lang="en-US" dirty="0"/>
          </a:p>
          <a:p>
            <a:r>
              <a:rPr lang="en-US" dirty="0"/>
              <a:t>Now compare:</a:t>
            </a:r>
          </a:p>
          <a:p>
            <a:r>
              <a:rPr lang="en-US" dirty="0"/>
              <a:t>Predicted Positive + Actual Negative = </a:t>
            </a:r>
            <a:r>
              <a:rPr lang="en-US" b="1" dirty="0"/>
              <a:t>False Positive</a:t>
            </a:r>
            <a:endParaRPr lang="en-US" dirty="0"/>
          </a:p>
          <a:p>
            <a:r>
              <a:rPr lang="en-US" b="1" dirty="0"/>
              <a:t>Answer for Situation 2:</a:t>
            </a:r>
          </a:p>
          <a:p>
            <a:r>
              <a:rPr lang="en-US" b="1" dirty="0"/>
              <a:t>False Positive (FP)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1950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0BD6-B986-03DD-4019-F4C20E0A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A7882-83EC-C8FE-F6C2-83B8CDC90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Solve Situation 3</a:t>
            </a:r>
          </a:p>
          <a:p>
            <a:r>
              <a:rPr lang="en-US" b="1" dirty="0"/>
              <a:t>Situation 3</a:t>
            </a:r>
          </a:p>
          <a:p>
            <a:r>
              <a:rPr lang="en-US" dirty="0"/>
              <a:t>“A passenger bag actually contained explosives, but the AI system failed to detect it.”</a:t>
            </a:r>
          </a:p>
          <a:p>
            <a:r>
              <a:rPr lang="en-US" dirty="0"/>
              <a:t>Extract carefully:</a:t>
            </a:r>
          </a:p>
          <a:p>
            <a:r>
              <a:rPr lang="en-US" b="1" dirty="0"/>
              <a:t>Actual truth:</a:t>
            </a:r>
            <a:r>
              <a:rPr lang="en-US" dirty="0"/>
              <a:t> Dangerous item present</a:t>
            </a:r>
            <a:br>
              <a:rPr lang="en-US" dirty="0"/>
            </a:br>
            <a:r>
              <a:rPr lang="en-US" dirty="0"/>
              <a:t>So actual class = </a:t>
            </a:r>
            <a:r>
              <a:rPr lang="en-US" b="1" dirty="0"/>
              <a:t>Positive</a:t>
            </a:r>
            <a:endParaRPr lang="en-US" dirty="0"/>
          </a:p>
          <a:p>
            <a:r>
              <a:rPr lang="en-US" b="1" dirty="0"/>
              <a:t>Prediction:</a:t>
            </a:r>
            <a:r>
              <a:rPr lang="en-US" dirty="0"/>
              <a:t> AI failed to detect it, meaning AI said safe</a:t>
            </a:r>
            <a:br>
              <a:rPr lang="en-US" dirty="0"/>
            </a:br>
            <a:r>
              <a:rPr lang="en-US" dirty="0"/>
              <a:t>So predicted class = </a:t>
            </a:r>
            <a:r>
              <a:rPr lang="en-US" b="1" dirty="0"/>
              <a:t>Negative</a:t>
            </a:r>
            <a:endParaRPr lang="en-US" dirty="0"/>
          </a:p>
          <a:p>
            <a:r>
              <a:rPr lang="en-US" dirty="0"/>
              <a:t>Now compare:</a:t>
            </a:r>
          </a:p>
          <a:p>
            <a:r>
              <a:rPr lang="en-US" dirty="0"/>
              <a:t>Predicted Negative + Actual Positive = </a:t>
            </a:r>
            <a:r>
              <a:rPr lang="en-US" b="1" dirty="0"/>
              <a:t>False Negative</a:t>
            </a:r>
            <a:endParaRPr lang="en-US" dirty="0"/>
          </a:p>
          <a:p>
            <a:r>
              <a:rPr lang="en-US" b="1" dirty="0"/>
              <a:t>Answer for Situation 3:</a:t>
            </a:r>
          </a:p>
          <a:p>
            <a:r>
              <a:rPr lang="en-US" b="1" dirty="0"/>
              <a:t>False Negative (FN)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9032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8F8A-2C06-B049-22DA-D71C6592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77E1-95B4-2E4B-A616-650FA474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Situation 4</a:t>
            </a:r>
          </a:p>
          <a:p>
            <a:r>
              <a:rPr lang="en-US" dirty="0"/>
              <a:t>“A passenger bag did not contain anything dangerous, and the AI system correctly allowed it through.”</a:t>
            </a:r>
          </a:p>
          <a:p>
            <a:r>
              <a:rPr lang="en-US" dirty="0"/>
              <a:t>Extract both parts:</a:t>
            </a:r>
          </a:p>
          <a:p>
            <a:r>
              <a:rPr lang="en-US" b="1" dirty="0"/>
              <a:t>Actual truth:</a:t>
            </a:r>
            <a:r>
              <a:rPr lang="en-US" dirty="0"/>
              <a:t> No dangerous item</a:t>
            </a:r>
            <a:br>
              <a:rPr lang="en-US" dirty="0"/>
            </a:br>
            <a:r>
              <a:rPr lang="en-US" dirty="0"/>
              <a:t>So actual class = </a:t>
            </a:r>
            <a:r>
              <a:rPr lang="en-US" b="1" dirty="0"/>
              <a:t>Negative</a:t>
            </a:r>
            <a:endParaRPr lang="en-US" dirty="0"/>
          </a:p>
          <a:p>
            <a:r>
              <a:rPr lang="en-US" b="1" dirty="0"/>
              <a:t>Prediction:</a:t>
            </a:r>
            <a:r>
              <a:rPr lang="en-US" dirty="0"/>
              <a:t> AI said safe</a:t>
            </a:r>
            <a:br>
              <a:rPr lang="en-US" dirty="0"/>
            </a:br>
            <a:r>
              <a:rPr lang="en-US" dirty="0"/>
              <a:t>So predicted class = </a:t>
            </a:r>
            <a:r>
              <a:rPr lang="en-US" b="1" dirty="0"/>
              <a:t>Negative</a:t>
            </a:r>
            <a:endParaRPr lang="en-US" dirty="0"/>
          </a:p>
          <a:p>
            <a:r>
              <a:rPr lang="en-US" dirty="0"/>
              <a:t>Now compare:</a:t>
            </a:r>
          </a:p>
          <a:p>
            <a:r>
              <a:rPr lang="en-US" dirty="0"/>
              <a:t>Predicted Negative + Actual Negative = </a:t>
            </a:r>
            <a:r>
              <a:rPr lang="en-US" b="1" dirty="0"/>
              <a:t>True Negative</a:t>
            </a:r>
            <a:endParaRPr lang="en-US" dirty="0"/>
          </a:p>
          <a:p>
            <a:r>
              <a:rPr lang="en-US" b="1" dirty="0"/>
              <a:t>Answer for Situation 4:</a:t>
            </a:r>
          </a:p>
          <a:p>
            <a:r>
              <a:rPr lang="en-US" b="1" dirty="0"/>
              <a:t>True Negative (TN)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717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4325-FDC9-D47B-BB5C-B39EB215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B9409-9880-302F-501A-3922EB9D6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summarize the four situations:</a:t>
            </a:r>
          </a:p>
          <a:p>
            <a:r>
              <a:rPr lang="en-US" dirty="0"/>
              <a:t>Situation 1 = </a:t>
            </a:r>
            <a:r>
              <a:rPr lang="en-US" b="1" dirty="0"/>
              <a:t>True Positive</a:t>
            </a:r>
            <a:br>
              <a:rPr lang="en-US" dirty="0"/>
            </a:br>
            <a:r>
              <a:rPr lang="en-US" dirty="0"/>
              <a:t>Situation 2 = </a:t>
            </a:r>
            <a:r>
              <a:rPr lang="en-US" b="1" dirty="0"/>
              <a:t>False Positive</a:t>
            </a:r>
            <a:br>
              <a:rPr lang="en-US" dirty="0"/>
            </a:br>
            <a:r>
              <a:rPr lang="en-US" dirty="0"/>
              <a:t>Situation 3 = </a:t>
            </a:r>
            <a:r>
              <a:rPr lang="en-US" b="1" dirty="0"/>
              <a:t>False Negative</a:t>
            </a:r>
            <a:br>
              <a:rPr lang="en-US" dirty="0"/>
            </a:br>
            <a:r>
              <a:rPr lang="en-US" dirty="0"/>
              <a:t>Situation 4 = </a:t>
            </a:r>
            <a:r>
              <a:rPr lang="en-US" b="1" dirty="0"/>
              <a:t>True Negative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4329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CEE0-762B-1B21-AA61-A356D971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ADDC8-B390-2ECB-F0FB-2DBE99557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442" y="3139161"/>
            <a:ext cx="6735115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4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0B6D-00EE-3EE0-849E-6215294A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7975798" cy="526824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hospital develops an </a:t>
            </a:r>
            <a:r>
              <a:rPr lang="en-US" b="1" dirty="0"/>
              <a:t>AI system to detect a viral infection from patient reports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system predicts either:</a:t>
            </a:r>
          </a:p>
          <a:p>
            <a:r>
              <a:rPr lang="en-US" b="1" dirty="0"/>
              <a:t>Infected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b="1" dirty="0"/>
              <a:t>Not Infected</a:t>
            </a:r>
            <a:endParaRPr lang="en-US" dirty="0"/>
          </a:p>
          <a:p>
            <a:r>
              <a:rPr lang="en-US" dirty="0"/>
              <a:t>Later, doctors confirm the </a:t>
            </a:r>
            <a:r>
              <a:rPr lang="en-US" b="1" dirty="0"/>
              <a:t>actual diagnosis</a:t>
            </a:r>
            <a:r>
              <a:rPr lang="en-US" dirty="0"/>
              <a:t> after laboratory testing.</a:t>
            </a:r>
          </a:p>
          <a:p>
            <a:r>
              <a:rPr lang="en-US" dirty="0"/>
              <a:t>During testing of the AI system, the following cases were observed.</a:t>
            </a:r>
          </a:p>
          <a:p>
            <a:r>
              <a:rPr lang="en-US" b="1" dirty="0"/>
              <a:t>Case 1</a:t>
            </a:r>
          </a:p>
          <a:p>
            <a:r>
              <a:rPr lang="en-US" dirty="0"/>
              <a:t>A patient actually had the infection, and the AI system predicted </a:t>
            </a:r>
            <a:r>
              <a:rPr lang="en-US" b="1" dirty="0"/>
              <a:t>Infected</a:t>
            </a:r>
            <a:r>
              <a:rPr lang="en-US" dirty="0"/>
              <a:t>.</a:t>
            </a:r>
          </a:p>
          <a:p>
            <a:r>
              <a:rPr lang="en-US" b="1" dirty="0"/>
              <a:t>Case 2</a:t>
            </a:r>
          </a:p>
          <a:p>
            <a:r>
              <a:rPr lang="en-US" dirty="0"/>
              <a:t>A patient was completely healthy, but the AI system predicted </a:t>
            </a:r>
            <a:r>
              <a:rPr lang="en-US" b="1" dirty="0"/>
              <a:t>Infected</a:t>
            </a:r>
            <a:r>
              <a:rPr lang="en-US" dirty="0"/>
              <a:t>.</a:t>
            </a:r>
          </a:p>
          <a:p>
            <a:r>
              <a:rPr lang="en-US" b="1" dirty="0"/>
              <a:t>Case 3</a:t>
            </a:r>
          </a:p>
          <a:p>
            <a:r>
              <a:rPr lang="en-US" dirty="0"/>
              <a:t>A patient actually had the infection, but the AI system predicted </a:t>
            </a:r>
            <a:r>
              <a:rPr lang="en-US" b="1" dirty="0"/>
              <a:t>Not Infected</a:t>
            </a:r>
            <a:r>
              <a:rPr lang="en-US" dirty="0"/>
              <a:t>.</a:t>
            </a:r>
          </a:p>
          <a:p>
            <a:r>
              <a:rPr lang="en-US" b="1" dirty="0"/>
              <a:t>Case 4</a:t>
            </a:r>
          </a:p>
          <a:p>
            <a:r>
              <a:rPr lang="en-US" dirty="0"/>
              <a:t>A patient was healthy, and the AI system predicted </a:t>
            </a:r>
            <a:r>
              <a:rPr lang="en-US" b="1" dirty="0"/>
              <a:t>Not Infected</a:t>
            </a:r>
            <a:r>
              <a:rPr lang="en-US" dirty="0"/>
              <a:t>.</a:t>
            </a:r>
          </a:p>
          <a:p>
            <a:r>
              <a:rPr lang="en-US" b="1" dirty="0"/>
              <a:t>Case 5</a:t>
            </a:r>
          </a:p>
          <a:p>
            <a:r>
              <a:rPr lang="en-US" dirty="0"/>
              <a:t>A patient actually had the infection, and the AI system predicted </a:t>
            </a:r>
            <a:r>
              <a:rPr lang="en-US" b="1" dirty="0"/>
              <a:t>Infected</a:t>
            </a:r>
            <a:r>
              <a:rPr lang="en-US" dirty="0"/>
              <a:t>.</a:t>
            </a:r>
          </a:p>
          <a:p>
            <a:r>
              <a:rPr lang="en-US" b="1" dirty="0"/>
              <a:t>Case 6</a:t>
            </a:r>
          </a:p>
          <a:p>
            <a:r>
              <a:rPr lang="en-US" dirty="0"/>
              <a:t>A patient was healthy, but the AI system predicted </a:t>
            </a:r>
            <a:r>
              <a:rPr lang="en-US" b="1" dirty="0"/>
              <a:t>Infected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4695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3369-E28D-273F-79E0-6AEC3D68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349AF-3B15-187E-8584-2D83027A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Define Positive and Negative</a:t>
            </a:r>
          </a:p>
          <a:p>
            <a:r>
              <a:rPr lang="en-US" dirty="0"/>
              <a:t>Positive = </a:t>
            </a:r>
            <a:r>
              <a:rPr lang="en-US" b="1" dirty="0"/>
              <a:t>Patient has infection</a:t>
            </a:r>
            <a:br>
              <a:rPr lang="en-US" dirty="0"/>
            </a:br>
            <a:r>
              <a:rPr lang="en-US" dirty="0"/>
              <a:t>Negative = </a:t>
            </a:r>
            <a:r>
              <a:rPr lang="en-US" b="1" dirty="0"/>
              <a:t>Patient does not have infection</a:t>
            </a:r>
            <a:endParaRPr lang="en-US" dirty="0"/>
          </a:p>
          <a:p>
            <a:r>
              <a:rPr lang="en-US" dirty="0"/>
              <a:t>Predicted </a:t>
            </a:r>
            <a:r>
              <a:rPr lang="en-US" b="1" dirty="0"/>
              <a:t>Infected → Positive prediction</a:t>
            </a:r>
            <a:br>
              <a:rPr lang="en-US" dirty="0"/>
            </a:br>
            <a:r>
              <a:rPr lang="en-US" dirty="0"/>
              <a:t>Predicted </a:t>
            </a:r>
            <a:r>
              <a:rPr lang="en-US" b="1" dirty="0"/>
              <a:t>Not Infected → Negative prediction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1599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222E9-B10C-1A92-4291-5CC92762A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764704"/>
            <a:ext cx="8047806" cy="5412259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1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infected, AI predicted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True Positive (TP)</a:t>
            </a:r>
            <a:br>
              <a:rPr lang="en-IN" dirty="0"/>
            </a:br>
            <a:r>
              <a:rPr lang="en-IN" dirty="0"/>
              <a:t>Correct detection.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healthy, AI predicted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False Positive (FP)</a:t>
            </a:r>
            <a:br>
              <a:rPr lang="en-IN" dirty="0"/>
            </a:br>
            <a:r>
              <a:rPr lang="en-IN" dirty="0"/>
              <a:t>False alarm.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infected, AI predicted not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False Negative (FN)</a:t>
            </a:r>
            <a:br>
              <a:rPr lang="en-IN" dirty="0"/>
            </a:br>
            <a:r>
              <a:rPr lang="en-IN" dirty="0"/>
              <a:t>Missed infection.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healthy, AI predicted not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True Negative (TN)</a:t>
            </a:r>
            <a:br>
              <a:rPr lang="en-IN" dirty="0"/>
            </a:br>
            <a:r>
              <a:rPr lang="en-IN" dirty="0"/>
              <a:t>Correct rejection.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5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infected, AI predicted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True Positive (TP)</a:t>
            </a:r>
            <a:br>
              <a:rPr lang="en-IN" dirty="0"/>
            </a:br>
            <a:r>
              <a:rPr lang="en-IN" dirty="0"/>
              <a:t>Correct detection.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Case 6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Patient healthy, AI predicted infected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False Positive (FP)</a:t>
            </a:r>
            <a:br>
              <a:rPr lang="en-IN" dirty="0"/>
            </a:br>
            <a:r>
              <a:rPr lang="en-IN" dirty="0"/>
              <a:t>False alarm.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IN" dirty="0"/>
            </a:b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Final Counts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TP = </a:t>
            </a:r>
            <a:r>
              <a:rPr lang="en-IN" b="1" dirty="0"/>
              <a:t>2</a:t>
            </a:r>
            <a:br>
              <a:rPr lang="en-IN" dirty="0"/>
            </a:br>
            <a:r>
              <a:rPr lang="en-IN" dirty="0"/>
              <a:t>FP = </a:t>
            </a:r>
            <a:r>
              <a:rPr lang="en-IN" b="1" dirty="0"/>
              <a:t>2</a:t>
            </a:r>
            <a:br>
              <a:rPr lang="en-IN" dirty="0"/>
            </a:br>
            <a:r>
              <a:rPr lang="en-IN" dirty="0"/>
              <a:t>TN = </a:t>
            </a:r>
            <a:r>
              <a:rPr lang="en-IN" b="1" dirty="0"/>
              <a:t>1</a:t>
            </a:r>
            <a:br>
              <a:rPr lang="en-IN" dirty="0"/>
            </a:br>
            <a:r>
              <a:rPr lang="en-IN" dirty="0"/>
              <a:t>FN = </a:t>
            </a:r>
            <a:r>
              <a:rPr lang="en-IN" b="1" dirty="0"/>
              <a:t>1</a:t>
            </a: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1095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B739-9571-BEE4-5482-D26A522F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FF1E43-2436-ABB4-18AF-FF2C71209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761254"/>
              </p:ext>
            </p:extLst>
          </p:nvPr>
        </p:nvGraphicFramePr>
        <p:xfrm>
          <a:off x="467544" y="2636912"/>
          <a:ext cx="8047806" cy="1810152"/>
        </p:xfrm>
        <a:graphic>
          <a:graphicData uri="http://schemas.openxmlformats.org/drawingml/2006/table">
            <a:tbl>
              <a:tblPr/>
              <a:tblGrid>
                <a:gridCol w="2682602">
                  <a:extLst>
                    <a:ext uri="{9D8B030D-6E8A-4147-A177-3AD203B41FA5}">
                      <a16:colId xmlns:a16="http://schemas.microsoft.com/office/drawing/2014/main" val="1180683101"/>
                    </a:ext>
                  </a:extLst>
                </a:gridCol>
                <a:gridCol w="2682602">
                  <a:extLst>
                    <a:ext uri="{9D8B030D-6E8A-4147-A177-3AD203B41FA5}">
                      <a16:colId xmlns:a16="http://schemas.microsoft.com/office/drawing/2014/main" val="2094407641"/>
                    </a:ext>
                  </a:extLst>
                </a:gridCol>
                <a:gridCol w="2682602">
                  <a:extLst>
                    <a:ext uri="{9D8B030D-6E8A-4147-A177-3AD203B41FA5}">
                      <a16:colId xmlns:a16="http://schemas.microsoft.com/office/drawing/2014/main" val="488302053"/>
                    </a:ext>
                  </a:extLst>
                </a:gridCol>
              </a:tblGrid>
              <a:tr h="6033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Infected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Not Infected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442249"/>
                  </a:ext>
                </a:extLst>
              </a:tr>
              <a:tr h="603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 Infected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TP = 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FN = 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61111"/>
                  </a:ext>
                </a:extLst>
              </a:tr>
              <a:tr h="603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 Healthy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FP = 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TN = 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4198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DC4C7B-4C99-02CC-6B2B-2895B2A0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6790" y="-245469"/>
            <a:ext cx="933079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408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859B-C195-21D5-09E9-9ADCEC1F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Evaluation Metrics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94FFB-6BCD-9216-868B-9B594C549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Accuracy, Precision, Recall, Specificity</a:t>
            </a:r>
          </a:p>
          <a:p>
            <a:r>
              <a:rPr lang="en-US" dirty="0"/>
              <a:t>Before starting the metrics, remind students that </a:t>
            </a:r>
            <a:r>
              <a:rPr lang="en-US" b="1" dirty="0"/>
              <a:t>all these metrics are derived from the confusion matrix</a:t>
            </a:r>
            <a:r>
              <a:rPr lang="en-US" dirty="0"/>
              <a:t>.</a:t>
            </a:r>
          </a:p>
          <a:p>
            <a:r>
              <a:rPr lang="en-US" dirty="0"/>
              <a:t>The confusion matrix gives us four numbers:</a:t>
            </a:r>
          </a:p>
          <a:p>
            <a:r>
              <a:rPr lang="en-US" dirty="0"/>
              <a:t>True Positive (TP)</a:t>
            </a:r>
            <a:br>
              <a:rPr lang="en-US" dirty="0"/>
            </a:br>
            <a:r>
              <a:rPr lang="en-US" dirty="0"/>
              <a:t>True Negative (TN)</a:t>
            </a:r>
            <a:br>
              <a:rPr lang="en-US" dirty="0"/>
            </a:br>
            <a:r>
              <a:rPr lang="en-US" dirty="0"/>
              <a:t>False Positive (FP)</a:t>
            </a:r>
            <a:br>
              <a:rPr lang="en-US" dirty="0"/>
            </a:br>
            <a:r>
              <a:rPr lang="en-US" dirty="0"/>
              <a:t>False Negative (FN)</a:t>
            </a:r>
          </a:p>
          <a:p>
            <a:r>
              <a:rPr lang="en-US" dirty="0"/>
              <a:t>Using these four numbers we calculate different evaluation metrics.</a:t>
            </a:r>
          </a:p>
          <a:p>
            <a:r>
              <a:rPr lang="en-US" dirty="0"/>
              <a:t>Each metric answers </a:t>
            </a:r>
            <a:r>
              <a:rPr lang="en-US" b="1" dirty="0"/>
              <a:t>a different question about the model's behavior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4477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A64D-16B8-56EE-480A-A4C6B286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7BD25-C8B9-E70C-EFB2-51A4F075F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3728" y="1649762"/>
            <a:ext cx="4015353" cy="385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42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= TP / (TP + FP)</a:t>
            </a:r>
          </a:p>
          <a:p>
            <a:pPr lvl="1"/>
            <a:r>
              <a:t>Measures reliability of positive predictions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= TP / (TP + FN)</a:t>
            </a:r>
          </a:p>
          <a:p>
            <a:pPr lvl="1"/>
            <a:r>
              <a:t>Measures ability to detect actual positives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1502-535F-6866-4496-1FB64778F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68760"/>
            <a:ext cx="7975798" cy="49082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hospital is testing an AI model that predicts whether a patient has a certain infection.</a:t>
            </a:r>
          </a:p>
          <a:p>
            <a:r>
              <a:rPr lang="en-US" dirty="0"/>
              <a:t>The AI gives only two </a:t>
            </a:r>
            <a:r>
              <a:rPr lang="en-US" dirty="0" err="1"/>
              <a:t>outputs:</a:t>
            </a:r>
            <a:r>
              <a:rPr lang="en-US" b="1" dirty="0" err="1"/>
              <a:t>Disease</a:t>
            </a:r>
            <a:r>
              <a:rPr lang="en-US" b="1" dirty="0"/>
              <a:t> Present </a:t>
            </a:r>
            <a:r>
              <a:rPr lang="en-US" dirty="0" err="1"/>
              <a:t>or</a:t>
            </a:r>
            <a:r>
              <a:rPr lang="en-US" b="1" dirty="0" err="1"/>
              <a:t>Disease</a:t>
            </a:r>
            <a:r>
              <a:rPr lang="en-US" b="1" dirty="0"/>
              <a:t> Not Present</a:t>
            </a:r>
            <a:endParaRPr lang="en-US" dirty="0"/>
          </a:p>
          <a:p>
            <a:r>
              <a:rPr lang="en-US" dirty="0"/>
              <a:t>The hospital tested this AI on </a:t>
            </a:r>
            <a:r>
              <a:rPr lang="en-US" b="1" dirty="0"/>
              <a:t>200 patients</a:t>
            </a:r>
            <a:r>
              <a:rPr lang="en-US" dirty="0"/>
              <a:t>.</a:t>
            </a:r>
          </a:p>
          <a:p>
            <a:r>
              <a:rPr lang="en-US" dirty="0"/>
              <a:t>After laboratory confirmation, the following results were found:</a:t>
            </a:r>
          </a:p>
          <a:p>
            <a:r>
              <a:rPr lang="en-US" dirty="0"/>
              <a:t>Out of the 200 patients:</a:t>
            </a:r>
          </a:p>
          <a:p>
            <a:r>
              <a:rPr lang="en-US" dirty="0"/>
              <a:t>50 patients actually had the disease</a:t>
            </a:r>
          </a:p>
          <a:p>
            <a:r>
              <a:rPr lang="en-US" dirty="0"/>
              <a:t>150 patients were actually healthy</a:t>
            </a:r>
          </a:p>
          <a:p>
            <a:r>
              <a:rPr lang="en-US" dirty="0"/>
              <a:t>The AI made these predictions:</a:t>
            </a:r>
          </a:p>
          <a:p>
            <a:r>
              <a:rPr lang="en-US" dirty="0"/>
              <a:t>It correctly identified </a:t>
            </a:r>
            <a:r>
              <a:rPr lang="en-US" b="1" dirty="0"/>
              <a:t>40 diseased patients</a:t>
            </a:r>
            <a:endParaRPr lang="en-US" dirty="0"/>
          </a:p>
          <a:p>
            <a:r>
              <a:rPr lang="en-US" dirty="0"/>
              <a:t>It missed </a:t>
            </a:r>
            <a:r>
              <a:rPr lang="en-US" b="1" dirty="0"/>
              <a:t>10 diseased patients</a:t>
            </a:r>
            <a:endParaRPr lang="en-US" dirty="0"/>
          </a:p>
          <a:p>
            <a:r>
              <a:rPr lang="en-US" dirty="0"/>
              <a:t>It wrongly marked </a:t>
            </a:r>
            <a:r>
              <a:rPr lang="en-US" b="1" dirty="0"/>
              <a:t>30 healthy patients as diseased</a:t>
            </a:r>
            <a:endParaRPr lang="en-US" dirty="0"/>
          </a:p>
          <a:p>
            <a:r>
              <a:rPr lang="en-US" dirty="0"/>
              <a:t>It correctly identified </a:t>
            </a:r>
            <a:r>
              <a:rPr lang="en-US" b="1" dirty="0"/>
              <a:t>120 healthy patients as healthy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372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5ED1-7E34-E059-4430-EB495CB5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84784"/>
            <a:ext cx="8263830" cy="4692179"/>
          </a:xfrm>
        </p:spPr>
        <p:txBody>
          <a:bodyPr numCol="2">
            <a:normAutofit lnSpcReduction="10000"/>
          </a:bodyPr>
          <a:lstStyle/>
          <a:p>
            <a:r>
              <a:rPr lang="en-US" b="1" dirty="0"/>
              <a:t>Step 1: Identify TP, TN, FP, FN</a:t>
            </a:r>
          </a:p>
          <a:p>
            <a:r>
              <a:rPr lang="en-US" b="1" dirty="0"/>
              <a:t>True Positive (TP)</a:t>
            </a:r>
          </a:p>
          <a:p>
            <a:r>
              <a:rPr lang="en-US" dirty="0"/>
              <a:t>Patients actually had disease, and AI predicted disease.</a:t>
            </a:r>
          </a:p>
          <a:p>
            <a:r>
              <a:rPr lang="en-US" dirty="0" err="1"/>
              <a:t>So,</a:t>
            </a:r>
            <a:r>
              <a:rPr lang="en-US" b="1" dirty="0" err="1"/>
              <a:t>TP</a:t>
            </a:r>
            <a:r>
              <a:rPr lang="en-US" b="1" dirty="0"/>
              <a:t> = 40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False Negative (FN)</a:t>
            </a:r>
          </a:p>
          <a:p>
            <a:r>
              <a:rPr lang="en-US" dirty="0"/>
              <a:t>Patients actually had disease, but AI predicted healthy.</a:t>
            </a:r>
          </a:p>
          <a:p>
            <a:r>
              <a:rPr lang="en-US" dirty="0" err="1"/>
              <a:t>So,</a:t>
            </a:r>
            <a:r>
              <a:rPr lang="en-US" b="1" dirty="0" err="1"/>
              <a:t>FN</a:t>
            </a:r>
            <a:r>
              <a:rPr lang="en-US" b="1" dirty="0"/>
              <a:t> = 10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False Positive (FP)</a:t>
            </a:r>
          </a:p>
          <a:p>
            <a:r>
              <a:rPr lang="en-US" dirty="0"/>
              <a:t>Patients were actually healthy, but AI predicted disease.</a:t>
            </a:r>
          </a:p>
          <a:p>
            <a:r>
              <a:rPr lang="en-US" dirty="0" err="1"/>
              <a:t>So,</a:t>
            </a:r>
            <a:r>
              <a:rPr lang="en-US" b="1" dirty="0" err="1"/>
              <a:t>FP</a:t>
            </a:r>
            <a:r>
              <a:rPr lang="en-US" b="1" dirty="0"/>
              <a:t> = 30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True Negative (TN)</a:t>
            </a:r>
          </a:p>
          <a:p>
            <a:r>
              <a:rPr lang="en-US" dirty="0"/>
              <a:t>Patients were actually healthy, and AI predicted healthy.</a:t>
            </a:r>
          </a:p>
          <a:p>
            <a:r>
              <a:rPr lang="en-US" dirty="0" err="1"/>
              <a:t>So,</a:t>
            </a:r>
            <a:r>
              <a:rPr lang="en-US" b="1" dirty="0" err="1"/>
              <a:t>TN</a:t>
            </a:r>
            <a:r>
              <a:rPr lang="en-US" b="1" dirty="0"/>
              <a:t> = 120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4402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A286-F871-CC68-1A4A-D57E8F75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DCE3A-01E6-0729-E841-9A347B860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889" y="3167740"/>
            <a:ext cx="7678222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710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F7815-6B8C-07F7-2E82-887751B2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Accuracy</a:t>
            </a:r>
          </a:p>
          <a:p>
            <a:r>
              <a:rPr lang="en-IN" b="1" dirty="0"/>
              <a:t>Formula</a:t>
            </a:r>
          </a:p>
          <a:p>
            <a:r>
              <a:rPr lang="en-IN" dirty="0"/>
              <a:t>Accuracy = (TP + TN) / (TP + TN + FP + FN)</a:t>
            </a:r>
          </a:p>
          <a:p>
            <a:r>
              <a:rPr lang="en-IN" dirty="0"/>
              <a:t>Accuracy = (40 + 120) / (40 + 120 + 30 + 10)</a:t>
            </a:r>
          </a:p>
          <a:p>
            <a:r>
              <a:rPr lang="en-IN" dirty="0"/>
              <a:t>Accuracy = 160 / 200</a:t>
            </a:r>
          </a:p>
          <a:p>
            <a:r>
              <a:rPr lang="en-IN" dirty="0"/>
              <a:t>Accuracy = 0.80</a:t>
            </a:r>
          </a:p>
          <a:p>
            <a:r>
              <a:rPr lang="en-IN" b="1" dirty="0"/>
              <a:t>Final Answer</a:t>
            </a:r>
          </a:p>
          <a:p>
            <a:r>
              <a:rPr lang="en-IN" b="1" dirty="0"/>
              <a:t>Accuracy = 80%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2664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7283-B3A3-E9C2-FD25-49DFDA2C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F665-6275-1C69-8373-58DAE95C9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Calculate Precision</a:t>
            </a:r>
          </a:p>
          <a:p>
            <a:r>
              <a:rPr lang="en-US" b="1" dirty="0"/>
              <a:t>Formula</a:t>
            </a:r>
          </a:p>
          <a:p>
            <a:r>
              <a:rPr lang="en-US" dirty="0"/>
              <a:t>Precision = TP / (TP + FP)</a:t>
            </a:r>
          </a:p>
          <a:p>
            <a:r>
              <a:rPr lang="en-US" dirty="0"/>
              <a:t>Substitute values:</a:t>
            </a:r>
          </a:p>
          <a:p>
            <a:r>
              <a:rPr lang="en-US" dirty="0"/>
              <a:t>Precision = 40 / (40 + 30)</a:t>
            </a:r>
          </a:p>
          <a:p>
            <a:r>
              <a:rPr lang="en-US" dirty="0"/>
              <a:t>Precision = 40 / 70</a:t>
            </a:r>
          </a:p>
          <a:p>
            <a:r>
              <a:rPr lang="en-US" dirty="0"/>
              <a:t>Precision = 0.5714</a:t>
            </a:r>
          </a:p>
          <a:p>
            <a:r>
              <a:rPr lang="en-US" b="1" dirty="0"/>
              <a:t>Final Answer</a:t>
            </a:r>
          </a:p>
          <a:p>
            <a:r>
              <a:rPr lang="en-US" b="1" dirty="0"/>
              <a:t>Precision = 57.14%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4990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CBEB-BE4A-DA51-03FE-74458077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B765-C524-790B-2B04-F3D271AB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Calculate Recall</a:t>
            </a:r>
          </a:p>
          <a:p>
            <a:r>
              <a:rPr lang="en-US" b="1" dirty="0"/>
              <a:t>Formula</a:t>
            </a:r>
          </a:p>
          <a:p>
            <a:r>
              <a:rPr lang="en-US" dirty="0"/>
              <a:t>Recall = TP / (TP + FN)</a:t>
            </a:r>
          </a:p>
          <a:p>
            <a:r>
              <a:rPr lang="en-US" dirty="0"/>
              <a:t>Substitute values:</a:t>
            </a:r>
          </a:p>
          <a:p>
            <a:r>
              <a:rPr lang="en-US" dirty="0"/>
              <a:t>Recall = 40 / (40 + 10)</a:t>
            </a:r>
          </a:p>
          <a:p>
            <a:r>
              <a:rPr lang="en-US" dirty="0"/>
              <a:t>Recall = 40 / 50</a:t>
            </a:r>
          </a:p>
          <a:p>
            <a:r>
              <a:rPr lang="en-US" dirty="0"/>
              <a:t>Recall = 0.80</a:t>
            </a:r>
          </a:p>
          <a:p>
            <a:r>
              <a:rPr lang="en-US" b="1" dirty="0"/>
              <a:t>Final Answer</a:t>
            </a:r>
          </a:p>
          <a:p>
            <a:r>
              <a:rPr lang="en-US" b="1" dirty="0"/>
              <a:t>Recall = 80%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6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87D6-61AE-BC0C-58EC-91E09B17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619B2-5616-CC1E-EDA6-983B7DDCA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6: Calculate Specificity</a:t>
            </a:r>
          </a:p>
          <a:p>
            <a:r>
              <a:rPr lang="en-US" b="1" dirty="0"/>
              <a:t>Formula</a:t>
            </a:r>
          </a:p>
          <a:p>
            <a:r>
              <a:rPr lang="en-US" dirty="0"/>
              <a:t>Specificity = TN / (TN + FP)</a:t>
            </a:r>
          </a:p>
          <a:p>
            <a:r>
              <a:rPr lang="en-US" dirty="0"/>
              <a:t>Substitute values:</a:t>
            </a:r>
          </a:p>
          <a:p>
            <a:r>
              <a:rPr lang="en-US" dirty="0"/>
              <a:t>Specificity = 120 / (120 + 30)</a:t>
            </a:r>
          </a:p>
          <a:p>
            <a:r>
              <a:rPr lang="en-US" dirty="0"/>
              <a:t>Specificity = 120 / 150</a:t>
            </a:r>
          </a:p>
          <a:p>
            <a:r>
              <a:rPr lang="en-US" dirty="0"/>
              <a:t>Specificity = 0.80</a:t>
            </a:r>
          </a:p>
          <a:p>
            <a:r>
              <a:rPr lang="en-US" b="1" dirty="0"/>
              <a:t>Final Answer</a:t>
            </a:r>
          </a:p>
          <a:p>
            <a:r>
              <a:rPr lang="en-US" b="1" dirty="0"/>
              <a:t>Specificity = 80%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6431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C4D2-4CBD-D604-2EBE-3CD71169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8C5D-FE5C-8B40-1410-2345A3523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hospital is evaluating an </a:t>
            </a:r>
            <a:r>
              <a:rPr lang="en-US" b="1" dirty="0"/>
              <a:t>AI system that detects a rare infectious disease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AI predicts either </a:t>
            </a:r>
            <a:r>
              <a:rPr lang="en-US" b="1" dirty="0"/>
              <a:t>Disease Detected (Positive)</a:t>
            </a:r>
            <a:r>
              <a:rPr lang="en-US" dirty="0"/>
              <a:t> or </a:t>
            </a:r>
            <a:r>
              <a:rPr lang="en-US" b="1" dirty="0"/>
              <a:t>No Disease (Negative)</a:t>
            </a:r>
            <a:r>
              <a:rPr lang="en-US" dirty="0"/>
              <a:t>.</a:t>
            </a:r>
          </a:p>
          <a:p>
            <a:r>
              <a:rPr lang="en-US" dirty="0"/>
              <a:t>During evaluation on </a:t>
            </a:r>
            <a:r>
              <a:rPr lang="en-US" b="1" dirty="0"/>
              <a:t>500 patients</a:t>
            </a:r>
            <a:r>
              <a:rPr lang="en-US" dirty="0"/>
              <a:t>, doctors later confirmed the actual diagnoses.</a:t>
            </a:r>
          </a:p>
          <a:p>
            <a:r>
              <a:rPr lang="en-US" dirty="0"/>
              <a:t>The following observations were recorded:</a:t>
            </a:r>
          </a:p>
          <a:p>
            <a:r>
              <a:rPr lang="en-US" dirty="0"/>
              <a:t>Among </a:t>
            </a:r>
            <a:r>
              <a:rPr lang="en-US" b="1" dirty="0"/>
              <a:t>120 patients who actually had the disease</a:t>
            </a:r>
            <a:r>
              <a:rPr lang="en-US" dirty="0"/>
              <a:t>, the AI correctly identified </a:t>
            </a:r>
            <a:r>
              <a:rPr lang="en-US" b="1" dirty="0"/>
              <a:t>95 patients</a:t>
            </a:r>
            <a:r>
              <a:rPr lang="en-US" dirty="0"/>
              <a:t> as infected.</a:t>
            </a:r>
          </a:p>
          <a:p>
            <a:r>
              <a:rPr lang="en-US" dirty="0"/>
              <a:t>The AI mistakenly classified </a:t>
            </a:r>
            <a:r>
              <a:rPr lang="en-US" b="1" dirty="0"/>
              <a:t>25 diseased patients as healthy</a:t>
            </a:r>
            <a:r>
              <a:rPr lang="en-US" dirty="0"/>
              <a:t>.</a:t>
            </a:r>
          </a:p>
          <a:p>
            <a:r>
              <a:rPr lang="en-US" dirty="0"/>
              <a:t>Among </a:t>
            </a:r>
            <a:r>
              <a:rPr lang="en-US" b="1" dirty="0"/>
              <a:t>380 healthy patients</a:t>
            </a:r>
            <a:r>
              <a:rPr lang="en-US" dirty="0"/>
              <a:t>, the AI incorrectly predicted </a:t>
            </a:r>
            <a:r>
              <a:rPr lang="en-US" b="1" dirty="0"/>
              <a:t>60 patients as infected</a:t>
            </a:r>
            <a:r>
              <a:rPr lang="en-US" dirty="0"/>
              <a:t>.</a:t>
            </a:r>
          </a:p>
          <a:p>
            <a:r>
              <a:rPr lang="en-US" dirty="0"/>
              <a:t>The remaining healthy patients were correctly predicted as healthy.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602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8D25-1B10-28AC-A560-3BEF20E7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57A8-409C-B83B-8753-782887A0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Final Values</a:t>
            </a:r>
          </a:p>
          <a:p>
            <a:r>
              <a:rPr lang="en-IN" dirty="0"/>
              <a:t>TP = </a:t>
            </a:r>
            <a:r>
              <a:rPr lang="en-IN" b="1" dirty="0"/>
              <a:t>95</a:t>
            </a:r>
            <a:br>
              <a:rPr lang="en-IN" dirty="0"/>
            </a:br>
            <a:r>
              <a:rPr lang="en-IN" dirty="0"/>
              <a:t>FN = </a:t>
            </a:r>
            <a:r>
              <a:rPr lang="en-IN" b="1" dirty="0"/>
              <a:t>25</a:t>
            </a:r>
            <a:br>
              <a:rPr lang="en-IN" dirty="0"/>
            </a:br>
            <a:r>
              <a:rPr lang="en-IN" dirty="0"/>
              <a:t>FP = </a:t>
            </a:r>
            <a:r>
              <a:rPr lang="en-IN" b="1" dirty="0"/>
              <a:t>60</a:t>
            </a:r>
            <a:br>
              <a:rPr lang="en-IN" dirty="0"/>
            </a:br>
            <a:r>
              <a:rPr lang="en-IN" dirty="0"/>
              <a:t>TN = </a:t>
            </a:r>
            <a:r>
              <a:rPr lang="en-IN" b="1" dirty="0"/>
              <a:t>320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6AB73-A082-CA38-A7DA-38BAFCB69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65" y="3995294"/>
            <a:ext cx="8135485" cy="1409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BCDD16-09BE-5320-6E67-53254A46F808}"/>
              </a:ext>
            </a:extLst>
          </p:cNvPr>
          <p:cNvSpPr txBox="1"/>
          <p:nvPr/>
        </p:nvSpPr>
        <p:spPr>
          <a:xfrm>
            <a:off x="3952540" y="1951672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Final Answers Together</a:t>
            </a:r>
          </a:p>
          <a:p>
            <a:pPr>
              <a:buNone/>
            </a:pPr>
            <a:r>
              <a:rPr lang="en-US" dirty="0"/>
              <a:t>Accuracy = </a:t>
            </a:r>
            <a:r>
              <a:rPr lang="en-US" b="1" dirty="0"/>
              <a:t>83%</a:t>
            </a:r>
            <a:br>
              <a:rPr lang="en-US" dirty="0"/>
            </a:br>
            <a:r>
              <a:rPr lang="en-US" dirty="0"/>
              <a:t>Precision = </a:t>
            </a:r>
            <a:r>
              <a:rPr lang="en-US" b="1" dirty="0"/>
              <a:t>61.29%</a:t>
            </a:r>
            <a:br>
              <a:rPr lang="en-US" dirty="0"/>
            </a:br>
            <a:r>
              <a:rPr lang="en-US" dirty="0"/>
              <a:t>Recall = </a:t>
            </a:r>
            <a:r>
              <a:rPr lang="en-US" b="1" dirty="0"/>
              <a:t>79.17%</a:t>
            </a:r>
            <a:br>
              <a:rPr lang="en-US" dirty="0"/>
            </a:br>
            <a:r>
              <a:rPr lang="en-US" dirty="0"/>
              <a:t>Specificity = </a:t>
            </a:r>
            <a:r>
              <a:rPr lang="en-US" b="1" dirty="0"/>
              <a:t>84.21%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174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2432-59C3-73F6-DC16-C8C8C085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B6ADC-A88E-C81E-03E8-25782B90C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533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 = 40, FP = 10, FN = 20, TN = 30</a:t>
            </a:r>
          </a:p>
          <a:p>
            <a:pPr lvl="1"/>
            <a:r>
              <a:t>Precision = 80%</a:t>
            </a:r>
          </a:p>
          <a:p>
            <a:pPr lvl="1"/>
            <a:r>
              <a:t>Recall = 66%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 → Improve Input</a:t>
            </a:r>
          </a:p>
          <a:p>
            <a:pPr lvl="1"/>
            <a:r>
              <a:t>Cross-Validation → Reliable Evaluation</a:t>
            </a:r>
          </a:p>
          <a:p>
            <a:pPr lvl="1"/>
            <a:r>
              <a:t>Precision → Quality of positive predictions</a:t>
            </a:r>
          </a:p>
          <a:p>
            <a:pPr lvl="1"/>
            <a:r>
              <a:t>Recall → Coverage of actual positives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</Template>
  <TotalTime>941</TotalTime>
  <Words>2861</Words>
  <Application>Microsoft Office PowerPoint</Application>
  <PresentationFormat>On-screen Show (4:3)</PresentationFormat>
  <Paragraphs>378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Aptos</vt:lpstr>
      <vt:lpstr>Aptos Display</vt:lpstr>
      <vt:lpstr>Arial</vt:lpstr>
      <vt:lpstr>1_Office Theme</vt:lpstr>
      <vt:lpstr>Unit 3</vt:lpstr>
      <vt:lpstr> Machine Learning : Probability, Statistics, Linear algebra (applied focus)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 Theorem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Vs Clustering Vs Regresion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Engineering &amp; Model Evaluation</vt:lpstr>
      <vt:lpstr>Why Feature Engineering?</vt:lpstr>
      <vt:lpstr>What is a Feature?</vt:lpstr>
      <vt:lpstr>What is Feature Engineering?</vt:lpstr>
      <vt:lpstr>PowerPoint Presentation</vt:lpstr>
      <vt:lpstr>Feature Transformation Example</vt:lpstr>
      <vt:lpstr>Encoding Categorical Data</vt:lpstr>
      <vt:lpstr>Feature Scaling</vt:lpstr>
      <vt:lpstr>Creating New Features</vt:lpstr>
      <vt:lpstr>Why Feature Engineering Matters?</vt:lpstr>
      <vt:lpstr>Why Model Evaluation?</vt:lpstr>
      <vt:lpstr>Train-Test Split</vt:lpstr>
      <vt:lpstr>Overfitting vs Underfitting</vt:lpstr>
      <vt:lpstr>Problem with Single Train-Test Split</vt:lpstr>
      <vt:lpstr>What is Cross-Validation?</vt:lpstr>
      <vt:lpstr>5-Fold Cross-Validation Example</vt:lpstr>
      <vt:lpstr>Confusion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Evaluation Metrics </vt:lpstr>
      <vt:lpstr>PowerPoint Presentation</vt:lpstr>
      <vt:lpstr>Precision</vt:lpstr>
      <vt:lpstr>Recall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Example</vt:lpstr>
      <vt:lpstr>Summary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</dc:title>
  <dc:creator>LENOVO</dc:creator>
  <cp:lastModifiedBy>sheveta vashisht</cp:lastModifiedBy>
  <cp:revision>16</cp:revision>
  <dcterms:created xsi:type="dcterms:W3CDTF">2026-02-13T10:14:14Z</dcterms:created>
  <dcterms:modified xsi:type="dcterms:W3CDTF">2026-03-09T09:33:03Z</dcterms:modified>
</cp:coreProperties>
</file>