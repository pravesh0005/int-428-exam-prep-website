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7475200" cy="9753600"/>
  <p:notesSz cx="174752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640" y="3023616"/>
            <a:ext cx="1485392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1280" y="5462016"/>
            <a:ext cx="1223264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8342" y="168627"/>
            <a:ext cx="16301155" cy="1867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83733" y="1993900"/>
            <a:ext cx="15248890" cy="6107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41568" y="9070848"/>
            <a:ext cx="559206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jp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jpg"/><Relationship Id="rId5" Type="http://schemas.openxmlformats.org/officeDocument/2006/relationships/image" Target="../media/image16.jpg"/><Relationship Id="rId6" Type="http://schemas.openxmlformats.org/officeDocument/2006/relationships/image" Target="../media/image17.jpg"/><Relationship Id="rId7" Type="http://schemas.openxmlformats.org/officeDocument/2006/relationships/image" Target="../media/image18.jpg"/><Relationship Id="rId8" Type="http://schemas.openxmlformats.org/officeDocument/2006/relationships/image" Target="../media/image19.png"/><Relationship Id="rId9" Type="http://schemas.openxmlformats.org/officeDocument/2006/relationships/image" Target="../media/image20.png"/><Relationship Id="rId10" Type="http://schemas.openxmlformats.org/officeDocument/2006/relationships/image" Target="../media/image21.jpg"/><Relationship Id="rId11" Type="http://schemas.openxmlformats.org/officeDocument/2006/relationships/image" Target="../media/image22.png"/><Relationship Id="rId12" Type="http://schemas.openxmlformats.org/officeDocument/2006/relationships/image" Target="../media/image23.jpg"/><Relationship Id="rId13" Type="http://schemas.openxmlformats.org/officeDocument/2006/relationships/image" Target="../media/image24.jpg"/><Relationship Id="rId14" Type="http://schemas.openxmlformats.org/officeDocument/2006/relationships/image" Target="../media/image25.jp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jpg"/><Relationship Id="rId6" Type="http://schemas.openxmlformats.org/officeDocument/2006/relationships/image" Target="../media/image39.png"/><Relationship Id="rId7" Type="http://schemas.openxmlformats.org/officeDocument/2006/relationships/image" Target="../media/image40.jp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image" Target="../media/image43.png"/><Relationship Id="rId11" Type="http://schemas.openxmlformats.org/officeDocument/2006/relationships/image" Target="../media/image44.jpg"/><Relationship Id="rId12" Type="http://schemas.openxmlformats.org/officeDocument/2006/relationships/image" Target="../media/image45.jpg"/><Relationship Id="rId13" Type="http://schemas.openxmlformats.org/officeDocument/2006/relationships/image" Target="../media/image46.png"/><Relationship Id="rId14" Type="http://schemas.openxmlformats.org/officeDocument/2006/relationships/image" Target="../media/image47.jpg"/><Relationship Id="rId15" Type="http://schemas.openxmlformats.org/officeDocument/2006/relationships/image" Target="../media/image48.jpg"/><Relationship Id="rId16" Type="http://schemas.openxmlformats.org/officeDocument/2006/relationships/image" Target="../media/image49.jpg"/><Relationship Id="rId17" Type="http://schemas.openxmlformats.org/officeDocument/2006/relationships/image" Target="../media/image50.jpg"/><Relationship Id="rId18" Type="http://schemas.openxmlformats.org/officeDocument/2006/relationships/image" Target="../media/image51.png"/><Relationship Id="rId19" Type="http://schemas.openxmlformats.org/officeDocument/2006/relationships/image" Target="../media/image52.jpg"/><Relationship Id="rId20" Type="http://schemas.openxmlformats.org/officeDocument/2006/relationships/image" Target="../media/image53.png"/><Relationship Id="rId21" Type="http://schemas.openxmlformats.org/officeDocument/2006/relationships/image" Target="../media/image54.png"/><Relationship Id="rId22" Type="http://schemas.openxmlformats.org/officeDocument/2006/relationships/image" Target="../media/image55.jpg"/><Relationship Id="rId23" Type="http://schemas.openxmlformats.org/officeDocument/2006/relationships/image" Target="../media/image56.jpg"/><Relationship Id="rId24" Type="http://schemas.openxmlformats.org/officeDocument/2006/relationships/image" Target="../media/image57.jpg"/><Relationship Id="rId25" Type="http://schemas.openxmlformats.org/officeDocument/2006/relationships/image" Target="../media/image58.jpg"/><Relationship Id="rId26" Type="http://schemas.openxmlformats.org/officeDocument/2006/relationships/image" Target="../media/image59.png"/><Relationship Id="rId27" Type="http://schemas.openxmlformats.org/officeDocument/2006/relationships/image" Target="../media/image60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jpg"/><Relationship Id="rId3" Type="http://schemas.openxmlformats.org/officeDocument/2006/relationships/image" Target="../media/image66.jpg"/><Relationship Id="rId4" Type="http://schemas.openxmlformats.org/officeDocument/2006/relationships/image" Target="../media/image67.jpg"/><Relationship Id="rId5" Type="http://schemas.openxmlformats.org/officeDocument/2006/relationships/image" Target="../media/image68.jpg"/><Relationship Id="rId6" Type="http://schemas.openxmlformats.org/officeDocument/2006/relationships/image" Target="../media/image69.jpg"/><Relationship Id="rId7" Type="http://schemas.openxmlformats.org/officeDocument/2006/relationships/image" Target="../media/image70.jpg"/><Relationship Id="rId8" Type="http://schemas.openxmlformats.org/officeDocument/2006/relationships/image" Target="../media/image71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jpg"/><Relationship Id="rId4" Type="http://schemas.openxmlformats.org/officeDocument/2006/relationships/image" Target="../media/image74.jp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7.png"/><Relationship Id="rId8" Type="http://schemas.openxmlformats.org/officeDocument/2006/relationships/image" Target="../media/image78.jpg"/><Relationship Id="rId9" Type="http://schemas.openxmlformats.org/officeDocument/2006/relationships/image" Target="../media/image79.png"/><Relationship Id="rId10" Type="http://schemas.openxmlformats.org/officeDocument/2006/relationships/image" Target="../media/image80.png"/><Relationship Id="rId11" Type="http://schemas.openxmlformats.org/officeDocument/2006/relationships/image" Target="../media/image81.png"/><Relationship Id="rId12" Type="http://schemas.openxmlformats.org/officeDocument/2006/relationships/image" Target="../media/image82.png"/><Relationship Id="rId13" Type="http://schemas.openxmlformats.org/officeDocument/2006/relationships/image" Target="../media/image83.jpg"/><Relationship Id="rId14" Type="http://schemas.openxmlformats.org/officeDocument/2006/relationships/image" Target="../media/image84.jpg"/><Relationship Id="rId15" Type="http://schemas.openxmlformats.org/officeDocument/2006/relationships/image" Target="../media/image85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jpg"/><Relationship Id="rId3" Type="http://schemas.openxmlformats.org/officeDocument/2006/relationships/image" Target="../media/image87.jpg"/><Relationship Id="rId4" Type="http://schemas.openxmlformats.org/officeDocument/2006/relationships/image" Target="../media/image88.png"/><Relationship Id="rId5" Type="http://schemas.openxmlformats.org/officeDocument/2006/relationships/image" Target="../media/image8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0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jpg"/><Relationship Id="rId6" Type="http://schemas.openxmlformats.org/officeDocument/2006/relationships/image" Target="../media/image95.jpg"/><Relationship Id="rId7" Type="http://schemas.openxmlformats.org/officeDocument/2006/relationships/image" Target="../media/image96.png"/><Relationship Id="rId8" Type="http://schemas.openxmlformats.org/officeDocument/2006/relationships/image" Target="../media/image97.jpg"/><Relationship Id="rId9" Type="http://schemas.openxmlformats.org/officeDocument/2006/relationships/image" Target="../media/image98.jp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jpg"/><Relationship Id="rId13" Type="http://schemas.openxmlformats.org/officeDocument/2006/relationships/image" Target="../media/image102.png"/><Relationship Id="rId14" Type="http://schemas.openxmlformats.org/officeDocument/2006/relationships/image" Target="../media/image103.jpg"/><Relationship Id="rId15" Type="http://schemas.openxmlformats.org/officeDocument/2006/relationships/image" Target="../media/image104.jp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jpg"/><Relationship Id="rId19" Type="http://schemas.openxmlformats.org/officeDocument/2006/relationships/image" Target="../media/image108.png"/><Relationship Id="rId20" Type="http://schemas.openxmlformats.org/officeDocument/2006/relationships/image" Target="../media/image109.jpg"/><Relationship Id="rId21" Type="http://schemas.openxmlformats.org/officeDocument/2006/relationships/image" Target="../media/image110.jpg"/><Relationship Id="rId22" Type="http://schemas.openxmlformats.org/officeDocument/2006/relationships/image" Target="../media/image111.jpg"/><Relationship Id="rId23" Type="http://schemas.openxmlformats.org/officeDocument/2006/relationships/image" Target="../media/image112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3.jpg"/><Relationship Id="rId3" Type="http://schemas.openxmlformats.org/officeDocument/2006/relationships/image" Target="../media/image114.jpg"/><Relationship Id="rId4" Type="http://schemas.openxmlformats.org/officeDocument/2006/relationships/image" Target="../media/image115.jpg"/><Relationship Id="rId5" Type="http://schemas.openxmlformats.org/officeDocument/2006/relationships/image" Target="../media/image116.jpg"/><Relationship Id="rId6" Type="http://schemas.openxmlformats.org/officeDocument/2006/relationships/image" Target="../media/image117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8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jpg"/><Relationship Id="rId3" Type="http://schemas.openxmlformats.org/officeDocument/2006/relationships/image" Target="../media/image120.jpg"/><Relationship Id="rId4" Type="http://schemas.openxmlformats.org/officeDocument/2006/relationships/image" Target="../media/image12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0700" y="3479800"/>
            <a:ext cx="4851400" cy="2667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48300" y="4826000"/>
            <a:ext cx="1282700" cy="1320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5300" y="2032000"/>
            <a:ext cx="3949700" cy="1333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11700" y="2032000"/>
            <a:ext cx="1155700" cy="13335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2600" y="584200"/>
            <a:ext cx="1219200" cy="13081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78000" y="584200"/>
            <a:ext cx="495300" cy="13081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501900" y="584200"/>
            <a:ext cx="1854200" cy="13081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10100" y="558800"/>
            <a:ext cx="825500" cy="13589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594600" y="381000"/>
            <a:ext cx="9436100" cy="895350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33400" y="8849783"/>
            <a:ext cx="6722745" cy="0"/>
          </a:xfrm>
          <a:custGeom>
            <a:avLst/>
            <a:gdLst/>
            <a:ahLst/>
            <a:cxnLst/>
            <a:rect l="l" t="t" r="r" b="b"/>
            <a:pathLst>
              <a:path w="6722745" h="0">
                <a:moveTo>
                  <a:pt x="0" y="0"/>
                </a:moveTo>
                <a:lnTo>
                  <a:pt x="6722533" y="0"/>
                </a:lnTo>
              </a:path>
            </a:pathLst>
          </a:custGeom>
          <a:ln w="29633">
            <a:solidFill>
              <a:srgbClr val="4B4B4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2" name="object 12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077200" y="4432300"/>
            <a:ext cx="889000" cy="1270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147300" y="8890000"/>
            <a:ext cx="228600" cy="114300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6129000" y="9499600"/>
            <a:ext cx="1206500" cy="127000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472087" y="6266038"/>
            <a:ext cx="6343650" cy="1490345"/>
          </a:xfrm>
          <a:prstGeom prst="rect">
            <a:avLst/>
          </a:prstGeom>
        </p:spPr>
        <p:txBody>
          <a:bodyPr wrap="square" lIns="0" tIns="105410" rIns="0" bIns="0" rtlCol="0" vert="horz">
            <a:spAutoFit/>
          </a:bodyPr>
          <a:lstStyle/>
          <a:p>
            <a:pPr algn="just" marL="12700" marR="5080" indent="19685">
              <a:lnSpc>
                <a:spcPts val="3600"/>
              </a:lnSpc>
              <a:spcBef>
                <a:spcPts val="830"/>
              </a:spcBef>
            </a:pPr>
            <a:r>
              <a:rPr dirty="0" sz="3600" spc="-490">
                <a:latin typeface="Courier New"/>
                <a:cs typeface="Courier New"/>
              </a:rPr>
              <a:t>Guiding</a:t>
            </a:r>
            <a:r>
              <a:rPr dirty="0" sz="3600" spc="-10">
                <a:latin typeface="Courier New"/>
                <a:cs typeface="Courier New"/>
              </a:rPr>
              <a:t> </a:t>
            </a:r>
            <a:r>
              <a:rPr dirty="0" sz="3600" spc="-575">
                <a:latin typeface="Courier New"/>
                <a:cs typeface="Courier New"/>
              </a:rPr>
              <a:t>Large</a:t>
            </a:r>
            <a:r>
              <a:rPr dirty="0" sz="3600" spc="30">
                <a:latin typeface="Courier New"/>
                <a:cs typeface="Courier New"/>
              </a:rPr>
              <a:t> </a:t>
            </a:r>
            <a:r>
              <a:rPr dirty="0" sz="3600" spc="-505">
                <a:latin typeface="Courier New"/>
                <a:cs typeface="Courier New"/>
              </a:rPr>
              <a:t>Language</a:t>
            </a:r>
            <a:r>
              <a:rPr dirty="0" sz="3600" spc="15">
                <a:latin typeface="Courier New"/>
                <a:cs typeface="Courier New"/>
              </a:rPr>
              <a:t> </a:t>
            </a:r>
            <a:r>
              <a:rPr dirty="0" sz="3600" spc="-515">
                <a:latin typeface="Courier New"/>
                <a:cs typeface="Courier New"/>
              </a:rPr>
              <a:t>Models </a:t>
            </a:r>
            <a:r>
              <a:rPr dirty="0" sz="3600" spc="-580">
                <a:latin typeface="Courier New"/>
                <a:cs typeface="Courier New"/>
              </a:rPr>
              <a:t>from</a:t>
            </a:r>
            <a:r>
              <a:rPr dirty="0" sz="3600" spc="35">
                <a:latin typeface="Courier New"/>
                <a:cs typeface="Courier New"/>
              </a:rPr>
              <a:t> </a:t>
            </a:r>
            <a:r>
              <a:rPr dirty="0" sz="3600" spc="-525">
                <a:latin typeface="Courier New"/>
                <a:cs typeface="Courier New"/>
              </a:rPr>
              <a:t>Probabilistic</a:t>
            </a:r>
            <a:r>
              <a:rPr dirty="0" sz="3600" spc="95">
                <a:latin typeface="Courier New"/>
                <a:cs typeface="Courier New"/>
              </a:rPr>
              <a:t> </a:t>
            </a:r>
            <a:r>
              <a:rPr dirty="0" sz="3600" spc="-565">
                <a:latin typeface="Courier New"/>
                <a:cs typeface="Courier New"/>
              </a:rPr>
              <a:t>Guesses</a:t>
            </a:r>
            <a:r>
              <a:rPr dirty="0" sz="3600" spc="25">
                <a:latin typeface="Courier New"/>
                <a:cs typeface="Courier New"/>
              </a:rPr>
              <a:t> </a:t>
            </a:r>
            <a:r>
              <a:rPr dirty="0" sz="3600" spc="-420">
                <a:latin typeface="Courier New"/>
                <a:cs typeface="Courier New"/>
              </a:rPr>
              <a:t>to </a:t>
            </a:r>
            <a:r>
              <a:rPr dirty="0" sz="3600" spc="-484">
                <a:latin typeface="Courier New"/>
                <a:cs typeface="Courier New"/>
              </a:rPr>
              <a:t>Precision</a:t>
            </a:r>
            <a:r>
              <a:rPr dirty="0" sz="3600" spc="-204">
                <a:latin typeface="Courier New"/>
                <a:cs typeface="Courier New"/>
              </a:rPr>
              <a:t> </a:t>
            </a:r>
            <a:r>
              <a:rPr dirty="0" sz="3600" spc="-470">
                <a:latin typeface="Courier New"/>
                <a:cs typeface="Courier New"/>
              </a:rPr>
              <a:t>Outputs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4213" y="8999714"/>
            <a:ext cx="2418715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288415" algn="l"/>
              </a:tabLst>
            </a:pPr>
            <a:r>
              <a:rPr dirty="0" sz="1700">
                <a:latin typeface="Calibri"/>
                <a:cs typeface="Calibri"/>
              </a:rPr>
              <a:t>A</a:t>
            </a:r>
            <a:r>
              <a:rPr dirty="0" sz="1700" spc="130">
                <a:latin typeface="Calibri"/>
                <a:cs typeface="Calibri"/>
              </a:rPr>
              <a:t>  </a:t>
            </a:r>
            <a:r>
              <a:rPr dirty="0" sz="1700">
                <a:latin typeface="Calibri"/>
                <a:cs typeface="Calibri"/>
              </a:rPr>
              <a:t>gu*de</a:t>
            </a:r>
            <a:r>
              <a:rPr dirty="0" sz="1700" spc="150">
                <a:latin typeface="Calibri"/>
                <a:cs typeface="Calibri"/>
              </a:rPr>
              <a:t>  </a:t>
            </a:r>
            <a:r>
              <a:rPr dirty="0" sz="1700" spc="-25">
                <a:latin typeface="Calibri"/>
                <a:cs typeface="Calibri"/>
              </a:rPr>
              <a:t>to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85">
                <a:latin typeface="Calibri"/>
                <a:cs typeface="Calibri"/>
              </a:rPr>
              <a:t>des:tgning,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64680" y="8999714"/>
            <a:ext cx="4167504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510030" algn="l"/>
                <a:tab pos="3014345" algn="l"/>
                <a:tab pos="3372485" algn="l"/>
              </a:tabLst>
            </a:pPr>
            <a:r>
              <a:rPr dirty="0" sz="1700" spc="90">
                <a:latin typeface="Calibri"/>
                <a:cs typeface="Calibri"/>
              </a:rPr>
              <a:t>st</a:t>
            </a:r>
            <a:r>
              <a:rPr dirty="0" sz="1700" spc="45">
                <a:latin typeface="Calibri"/>
                <a:cs typeface="Calibri"/>
              </a:rPr>
              <a:t> </a:t>
            </a:r>
            <a:r>
              <a:rPr dirty="0" sz="1700" spc="90">
                <a:latin typeface="Calibri"/>
                <a:cs typeface="Calibri"/>
              </a:rPr>
              <a:t>ructur:tng</a:t>
            </a:r>
            <a:r>
              <a:rPr dirty="0" sz="1700" spc="55">
                <a:latin typeface="Calibri"/>
                <a:cs typeface="Calibri"/>
              </a:rPr>
              <a:t> </a:t>
            </a:r>
            <a:r>
              <a:rPr dirty="0" sz="1700" spc="-50">
                <a:solidFill>
                  <a:srgbClr val="2D2D2D"/>
                </a:solidFill>
                <a:latin typeface="Calibri"/>
                <a:cs typeface="Calibri"/>
              </a:rPr>
              <a:t>,</a:t>
            </a:r>
            <a:r>
              <a:rPr dirty="0" sz="1700">
                <a:solidFill>
                  <a:srgbClr val="2D2D2D"/>
                </a:solidFill>
                <a:latin typeface="Calibri"/>
                <a:cs typeface="Calibri"/>
              </a:rPr>
              <a:t>	</a:t>
            </a:r>
            <a:r>
              <a:rPr dirty="0" sz="1700">
                <a:latin typeface="Calibri"/>
                <a:cs typeface="Calibri"/>
              </a:rPr>
              <a:t>and</a:t>
            </a:r>
            <a:r>
              <a:rPr dirty="0" sz="1700" spc="180">
                <a:latin typeface="Calibri"/>
                <a:cs typeface="Calibri"/>
              </a:rPr>
              <a:t>  </a:t>
            </a:r>
            <a:r>
              <a:rPr dirty="0" sz="1700" spc="140">
                <a:latin typeface="Calibri"/>
                <a:cs typeface="Calibri"/>
              </a:rPr>
              <a:t>ref1ning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125">
                <a:latin typeface="Calibri"/>
                <a:cs typeface="Calibri"/>
              </a:rPr>
              <a:t>AI</a:t>
            </a:r>
            <a:r>
              <a:rPr dirty="0" sz="1700">
                <a:latin typeface="Calibri"/>
                <a:cs typeface="Calibri"/>
              </a:rPr>
              <a:t>	</a:t>
            </a:r>
            <a:r>
              <a:rPr dirty="0" sz="1700" spc="185">
                <a:latin typeface="Calibri"/>
                <a:cs typeface="Calibri"/>
              </a:rPr>
              <a:t>inputs</a:t>
            </a:r>
            <a:r>
              <a:rPr dirty="0" sz="1700" spc="-130">
                <a:latin typeface="Calibri"/>
                <a:cs typeface="Calibri"/>
              </a:rPr>
              <a:t> </a:t>
            </a:r>
            <a:r>
              <a:rPr dirty="0" sz="1700" spc="-50">
                <a:solidFill>
                  <a:srgbClr val="131313"/>
                </a:solidFill>
                <a:latin typeface="Calibri"/>
                <a:cs typeface="Calibri"/>
              </a:rPr>
              <a:t>.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51492" y="2512483"/>
            <a:ext cx="1713230" cy="47942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algn="r" marR="5080">
              <a:lnSpc>
                <a:spcPts val="1864"/>
              </a:lnSpc>
              <a:spcBef>
                <a:spcPts val="114"/>
              </a:spcBef>
            </a:pPr>
            <a:r>
              <a:rPr dirty="0" sz="1650" spc="-110">
                <a:solidFill>
                  <a:srgbClr val="CF6442"/>
                </a:solidFill>
                <a:latin typeface="Calibri"/>
                <a:cs typeface="Calibri"/>
              </a:rPr>
              <a:t>FIEURAL</a:t>
            </a:r>
            <a:r>
              <a:rPr dirty="0" sz="1650" spc="240">
                <a:solidFill>
                  <a:srgbClr val="CF6442"/>
                </a:solidFill>
                <a:latin typeface="Calibri"/>
                <a:cs typeface="Calibri"/>
              </a:rPr>
              <a:t> </a:t>
            </a:r>
            <a:r>
              <a:rPr dirty="0" sz="1650" spc="-10">
                <a:solidFill>
                  <a:srgbClr val="CA7759"/>
                </a:solidFill>
                <a:latin typeface="Calibri"/>
                <a:cs typeface="Calibri"/>
              </a:rPr>
              <a:t>IftTERFACE</a:t>
            </a:r>
            <a:endParaRPr sz="1650">
              <a:latin typeface="Calibri"/>
              <a:cs typeface="Calibri"/>
            </a:endParaRPr>
          </a:p>
          <a:p>
            <a:pPr algn="r" marR="37465">
              <a:lnSpc>
                <a:spcPts val="1685"/>
              </a:lnSpc>
              <a:tabLst>
                <a:tab pos="536575" algn="l"/>
              </a:tabLst>
            </a:pPr>
            <a:r>
              <a:rPr dirty="0" sz="1500" spc="-20">
                <a:solidFill>
                  <a:srgbClr val="B16748"/>
                </a:solidFill>
                <a:latin typeface="Calibri"/>
                <a:cs typeface="Calibri"/>
              </a:rPr>
              <a:t>UNIT</a:t>
            </a:r>
            <a:r>
              <a:rPr dirty="0" sz="1500">
                <a:solidFill>
                  <a:srgbClr val="B16748"/>
                </a:solidFill>
                <a:latin typeface="Calibri"/>
                <a:cs typeface="Calibri"/>
              </a:rPr>
              <a:t>	</a:t>
            </a:r>
            <a:r>
              <a:rPr dirty="0" sz="1500" spc="60">
                <a:solidFill>
                  <a:srgbClr val="9E6249"/>
                </a:solidFill>
                <a:latin typeface="Calibri"/>
                <a:cs typeface="Calibri"/>
              </a:rPr>
              <a:t>//</a:t>
            </a:r>
            <a:r>
              <a:rPr dirty="0" sz="1500" spc="490">
                <a:solidFill>
                  <a:srgbClr val="9E6249"/>
                </a:solidFill>
                <a:latin typeface="Calibri"/>
                <a:cs typeface="Calibri"/>
              </a:rPr>
              <a:t> </a:t>
            </a:r>
            <a:r>
              <a:rPr dirty="0" sz="1500" spc="-254">
                <a:solidFill>
                  <a:srgbClr val="B86E4B"/>
                </a:solidFill>
                <a:latin typeface="Calibri"/>
                <a:cs typeface="Calibri"/>
              </a:rPr>
              <a:t>P—</a:t>
            </a:r>
            <a:r>
              <a:rPr dirty="0" sz="1500" spc="-190">
                <a:solidFill>
                  <a:srgbClr val="B86E4B"/>
                </a:solidFill>
                <a:latin typeface="Calibri"/>
                <a:cs typeface="Calibri"/>
              </a:rPr>
              <a:t>EfJG—</a:t>
            </a:r>
            <a:r>
              <a:rPr dirty="0" sz="1500" spc="-165">
                <a:solidFill>
                  <a:srgbClr val="B86E4B"/>
                </a:solidFill>
                <a:latin typeface="Calibri"/>
                <a:cs typeface="Calibri"/>
              </a:rPr>
              <a:t>BOX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75415" y="4553302"/>
            <a:ext cx="99377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275">
                <a:solidFill>
                  <a:srgbClr val="B3674D"/>
                </a:solidFill>
                <a:latin typeface="Consolas"/>
                <a:cs typeface="Consolas"/>
              </a:rPr>
              <a:t>X</a:t>
            </a:r>
            <a:r>
              <a:rPr dirty="0" sz="1600" spc="35">
                <a:solidFill>
                  <a:srgbClr val="B3674D"/>
                </a:solidFill>
                <a:latin typeface="Consolas"/>
                <a:cs typeface="Consolas"/>
              </a:rPr>
              <a:t> </a:t>
            </a:r>
            <a:r>
              <a:rPr dirty="0" sz="1600" spc="-145">
                <a:solidFill>
                  <a:srgbClr val="A37764"/>
                </a:solidFill>
                <a:latin typeface="Consolas"/>
                <a:cs typeface="Consolas"/>
              </a:rPr>
              <a:t>//</a:t>
            </a:r>
            <a:r>
              <a:rPr dirty="0" sz="1600" spc="-65">
                <a:solidFill>
                  <a:srgbClr val="A37764"/>
                </a:solidFill>
                <a:latin typeface="Consolas"/>
                <a:cs typeface="Consolas"/>
              </a:rPr>
              <a:t> </a:t>
            </a:r>
            <a:r>
              <a:rPr dirty="0" sz="1600" spc="-105">
                <a:solidFill>
                  <a:srgbClr val="975641"/>
                </a:solidFill>
                <a:latin typeface="Consolas"/>
                <a:cs typeface="Consolas"/>
              </a:rPr>
              <a:t>18.23</a:t>
            </a:r>
            <a:endParaRPr sz="1600">
              <a:latin typeface="Consolas"/>
              <a:cs typeface="Consola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556945" y="7822141"/>
            <a:ext cx="1715135" cy="449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r" marR="24130">
              <a:lnSpc>
                <a:spcPts val="1720"/>
              </a:lnSpc>
              <a:spcBef>
                <a:spcPts val="105"/>
              </a:spcBef>
              <a:tabLst>
                <a:tab pos="1526540" algn="l"/>
              </a:tabLst>
            </a:pPr>
            <a:r>
              <a:rPr dirty="0" sz="1450">
                <a:solidFill>
                  <a:srgbClr val="DF8C69"/>
                </a:solidFill>
                <a:latin typeface="Calibri"/>
                <a:cs typeface="Calibri"/>
              </a:rPr>
              <a:t>DATA</a:t>
            </a:r>
            <a:r>
              <a:rPr dirty="0" sz="1450" spc="400">
                <a:solidFill>
                  <a:srgbClr val="DF8C69"/>
                </a:solidFill>
                <a:latin typeface="Calibri"/>
                <a:cs typeface="Calibri"/>
              </a:rPr>
              <a:t> </a:t>
            </a:r>
            <a:r>
              <a:rPr dirty="0" sz="1450">
                <a:solidFill>
                  <a:srgbClr val="AC5234"/>
                </a:solidFill>
                <a:latin typeface="Calibri"/>
                <a:cs typeface="Calibri"/>
              </a:rPr>
              <a:t>I</a:t>
            </a:r>
            <a:r>
              <a:rPr dirty="0" sz="1450" spc="270">
                <a:solidFill>
                  <a:srgbClr val="AC5234"/>
                </a:solidFill>
                <a:latin typeface="Calibri"/>
                <a:cs typeface="Calibri"/>
              </a:rPr>
              <a:t> </a:t>
            </a:r>
            <a:r>
              <a:rPr dirty="0" sz="1450" spc="60">
                <a:solidFill>
                  <a:srgbClr val="A37C70"/>
                </a:solidFill>
                <a:latin typeface="Calibri"/>
                <a:cs typeface="Calibri"/>
              </a:rPr>
              <a:t>/0</a:t>
            </a:r>
            <a:r>
              <a:rPr dirty="0" sz="1450" spc="325">
                <a:solidFill>
                  <a:srgbClr val="A37C70"/>
                </a:solidFill>
                <a:latin typeface="Calibri"/>
                <a:cs typeface="Calibri"/>
              </a:rPr>
              <a:t> </a:t>
            </a:r>
            <a:r>
              <a:rPr dirty="0" sz="1450" spc="-20">
                <a:solidFill>
                  <a:srgbClr val="BA7056"/>
                </a:solidFill>
                <a:latin typeface="Calibri"/>
                <a:cs typeface="Calibri"/>
              </a:rPr>
              <a:t>PORTS</a:t>
            </a:r>
            <a:r>
              <a:rPr dirty="0" sz="1450">
                <a:solidFill>
                  <a:srgbClr val="BA7056"/>
                </a:solidFill>
                <a:latin typeface="Calibri"/>
                <a:cs typeface="Calibri"/>
              </a:rPr>
              <a:t>	</a:t>
            </a:r>
            <a:r>
              <a:rPr dirty="0" sz="1450" spc="-25">
                <a:solidFill>
                  <a:srgbClr val="A07567"/>
                </a:solidFill>
                <a:latin typeface="Calibri"/>
                <a:cs typeface="Calibri"/>
              </a:rPr>
              <a:t>//</a:t>
            </a:r>
            <a:endParaRPr sz="1450">
              <a:latin typeface="Calibri"/>
              <a:cs typeface="Calibri"/>
            </a:endParaRPr>
          </a:p>
          <a:p>
            <a:pPr algn="r" marR="5080">
              <a:lnSpc>
                <a:spcPts val="1600"/>
              </a:lnSpc>
            </a:pPr>
            <a:r>
              <a:rPr dirty="0" sz="1350" spc="85">
                <a:solidFill>
                  <a:srgbClr val="C1907E"/>
                </a:solidFill>
                <a:latin typeface="Calibri"/>
                <a:cs typeface="Calibri"/>
              </a:rPr>
              <a:t>ANALOG/DI6ITAL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1612515" y="8826500"/>
            <a:ext cx="350520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20">
                <a:solidFill>
                  <a:srgbClr val="C19E90"/>
                </a:solidFill>
                <a:latin typeface="Calibri"/>
                <a:cs typeface="Calibri"/>
              </a:rPr>
              <a:t>3258</a:t>
            </a:r>
            <a:endParaRPr sz="12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299906" y="6517922"/>
            <a:ext cx="1716405" cy="461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1700"/>
              </a:lnSpc>
              <a:spcBef>
                <a:spcPts val="125"/>
              </a:spcBef>
              <a:tabLst>
                <a:tab pos="913765" algn="l"/>
                <a:tab pos="1539875" algn="l"/>
              </a:tabLst>
            </a:pPr>
            <a:r>
              <a:rPr dirty="0" sz="1500">
                <a:solidFill>
                  <a:srgbClr val="AE7762"/>
                </a:solidFill>
                <a:latin typeface="Calibri"/>
                <a:cs typeface="Calibri"/>
              </a:rPr>
              <a:t>DATA</a:t>
            </a:r>
            <a:r>
              <a:rPr dirty="0" sz="1500" spc="245">
                <a:solidFill>
                  <a:srgbClr val="AE7762"/>
                </a:solidFill>
                <a:latin typeface="Calibri"/>
                <a:cs typeface="Calibri"/>
              </a:rPr>
              <a:t> </a:t>
            </a:r>
            <a:r>
              <a:rPr dirty="0" sz="1500" spc="-25">
                <a:solidFill>
                  <a:srgbClr val="C68267"/>
                </a:solidFill>
                <a:latin typeface="Calibri"/>
                <a:cs typeface="Calibri"/>
              </a:rPr>
              <a:t>Z/0</a:t>
            </a:r>
            <a:r>
              <a:rPr dirty="0" sz="1500">
                <a:solidFill>
                  <a:srgbClr val="C68267"/>
                </a:solidFill>
                <a:latin typeface="Calibri"/>
                <a:cs typeface="Calibri"/>
              </a:rPr>
              <a:t>	</a:t>
            </a:r>
            <a:r>
              <a:rPr dirty="0" sz="1500" spc="-20">
                <a:solidFill>
                  <a:srgbClr val="DDA393"/>
                </a:solidFill>
                <a:latin typeface="Calibri"/>
                <a:cs typeface="Calibri"/>
              </a:rPr>
              <a:t>PORTS</a:t>
            </a:r>
            <a:r>
              <a:rPr dirty="0" sz="1500">
                <a:solidFill>
                  <a:srgbClr val="DDA393"/>
                </a:solidFill>
                <a:latin typeface="Calibri"/>
                <a:cs typeface="Calibri"/>
              </a:rPr>
              <a:t>	</a:t>
            </a:r>
            <a:r>
              <a:rPr dirty="0" sz="1500" spc="30">
                <a:solidFill>
                  <a:srgbClr val="9C7560"/>
                </a:solidFill>
                <a:latin typeface="Calibri"/>
                <a:cs typeface="Calibri"/>
              </a:rPr>
              <a:t>//</a:t>
            </a:r>
            <a:endParaRPr sz="1500">
              <a:latin typeface="Calibri"/>
              <a:cs typeface="Calibri"/>
            </a:endParaRPr>
          </a:p>
          <a:p>
            <a:pPr marL="15240">
              <a:lnSpc>
                <a:spcPts val="1700"/>
              </a:lnSpc>
            </a:pPr>
            <a:r>
              <a:rPr dirty="0" sz="1500" spc="-10">
                <a:solidFill>
                  <a:srgbClr val="A85938"/>
                </a:solidFill>
                <a:latin typeface="Consolas"/>
                <a:cs typeface="Consolas"/>
              </a:rPr>
              <a:t>AMALOGfDIGITAL</a:t>
            </a:r>
            <a:endParaRPr sz="1500">
              <a:latin typeface="Consolas"/>
              <a:cs typeface="Consola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314663" y="8817680"/>
            <a:ext cx="690880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14350" algn="l"/>
              </a:tabLst>
            </a:pPr>
            <a:r>
              <a:rPr dirty="0" sz="1300" spc="-25">
                <a:solidFill>
                  <a:srgbClr val="A17762"/>
                </a:solidFill>
                <a:latin typeface="Calibri"/>
                <a:cs typeface="Calibri"/>
              </a:rPr>
              <a:t>185</a:t>
            </a:r>
            <a:r>
              <a:rPr dirty="0" sz="1300">
                <a:solidFill>
                  <a:srgbClr val="A17762"/>
                </a:solidFill>
                <a:latin typeface="Calibri"/>
                <a:cs typeface="Calibri"/>
              </a:rPr>
              <a:t>	</a:t>
            </a:r>
            <a:r>
              <a:rPr dirty="0" sz="1300" spc="-25">
                <a:solidFill>
                  <a:srgbClr val="BF7556"/>
                </a:solidFill>
                <a:latin typeface="Calibri"/>
                <a:cs typeface="Calibri"/>
              </a:rPr>
              <a:t>aS</a:t>
            </a:r>
            <a:endParaRPr sz="1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0700" y="7416800"/>
            <a:ext cx="2578100" cy="1422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039600" y="7467600"/>
            <a:ext cx="1231900" cy="10922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151100" y="7251700"/>
            <a:ext cx="457200" cy="431800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148417" y="1998132"/>
            <a:ext cx="0" cy="2540000"/>
          </a:xfrm>
          <a:custGeom>
            <a:avLst/>
            <a:gdLst/>
            <a:ahLst/>
            <a:cxnLst/>
            <a:rect l="l" t="t" r="r" b="b"/>
            <a:pathLst>
              <a:path w="0" h="2540000">
                <a:moveTo>
                  <a:pt x="0" y="2540000"/>
                </a:moveTo>
                <a:lnTo>
                  <a:pt x="0" y="0"/>
                </a:lnTo>
              </a:path>
            </a:pathLst>
          </a:custGeom>
          <a:ln w="12700">
            <a:solidFill>
              <a:srgbClr val="606060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/>
          <p:cNvGrpSpPr/>
          <p:nvPr/>
        </p:nvGrpSpPr>
        <p:grpSpPr>
          <a:xfrm>
            <a:off x="2142067" y="1998132"/>
            <a:ext cx="13131800" cy="2540000"/>
            <a:chOff x="2142067" y="1998132"/>
            <a:chExt cx="13131800" cy="2540000"/>
          </a:xfrm>
        </p:grpSpPr>
        <p:sp>
          <p:nvSpPr>
            <p:cNvPr id="7" name="object 7"/>
            <p:cNvSpPr/>
            <p:nvPr/>
          </p:nvSpPr>
          <p:spPr>
            <a:xfrm>
              <a:off x="15267520" y="1998132"/>
              <a:ext cx="0" cy="2540000"/>
            </a:xfrm>
            <a:custGeom>
              <a:avLst/>
              <a:gdLst/>
              <a:ahLst/>
              <a:cxnLst/>
              <a:rect l="l" t="t" r="r" b="b"/>
              <a:pathLst>
                <a:path w="0" h="2540000">
                  <a:moveTo>
                    <a:pt x="0" y="2540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142067" y="2004482"/>
              <a:ext cx="13131800" cy="0"/>
            </a:xfrm>
            <a:custGeom>
              <a:avLst/>
              <a:gdLst/>
              <a:ahLst/>
              <a:cxnLst/>
              <a:rect l="l" t="t" r="r" b="b"/>
              <a:pathLst>
                <a:path w="13131800" h="0">
                  <a:moveTo>
                    <a:pt x="0" y="0"/>
                  </a:moveTo>
                  <a:lnTo>
                    <a:pt x="13131800" y="0"/>
                  </a:lnTo>
                </a:path>
              </a:pathLst>
            </a:custGeom>
            <a:ln w="127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142067" y="4531782"/>
              <a:ext cx="13131800" cy="0"/>
            </a:xfrm>
            <a:custGeom>
              <a:avLst/>
              <a:gdLst/>
              <a:ahLst/>
              <a:cxnLst/>
              <a:rect l="l" t="t" r="r" b="b"/>
              <a:pathLst>
                <a:path w="13131800" h="0">
                  <a:moveTo>
                    <a:pt x="0" y="0"/>
                  </a:moveTo>
                  <a:lnTo>
                    <a:pt x="13131800" y="0"/>
                  </a:lnTo>
                </a:path>
              </a:pathLst>
            </a:custGeom>
            <a:ln w="12700">
              <a:solidFill>
                <a:srgbClr val="60606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300817" y="2087032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w="0" h="2362200">
                  <a:moveTo>
                    <a:pt x="0" y="2362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2F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115120" y="2087032"/>
              <a:ext cx="0" cy="2362200"/>
            </a:xfrm>
            <a:custGeom>
              <a:avLst/>
              <a:gdLst/>
              <a:ahLst/>
              <a:cxnLst/>
              <a:rect l="l" t="t" r="r" b="b"/>
              <a:pathLst>
                <a:path w="0" h="2362200">
                  <a:moveTo>
                    <a:pt x="0" y="2362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2F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94467" y="2093382"/>
              <a:ext cx="12827000" cy="0"/>
            </a:xfrm>
            <a:custGeom>
              <a:avLst/>
              <a:gdLst/>
              <a:ahLst/>
              <a:cxnLst/>
              <a:rect l="l" t="t" r="r" b="b"/>
              <a:pathLst>
                <a:path w="12827000" h="0">
                  <a:moveTo>
                    <a:pt x="0" y="0"/>
                  </a:moveTo>
                  <a:lnTo>
                    <a:pt x="12827000" y="0"/>
                  </a:lnTo>
                </a:path>
              </a:pathLst>
            </a:custGeom>
            <a:ln w="12700">
              <a:solidFill>
                <a:srgbClr val="2F2F2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294467" y="4442882"/>
              <a:ext cx="12827000" cy="0"/>
            </a:xfrm>
            <a:custGeom>
              <a:avLst/>
              <a:gdLst/>
              <a:ahLst/>
              <a:cxnLst/>
              <a:rect l="l" t="t" r="r" b="b"/>
              <a:pathLst>
                <a:path w="12827000" h="0">
                  <a:moveTo>
                    <a:pt x="0" y="0"/>
                  </a:moveTo>
                  <a:lnTo>
                    <a:pt x="12827000" y="0"/>
                  </a:lnTo>
                </a:path>
              </a:pathLst>
            </a:custGeom>
            <a:ln w="12700">
              <a:solidFill>
                <a:srgbClr val="2F2F2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921500" y="7429500"/>
            <a:ext cx="419100" cy="1409700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9613900" y="7416800"/>
            <a:ext cx="1257300" cy="1257300"/>
            <a:chOff x="9613900" y="7416800"/>
            <a:chExt cx="1257300" cy="12573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13900" y="7416800"/>
              <a:ext cx="1257300" cy="125730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880600" y="8255000"/>
              <a:ext cx="723900" cy="203200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4820900" y="8267700"/>
            <a:ext cx="25400" cy="1270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3373100" y="8255000"/>
            <a:ext cx="673100" cy="15875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100300" y="8064500"/>
            <a:ext cx="508000" cy="3556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893300" y="7620000"/>
            <a:ext cx="317500" cy="1905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274300" y="7620000"/>
            <a:ext cx="381000" cy="368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020300" y="8077200"/>
            <a:ext cx="635000" cy="1778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3385800" y="8153400"/>
            <a:ext cx="1612900" cy="469900"/>
          </a:xfrm>
          <a:prstGeom prst="rect">
            <a:avLst/>
          </a:prstGeom>
        </p:spPr>
      </p:pic>
      <p:sp>
        <p:nvSpPr>
          <p:cNvPr id="25" name="object 2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13972" rIns="0" bIns="0" rtlCol="0" vert="horz">
            <a:spAutoFit/>
          </a:bodyPr>
          <a:lstStyle/>
          <a:p>
            <a:pPr marL="234950">
              <a:lnSpc>
                <a:spcPct val="100000"/>
              </a:lnSpc>
              <a:spcBef>
                <a:spcPts val="125"/>
              </a:spcBef>
            </a:pPr>
            <a:r>
              <a:rPr dirty="0" sz="5600" spc="185">
                <a:latin typeface="Calibri"/>
                <a:cs typeface="Calibri"/>
              </a:rPr>
              <a:t>PRECISION</a:t>
            </a:r>
            <a:r>
              <a:rPr dirty="0" sz="5600" spc="-130">
                <a:latin typeface="Calibri"/>
                <a:cs typeface="Calibri"/>
              </a:rPr>
              <a:t> </a:t>
            </a:r>
            <a:r>
              <a:rPr dirty="0" sz="5600" spc="135">
                <a:latin typeface="Calibri"/>
                <a:cs typeface="Calibri"/>
              </a:rPr>
              <a:t>INPUTS</a:t>
            </a:r>
            <a:r>
              <a:rPr dirty="0" sz="5600" spc="-70">
                <a:latin typeface="Calibri"/>
                <a:cs typeface="Calibri"/>
              </a:rPr>
              <a:t> </a:t>
            </a:r>
            <a:r>
              <a:rPr dirty="0" sz="5600" spc="210">
                <a:latin typeface="Calibri"/>
                <a:cs typeface="Calibri"/>
              </a:rPr>
              <a:t>FOR</a:t>
            </a:r>
            <a:r>
              <a:rPr dirty="0" sz="5600" spc="-245">
                <a:latin typeface="Calibri"/>
                <a:cs typeface="Calibri"/>
              </a:rPr>
              <a:t> </a:t>
            </a:r>
            <a:r>
              <a:rPr dirty="0" sz="5600" spc="220">
                <a:latin typeface="Calibri"/>
                <a:cs typeface="Calibri"/>
              </a:rPr>
              <a:t>GENERAL-</a:t>
            </a:r>
            <a:r>
              <a:rPr dirty="0" sz="5600" spc="240">
                <a:latin typeface="Calibri"/>
                <a:cs typeface="Calibri"/>
              </a:rPr>
              <a:t>PURPOSE</a:t>
            </a:r>
            <a:r>
              <a:rPr dirty="0" sz="5600" spc="-725">
                <a:latin typeface="Calibri"/>
                <a:cs typeface="Calibri"/>
              </a:rPr>
              <a:t> </a:t>
            </a:r>
            <a:r>
              <a:rPr dirty="0" sz="5600" spc="114">
                <a:latin typeface="Calibri"/>
                <a:cs typeface="Calibri"/>
              </a:rPr>
              <a:t>MODELS</a:t>
            </a:r>
            <a:endParaRPr sz="5600">
              <a:latin typeface="Calibri"/>
              <a:cs typeface="Calibri"/>
            </a:endParaRPr>
          </a:p>
        </p:txBody>
      </p:sp>
      <p:graphicFrame>
        <p:nvGraphicFramePr>
          <p:cNvPr id="26" name="object 26"/>
          <p:cNvGraphicFramePr>
            <a:graphicFrameLocks noGrp="1"/>
          </p:cNvGraphicFramePr>
          <p:nvPr/>
        </p:nvGraphicFramePr>
        <p:xfrm>
          <a:off x="2461553" y="2277400"/>
          <a:ext cx="11980545" cy="7740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2759"/>
                <a:gridCol w="5153660"/>
                <a:gridCol w="2477135"/>
                <a:gridCol w="793115"/>
                <a:gridCol w="1710054"/>
                <a:gridCol w="1278254"/>
              </a:tblGrid>
              <a:tr h="395605">
                <a:tc>
                  <a:txBody>
                    <a:bodyPr/>
                    <a:lstStyle/>
                    <a:p>
                      <a:pPr algn="ctr" marR="55244">
                        <a:lnSpc>
                          <a:spcPts val="2810"/>
                        </a:lnSpc>
                      </a:pPr>
                      <a:r>
                        <a:rPr dirty="0" sz="2950" spc="-25">
                          <a:latin typeface="Consolas"/>
                          <a:cs typeface="Consolas"/>
                        </a:rPr>
                        <a:t>//</a:t>
                      </a:r>
                      <a:endParaRPr sz="29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810"/>
                        </a:lnSpc>
                      </a:pPr>
                      <a:r>
                        <a:rPr dirty="0" sz="2950" spc="-130">
                          <a:latin typeface="Consolas"/>
                          <a:cs typeface="Consolas"/>
                        </a:rPr>
                        <a:t>PROMPT</a:t>
                      </a:r>
                      <a:r>
                        <a:rPr dirty="0" sz="2950" spc="-26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950" spc="-55">
                          <a:latin typeface="Consolas"/>
                          <a:cs typeface="Consolas"/>
                        </a:rPr>
                        <a:t>ENGINEERING:</a:t>
                      </a:r>
                      <a:endParaRPr sz="29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378460">
                <a:tc>
                  <a:txBody>
                    <a:bodyPr/>
                    <a:lstStyle/>
                    <a:p>
                      <a:pPr algn="ctr" marR="50165">
                        <a:lnSpc>
                          <a:spcPts val="2820"/>
                        </a:lnSpc>
                      </a:pPr>
                      <a:r>
                        <a:rPr dirty="0" sz="2850" spc="-25">
                          <a:latin typeface="Consolas"/>
                          <a:cs typeface="Consolas"/>
                        </a:rPr>
                        <a:t>//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0805">
                        <a:lnSpc>
                          <a:spcPts val="2820"/>
                        </a:lnSpc>
                      </a:pPr>
                      <a:r>
                        <a:rPr dirty="0" sz="2850"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2850" spc="-30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850" spc="-25">
                          <a:latin typeface="Consolas"/>
                          <a:cs typeface="Consolas"/>
                        </a:rPr>
                        <a:t>practice</a:t>
                      </a:r>
                      <a:r>
                        <a:rPr dirty="0" sz="2850" spc="-11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850">
                          <a:latin typeface="Consolas"/>
                          <a:cs typeface="Consolas"/>
                        </a:rPr>
                        <a:t>of</a:t>
                      </a:r>
                      <a:r>
                        <a:rPr dirty="0" sz="2850" spc="-204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850" spc="-10">
                          <a:latin typeface="Consolas"/>
                          <a:cs typeface="Consolas"/>
                        </a:rPr>
                        <a:t>DESIGNING,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2820"/>
                        </a:lnSpc>
                      </a:pPr>
                      <a:r>
                        <a:rPr dirty="0" sz="2850" spc="-25">
                          <a:latin typeface="Consolas"/>
                          <a:cs typeface="Consolas"/>
                        </a:rPr>
                        <a:t>STRUCTURING,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2820"/>
                        </a:lnSpc>
                      </a:pPr>
                      <a:r>
                        <a:rPr dirty="0" sz="2850" spc="-25">
                          <a:latin typeface="Consolas"/>
                          <a:cs typeface="Consolas"/>
                        </a:rPr>
                        <a:t>and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790">
                        <a:lnSpc>
                          <a:spcPts val="2820"/>
                        </a:lnSpc>
                      </a:pPr>
                      <a:r>
                        <a:rPr dirty="0" sz="2850" spc="-10">
                          <a:solidFill>
                            <a:srgbClr val="CF4B1A"/>
                          </a:solidFill>
                          <a:latin typeface="Consolas"/>
                          <a:cs typeface="Consolas"/>
                        </a:rPr>
                        <a:t>REFINING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2820"/>
                        </a:lnSpc>
                      </a:pPr>
                      <a:r>
                        <a:rPr dirty="0" sz="2850" spc="-35">
                          <a:latin typeface="Consolas"/>
                          <a:cs typeface="Consolas"/>
                        </a:rPr>
                        <a:t>inputs</a:t>
                      </a:r>
                      <a:endParaRPr sz="285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27" name="object 27"/>
          <p:cNvSpPr txBox="1"/>
          <p:nvPr/>
        </p:nvSpPr>
        <p:spPr>
          <a:xfrm>
            <a:off x="2876506" y="2962275"/>
            <a:ext cx="580199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650740" algn="l"/>
              </a:tabLst>
            </a:pPr>
            <a:r>
              <a:rPr dirty="0" sz="3100" spc="130">
                <a:latin typeface="Calibri"/>
                <a:cs typeface="Calibri"/>
              </a:rPr>
              <a:t>to</a:t>
            </a:r>
            <a:r>
              <a:rPr dirty="0" sz="3100" spc="765">
                <a:latin typeface="Calibri"/>
                <a:cs typeface="Calibri"/>
              </a:rPr>
              <a:t> </a:t>
            </a:r>
            <a:r>
              <a:rPr dirty="0" sz="3100">
                <a:latin typeface="Calibri"/>
                <a:cs typeface="Calibri"/>
              </a:rPr>
              <a:t>gu1de</a:t>
            </a:r>
            <a:r>
              <a:rPr dirty="0" sz="3100" spc="45">
                <a:latin typeface="Calibri"/>
                <a:cs typeface="Calibri"/>
              </a:rPr>
              <a:t>  </a:t>
            </a:r>
            <a:r>
              <a:rPr dirty="0" sz="3100" spc="130">
                <a:latin typeface="Calibri"/>
                <a:cs typeface="Calibri"/>
              </a:rPr>
              <a:t>Large</a:t>
            </a:r>
            <a:r>
              <a:rPr dirty="0" sz="3100" spc="725">
                <a:latin typeface="Calibri"/>
                <a:cs typeface="Calibri"/>
              </a:rPr>
              <a:t> </a:t>
            </a:r>
            <a:r>
              <a:rPr dirty="0" sz="3100" spc="-10">
                <a:latin typeface="Calibri"/>
                <a:cs typeface="Calibri"/>
              </a:rPr>
              <a:t>Language</a:t>
            </a:r>
            <a:r>
              <a:rPr dirty="0" sz="3100">
                <a:latin typeface="Calibri"/>
                <a:cs typeface="Calibri"/>
              </a:rPr>
              <a:t>	</a:t>
            </a:r>
            <a:r>
              <a:rPr dirty="0" sz="3100" spc="-30">
                <a:latin typeface="Calibri"/>
                <a:cs typeface="Calibri"/>
              </a:rPr>
              <a:t>8ode1s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915027" y="2962275"/>
            <a:ext cx="1109980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 spc="125">
                <a:latin typeface="Calibri"/>
                <a:cs typeface="Calibri"/>
              </a:rPr>
              <a:t>(LLHs)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42506" y="2962275"/>
            <a:ext cx="3080385" cy="5016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100">
                <a:latin typeface="Calibri"/>
                <a:cs typeface="Calibri"/>
              </a:rPr>
              <a:t>toward</a:t>
            </a:r>
            <a:r>
              <a:rPr dirty="0" sz="3100" spc="60">
                <a:latin typeface="Calibri"/>
                <a:cs typeface="Calibri"/>
              </a:rPr>
              <a:t>  </a:t>
            </a:r>
            <a:r>
              <a:rPr dirty="0" sz="3100" spc="130">
                <a:latin typeface="Calibri"/>
                <a:cs typeface="Calibri"/>
              </a:rPr>
              <a:t>accurate</a:t>
            </a:r>
            <a:r>
              <a:rPr dirty="0" sz="3100" spc="-155">
                <a:latin typeface="Calibri"/>
                <a:cs typeface="Calibri"/>
              </a:rPr>
              <a:t> </a:t>
            </a:r>
            <a:r>
              <a:rPr dirty="0" sz="3100" spc="-50">
                <a:latin typeface="Calibri"/>
                <a:cs typeface="Calibri"/>
              </a:rPr>
              <a:t>,</a:t>
            </a:r>
            <a:endParaRPr sz="3100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1738" y="3371144"/>
            <a:ext cx="6133465" cy="889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454"/>
              </a:lnSpc>
              <a:spcBef>
                <a:spcPts val="105"/>
              </a:spcBef>
              <a:tabLst>
                <a:tab pos="1993264" algn="l"/>
                <a:tab pos="4596765" algn="l"/>
              </a:tabLst>
            </a:pPr>
            <a:r>
              <a:rPr dirty="0" sz="3050" spc="105">
                <a:latin typeface="Calibri"/>
                <a:cs typeface="Calibri"/>
              </a:rPr>
              <a:t>ze1evanf</a:t>
            </a:r>
            <a:r>
              <a:rPr dirty="0" sz="3050" spc="225">
                <a:latin typeface="Calibri"/>
                <a:cs typeface="Calibri"/>
              </a:rPr>
              <a:t> </a:t>
            </a:r>
            <a:r>
              <a:rPr dirty="0" sz="3050" spc="-50">
                <a:latin typeface="Calibri"/>
                <a:cs typeface="Calibri"/>
              </a:rPr>
              <a:t>,</a:t>
            </a:r>
            <a:r>
              <a:rPr dirty="0" sz="3050">
                <a:latin typeface="Calibri"/>
                <a:cs typeface="Calibri"/>
              </a:rPr>
              <a:t>	and</a:t>
            </a:r>
            <a:r>
              <a:rPr dirty="0" sz="3050" spc="110">
                <a:latin typeface="Calibri"/>
                <a:cs typeface="Calibri"/>
              </a:rPr>
              <a:t>  </a:t>
            </a:r>
            <a:r>
              <a:rPr dirty="0" sz="3050" spc="-10">
                <a:latin typeface="Calibri"/>
                <a:cs typeface="Calibri"/>
              </a:rPr>
              <a:t>ze11ab1e</a:t>
            </a:r>
            <a:r>
              <a:rPr dirty="0" sz="3050">
                <a:latin typeface="Calibri"/>
                <a:cs typeface="Calibri"/>
              </a:rPr>
              <a:t>	</a:t>
            </a:r>
            <a:r>
              <a:rPr dirty="0" sz="3050" spc="180">
                <a:latin typeface="Calibri"/>
                <a:cs typeface="Calibri"/>
              </a:rPr>
              <a:t>outputs.</a:t>
            </a:r>
            <a:endParaRPr sz="3050">
              <a:latin typeface="Calibri"/>
              <a:cs typeface="Calibri"/>
            </a:endParaRPr>
          </a:p>
          <a:p>
            <a:pPr marL="19050">
              <a:lnSpc>
                <a:spcPts val="3335"/>
              </a:lnSpc>
              <a:tabLst>
                <a:tab pos="1133475" algn="l"/>
              </a:tabLst>
            </a:pPr>
            <a:r>
              <a:rPr dirty="0" sz="2950" spc="155">
                <a:latin typeface="Calibri"/>
                <a:cs typeface="Calibri"/>
              </a:rPr>
              <a:t>[REF:</a:t>
            </a:r>
            <a:r>
              <a:rPr dirty="0" sz="2950">
                <a:latin typeface="Calibri"/>
                <a:cs typeface="Calibri"/>
              </a:rPr>
              <a:t>	</a:t>
            </a:r>
            <a:r>
              <a:rPr dirty="0" sz="2950" spc="145">
                <a:latin typeface="Calibri"/>
                <a:cs typeface="Calibri"/>
              </a:rPr>
              <a:t>SYS.INPUT.</a:t>
            </a:r>
            <a:r>
              <a:rPr dirty="0" sz="2950" spc="-254">
                <a:latin typeface="Calibri"/>
                <a:cs typeface="Calibri"/>
              </a:rPr>
              <a:t> </a:t>
            </a:r>
            <a:r>
              <a:rPr dirty="0" sz="2950">
                <a:latin typeface="Calibri"/>
                <a:cs typeface="Calibri"/>
              </a:rPr>
              <a:t>01</a:t>
            </a:r>
            <a:r>
              <a:rPr dirty="0" sz="2950" spc="150">
                <a:latin typeface="Calibri"/>
                <a:cs typeface="Calibri"/>
              </a:rPr>
              <a:t>  </a:t>
            </a:r>
            <a:r>
              <a:rPr dirty="0" sz="2950" spc="220">
                <a:latin typeface="Calibri"/>
                <a:cs typeface="Calibri"/>
              </a:rPr>
              <a:t>v1.2]</a:t>
            </a:r>
            <a:endParaRPr sz="2950">
              <a:latin typeface="Calibri"/>
              <a:cs typeface="Calibr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50545" y="4854339"/>
            <a:ext cx="4225925" cy="1471930"/>
          </a:xfrm>
          <a:prstGeom prst="rect">
            <a:avLst/>
          </a:prstGeom>
        </p:spPr>
        <p:txBody>
          <a:bodyPr wrap="square" lIns="0" tIns="1301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dirty="0" sz="3800" spc="75">
                <a:latin typeface="Calibri"/>
                <a:cs typeface="Calibri"/>
              </a:rPr>
              <a:t>THE</a:t>
            </a:r>
            <a:r>
              <a:rPr dirty="0" sz="3800" spc="-254">
                <a:latin typeface="Calibri"/>
                <a:cs typeface="Calibri"/>
              </a:rPr>
              <a:t> </a:t>
            </a:r>
            <a:r>
              <a:rPr dirty="0" sz="3800" spc="85">
                <a:latin typeface="Calibri"/>
                <a:cs typeface="Calibri"/>
              </a:rPr>
              <a:t>CONTEXT</a:t>
            </a:r>
            <a:endParaRPr sz="3800">
              <a:latin typeface="Calibri"/>
              <a:cs typeface="Calibri"/>
            </a:endParaRPr>
          </a:p>
          <a:p>
            <a:pPr marL="13970" marR="5080" indent="2540">
              <a:lnSpc>
                <a:spcPts val="2600"/>
              </a:lnSpc>
              <a:spcBef>
                <a:spcPts val="760"/>
              </a:spcBef>
              <a:tabLst>
                <a:tab pos="3338195" algn="l"/>
              </a:tabLst>
            </a:pPr>
            <a:r>
              <a:rPr dirty="0" sz="2300" spc="145">
                <a:latin typeface="Calibri"/>
                <a:cs typeface="Calibri"/>
              </a:rPr>
              <a:t>LLPs</a:t>
            </a:r>
            <a:r>
              <a:rPr dirty="0" sz="2300" spc="110">
                <a:latin typeface="Calibri"/>
                <a:cs typeface="Calibri"/>
              </a:rPr>
              <a:t>  </a:t>
            </a:r>
            <a:r>
              <a:rPr dirty="0" sz="2300" spc="150">
                <a:latin typeface="Calibri"/>
                <a:cs typeface="Calibri"/>
              </a:rPr>
              <a:t>aze</a:t>
            </a:r>
            <a:r>
              <a:rPr dirty="0" sz="2300" spc="40">
                <a:latin typeface="Calibri"/>
                <a:cs typeface="Calibri"/>
              </a:rPr>
              <a:t>  </a:t>
            </a:r>
            <a:r>
              <a:rPr dirty="0" sz="2300" spc="175">
                <a:latin typeface="Calibri"/>
                <a:cs typeface="Calibri"/>
              </a:rPr>
              <a:t>general-</a:t>
            </a:r>
            <a:r>
              <a:rPr dirty="0" sz="2300" spc="-245">
                <a:latin typeface="Calibri"/>
                <a:cs typeface="Calibri"/>
              </a:rPr>
              <a:t> </a:t>
            </a:r>
            <a:r>
              <a:rPr dirty="0" sz="2300" spc="85">
                <a:latin typeface="Calibri"/>
                <a:cs typeface="Calibri"/>
              </a:rPr>
              <a:t>purpose.</a:t>
            </a:r>
            <a:r>
              <a:rPr dirty="0" sz="2300" spc="575">
                <a:latin typeface="Calibri"/>
                <a:cs typeface="Calibri"/>
              </a:rPr>
              <a:t> </a:t>
            </a:r>
            <a:r>
              <a:rPr dirty="0" sz="2300">
                <a:latin typeface="Calibri"/>
                <a:cs typeface="Calibri"/>
              </a:rPr>
              <a:t>The</a:t>
            </a:r>
            <a:r>
              <a:rPr dirty="0" sz="2300" spc="55">
                <a:latin typeface="Calibri"/>
                <a:cs typeface="Calibri"/>
              </a:rPr>
              <a:t>  </a:t>
            </a:r>
            <a:r>
              <a:rPr dirty="0" sz="2300" spc="-20">
                <a:latin typeface="Calibri"/>
                <a:cs typeface="Calibri"/>
              </a:rPr>
              <a:t>same</a:t>
            </a:r>
            <a:r>
              <a:rPr dirty="0" sz="2300" spc="550">
                <a:latin typeface="Calibri"/>
                <a:cs typeface="Calibri"/>
              </a:rPr>
              <a:t> </a:t>
            </a:r>
            <a:r>
              <a:rPr dirty="0" sz="2300" spc="140">
                <a:latin typeface="Calibri"/>
                <a:cs typeface="Calibri"/>
              </a:rPr>
              <a:t>nodel</a:t>
            </a:r>
            <a:r>
              <a:rPr dirty="0" sz="2300" spc="55">
                <a:latin typeface="Calibri"/>
                <a:cs typeface="Calibri"/>
              </a:rPr>
              <a:t>  </a:t>
            </a:r>
            <a:r>
              <a:rPr dirty="0" sz="2300" spc="250">
                <a:latin typeface="Calibri"/>
                <a:cs typeface="Calibri"/>
              </a:rPr>
              <a:t>yields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125">
                <a:latin typeface="Calibri"/>
                <a:cs typeface="Calibri"/>
              </a:rPr>
              <a:t>vast1y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40457" y="6268508"/>
            <a:ext cx="4717415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423035" algn="l"/>
              </a:tabLst>
            </a:pPr>
            <a:r>
              <a:rPr dirty="0" sz="2300" spc="-10">
                <a:latin typeface="Calibri"/>
                <a:cs typeface="Calibri"/>
              </a:rPr>
              <a:t>d1@ezent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120">
                <a:latin typeface="Calibri"/>
                <a:cs typeface="Calibri"/>
              </a:rPr>
              <a:t>outputs</a:t>
            </a:r>
            <a:r>
              <a:rPr dirty="0" sz="2300" spc="100">
                <a:latin typeface="Calibri"/>
                <a:cs typeface="Calibri"/>
              </a:rPr>
              <a:t>  </a:t>
            </a:r>
            <a:r>
              <a:rPr dirty="0" sz="2300" spc="50">
                <a:latin typeface="Calibri"/>
                <a:cs typeface="Calibri"/>
              </a:rPr>
              <a:t>based</a:t>
            </a:r>
            <a:r>
              <a:rPr dirty="0" sz="2300" spc="80">
                <a:latin typeface="Calibri"/>
                <a:cs typeface="Calibri"/>
              </a:rPr>
              <a:t>  </a:t>
            </a:r>
            <a:r>
              <a:rPr dirty="0" sz="2300" spc="250">
                <a:latin typeface="Calibri"/>
                <a:cs typeface="Calibri"/>
              </a:rPr>
              <a:t>entirely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54007" y="6592358"/>
            <a:ext cx="3440429" cy="374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54735" algn="l"/>
                <a:tab pos="1981835" algn="l"/>
              </a:tabLst>
            </a:pPr>
            <a:r>
              <a:rPr dirty="0" sz="2300">
                <a:latin typeface="Calibri"/>
                <a:cs typeface="Calibri"/>
              </a:rPr>
              <a:t>on</a:t>
            </a:r>
            <a:r>
              <a:rPr dirty="0" sz="2300" spc="35">
                <a:latin typeface="Calibri"/>
                <a:cs typeface="Calibri"/>
              </a:rPr>
              <a:t>  </a:t>
            </a:r>
            <a:r>
              <a:rPr dirty="0" sz="2300" spc="-25">
                <a:latin typeface="Calibri"/>
                <a:cs typeface="Calibri"/>
              </a:rPr>
              <a:t>the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40">
                <a:latin typeface="Calibri"/>
                <a:cs typeface="Calibri"/>
              </a:rPr>
              <a:t>1nput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180">
                <a:latin typeface="Calibri"/>
                <a:cs typeface="Calibri"/>
              </a:rPr>
              <a:t>stzuctuze.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02904" y="7978422"/>
            <a:ext cx="51879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10">
                <a:latin typeface="Calibri"/>
                <a:cs typeface="Calibri"/>
              </a:rPr>
              <a:t>INPUT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17962" y="7775222"/>
            <a:ext cx="919480" cy="664845"/>
          </a:xfrm>
          <a:prstGeom prst="rect">
            <a:avLst/>
          </a:prstGeom>
        </p:spPr>
        <p:txBody>
          <a:bodyPr wrap="square" lIns="0" tIns="43815" rIns="0" bIns="0" rtlCol="0" vert="horz">
            <a:spAutoFit/>
          </a:bodyPr>
          <a:lstStyle/>
          <a:p>
            <a:pPr algn="ctr" marL="12700" marR="5080" indent="-110489">
              <a:lnSpc>
                <a:spcPts val="1600"/>
              </a:lnSpc>
              <a:spcBef>
                <a:spcPts val="345"/>
              </a:spcBef>
            </a:pPr>
            <a:r>
              <a:rPr dirty="0" sz="1500" spc="-10">
                <a:latin typeface="Calibri"/>
                <a:cs typeface="Calibri"/>
              </a:rPr>
              <a:t>OUTPUT VARIATION </a:t>
            </a:r>
            <a:r>
              <a:rPr dirty="0" sz="1500" spc="75">
                <a:latin typeface="Calibri"/>
                <a:cs typeface="Calibri"/>
              </a:rPr>
              <a:t>[A/B/CJ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61813" y="4928720"/>
            <a:ext cx="4291330" cy="204660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24765">
              <a:lnSpc>
                <a:spcPct val="100000"/>
              </a:lnSpc>
              <a:spcBef>
                <a:spcPts val="940"/>
              </a:spcBef>
            </a:pPr>
            <a:r>
              <a:rPr dirty="0" sz="3300" spc="225">
                <a:latin typeface="Calibri"/>
                <a:cs typeface="Calibri"/>
              </a:rPr>
              <a:t>THE</a:t>
            </a:r>
            <a:r>
              <a:rPr dirty="0" sz="3300" spc="229">
                <a:latin typeface="Calibri"/>
                <a:cs typeface="Calibri"/>
              </a:rPr>
              <a:t> </a:t>
            </a:r>
            <a:r>
              <a:rPr dirty="0" sz="3300" spc="380">
                <a:latin typeface="Calibri"/>
                <a:cs typeface="Calibri"/>
              </a:rPr>
              <a:t>REALITY</a:t>
            </a:r>
            <a:endParaRPr sz="3300">
              <a:latin typeface="Calibri"/>
              <a:cs typeface="Calibri"/>
            </a:endParaRPr>
          </a:p>
          <a:p>
            <a:pPr marL="12700" marR="5080" indent="11430">
              <a:lnSpc>
                <a:spcPct val="91000"/>
              </a:lnSpc>
              <a:spcBef>
                <a:spcPts val="845"/>
              </a:spcBef>
            </a:pPr>
            <a:r>
              <a:rPr dirty="0" sz="2350" spc="-240">
                <a:latin typeface="Courier New"/>
                <a:cs typeface="Courier New"/>
              </a:rPr>
              <a:t>Models</a:t>
            </a:r>
            <a:r>
              <a:rPr dirty="0" sz="2350" spc="-114">
                <a:latin typeface="Courier New"/>
                <a:cs typeface="Courier New"/>
              </a:rPr>
              <a:t> </a:t>
            </a:r>
            <a:r>
              <a:rPr dirty="0" sz="2350" spc="-180">
                <a:latin typeface="Courier New"/>
                <a:cs typeface="Courier New"/>
              </a:rPr>
              <a:t>do</a:t>
            </a:r>
            <a:r>
              <a:rPr dirty="0" sz="2350" spc="-155">
                <a:latin typeface="Courier New"/>
                <a:cs typeface="Courier New"/>
              </a:rPr>
              <a:t> </a:t>
            </a:r>
            <a:r>
              <a:rPr dirty="0" sz="2350" spc="-275">
                <a:latin typeface="Courier New"/>
                <a:cs typeface="Courier New"/>
              </a:rPr>
              <a:t>not</a:t>
            </a:r>
            <a:r>
              <a:rPr dirty="0" sz="2350" spc="-185">
                <a:latin typeface="Courier New"/>
                <a:cs typeface="Courier New"/>
              </a:rPr>
              <a:t> </a:t>
            </a:r>
            <a:r>
              <a:rPr dirty="0" sz="2350" spc="-110">
                <a:latin typeface="Courier New"/>
                <a:cs typeface="Courier New"/>
              </a:rPr>
              <a:t>”reason” </a:t>
            </a:r>
            <a:r>
              <a:rPr dirty="0" sz="2350" spc="-225">
                <a:latin typeface="Courier New"/>
                <a:cs typeface="Courier New"/>
              </a:rPr>
              <a:t>independently.</a:t>
            </a:r>
            <a:r>
              <a:rPr dirty="0" sz="2350" spc="-145">
                <a:latin typeface="Courier New"/>
                <a:cs typeface="Courier New"/>
              </a:rPr>
              <a:t> </a:t>
            </a:r>
            <a:r>
              <a:rPr dirty="0" sz="2350" spc="-250">
                <a:latin typeface="Courier New"/>
                <a:cs typeface="Courier New"/>
              </a:rPr>
              <a:t>They</a:t>
            </a:r>
            <a:r>
              <a:rPr dirty="0" sz="2350" spc="-45">
                <a:latin typeface="Courier New"/>
                <a:cs typeface="Courier New"/>
              </a:rPr>
              <a:t> </a:t>
            </a:r>
            <a:r>
              <a:rPr dirty="0" sz="2350" spc="-25">
                <a:latin typeface="Courier New"/>
                <a:cs typeface="Courier New"/>
              </a:rPr>
              <a:t>are </a:t>
            </a:r>
            <a:r>
              <a:rPr dirty="0" sz="2350" spc="-240">
                <a:latin typeface="Courier New"/>
                <a:cs typeface="Courier New"/>
              </a:rPr>
              <a:t>probabilistic</a:t>
            </a:r>
            <a:r>
              <a:rPr dirty="0" sz="2350" spc="-65">
                <a:latin typeface="Courier New"/>
                <a:cs typeface="Courier New"/>
              </a:rPr>
              <a:t> </a:t>
            </a:r>
            <a:r>
              <a:rPr dirty="0" sz="2350" spc="-90">
                <a:latin typeface="Courier New"/>
                <a:cs typeface="Courier New"/>
              </a:rPr>
              <a:t>engines </a:t>
            </a:r>
            <a:r>
              <a:rPr dirty="0" sz="2350" spc="-229">
                <a:latin typeface="Courier New"/>
                <a:cs typeface="Courier New"/>
              </a:rPr>
              <a:t>requiring</a:t>
            </a:r>
            <a:r>
              <a:rPr dirty="0" sz="2350" spc="-114">
                <a:latin typeface="Courier New"/>
                <a:cs typeface="Courier New"/>
              </a:rPr>
              <a:t> </a:t>
            </a:r>
            <a:r>
              <a:rPr dirty="0" sz="2350" spc="-235">
                <a:latin typeface="Courier New"/>
                <a:cs typeface="Courier New"/>
              </a:rPr>
              <a:t>explicit</a:t>
            </a:r>
            <a:r>
              <a:rPr dirty="0" sz="2350" spc="-55">
                <a:latin typeface="Courier New"/>
                <a:cs typeface="Courier New"/>
              </a:rPr>
              <a:t> </a:t>
            </a:r>
            <a:r>
              <a:rPr dirty="0" sz="2350" spc="-215">
                <a:latin typeface="Courier New"/>
                <a:cs typeface="Courier New"/>
              </a:rPr>
              <a:t>guidance.</a:t>
            </a:r>
            <a:endParaRPr sz="235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264252" y="7749822"/>
            <a:ext cx="2178050" cy="91694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86690">
              <a:lnSpc>
                <a:spcPts val="1725"/>
              </a:lnSpc>
              <a:spcBef>
                <a:spcPts val="125"/>
              </a:spcBef>
            </a:pPr>
            <a:r>
              <a:rPr dirty="0" sz="1500" spc="50">
                <a:latin typeface="Calibri"/>
                <a:cs typeface="Calibri"/>
              </a:rPr>
              <a:t>PROBABILIS</a:t>
            </a:r>
            <a:r>
              <a:rPr dirty="0" sz="1500" spc="-5">
                <a:latin typeface="Calibri"/>
                <a:cs typeface="Calibri"/>
              </a:rPr>
              <a:t> </a:t>
            </a:r>
            <a:r>
              <a:rPr dirty="0" sz="1500">
                <a:latin typeface="Calibri"/>
                <a:cs typeface="Calibri"/>
              </a:rPr>
              <a:t>TIC</a:t>
            </a:r>
            <a:r>
              <a:rPr dirty="0" sz="1500" spc="180">
                <a:latin typeface="Calibri"/>
                <a:cs typeface="Calibri"/>
              </a:rPr>
              <a:t>  </a:t>
            </a:r>
            <a:r>
              <a:rPr dirty="0" sz="1500" spc="-114">
                <a:latin typeface="Calibri"/>
                <a:cs typeface="Calibri"/>
              </a:rPr>
              <a:t>ENGSME</a:t>
            </a:r>
            <a:endParaRPr sz="1500">
              <a:latin typeface="Calibri"/>
              <a:cs typeface="Calibri"/>
            </a:endParaRPr>
          </a:p>
          <a:p>
            <a:pPr marL="12700">
              <a:lnSpc>
                <a:spcPts val="1570"/>
              </a:lnSpc>
              <a:tabLst>
                <a:tab pos="288925" algn="l"/>
              </a:tabLst>
            </a:pPr>
            <a:r>
              <a:rPr dirty="0" sz="1450" spc="-25">
                <a:latin typeface="Calibri"/>
                <a:cs typeface="Calibri"/>
              </a:rPr>
              <a:t>//</a:t>
            </a:r>
            <a:r>
              <a:rPr dirty="0" sz="1450">
                <a:latin typeface="Calibri"/>
                <a:cs typeface="Calibri"/>
              </a:rPr>
              <a:t>	REQUIRES</a:t>
            </a:r>
            <a:r>
              <a:rPr dirty="0" sz="1450" spc="220">
                <a:latin typeface="Calibri"/>
                <a:cs typeface="Calibri"/>
              </a:rPr>
              <a:t>  </a:t>
            </a:r>
            <a:r>
              <a:rPr dirty="0" sz="1450" spc="120">
                <a:latin typeface="Calibri"/>
                <a:cs typeface="Calibri"/>
              </a:rPr>
              <a:t>EXPLICIT</a:t>
            </a:r>
            <a:endParaRPr sz="1450">
              <a:latin typeface="Calibri"/>
              <a:cs typeface="Calibri"/>
            </a:endParaRPr>
          </a:p>
          <a:p>
            <a:pPr marL="219075">
              <a:lnSpc>
                <a:spcPts val="1590"/>
              </a:lnSpc>
            </a:pPr>
            <a:r>
              <a:rPr dirty="0" sz="1600" spc="-10">
                <a:latin typeface="Calibri"/>
                <a:cs typeface="Calibri"/>
              </a:rPr>
              <a:t>CUI9AkCE</a:t>
            </a:r>
            <a:endParaRPr sz="1600">
              <a:latin typeface="Calibri"/>
              <a:cs typeface="Calibri"/>
            </a:endParaRPr>
          </a:p>
          <a:p>
            <a:pPr marL="106045">
              <a:lnSpc>
                <a:spcPts val="2105"/>
              </a:lnSpc>
            </a:pPr>
            <a:r>
              <a:rPr dirty="0" sz="1950" spc="-120">
                <a:latin typeface="Calibri"/>
                <a:cs typeface="Calibri"/>
              </a:rPr>
              <a:t>FP(0utpvt</a:t>
            </a:r>
            <a:r>
              <a:rPr dirty="0" sz="1950" spc="-105">
                <a:latin typeface="Calibri"/>
                <a:cs typeface="Calibri"/>
              </a:rPr>
              <a:t> </a:t>
            </a:r>
            <a:r>
              <a:rPr dirty="0" sz="1950" spc="-65">
                <a:solidFill>
                  <a:srgbClr val="161616"/>
                </a:solidFill>
                <a:latin typeface="Calibri"/>
                <a:cs typeface="Calibri"/>
              </a:rPr>
              <a:t>I</a:t>
            </a:r>
            <a:r>
              <a:rPr dirty="0" sz="1950" spc="-195">
                <a:solidFill>
                  <a:srgbClr val="161616"/>
                </a:solidFill>
                <a:latin typeface="Calibri"/>
                <a:cs typeface="Calibri"/>
              </a:rPr>
              <a:t> </a:t>
            </a:r>
            <a:r>
              <a:rPr dirty="0" sz="1950" spc="-55">
                <a:latin typeface="Calibri"/>
                <a:cs typeface="Calibri"/>
              </a:rPr>
              <a:t>znPvt</a:t>
            </a:r>
            <a:r>
              <a:rPr dirty="0" sz="1950" spc="190">
                <a:latin typeface="Calibri"/>
                <a:cs typeface="Calibri"/>
              </a:rPr>
              <a:t> </a:t>
            </a:r>
            <a:r>
              <a:rPr dirty="0" sz="1950" spc="-50">
                <a:latin typeface="Calibri"/>
                <a:cs typeface="Calibri"/>
              </a:rPr>
              <a:t>]</a:t>
            </a:r>
            <a:endParaRPr sz="195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813104" y="7749822"/>
            <a:ext cx="9334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-90">
                <a:solidFill>
                  <a:srgbClr val="6E6E6E"/>
                </a:solidFill>
                <a:latin typeface="Calibri"/>
                <a:cs typeface="Calibri"/>
              </a:rPr>
              <a:t>,‘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870504" y="4862368"/>
            <a:ext cx="4580255" cy="211455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10"/>
              </a:spcBef>
            </a:pPr>
            <a:r>
              <a:rPr dirty="0" sz="3750" spc="95">
                <a:latin typeface="Calibri"/>
                <a:cs typeface="Calibri"/>
              </a:rPr>
              <a:t>THE</a:t>
            </a:r>
            <a:r>
              <a:rPr dirty="0" sz="3750" spc="-80">
                <a:latin typeface="Calibri"/>
                <a:cs typeface="Calibri"/>
              </a:rPr>
              <a:t> </a:t>
            </a:r>
            <a:r>
              <a:rPr dirty="0" sz="3750" spc="-10">
                <a:latin typeface="Calibri"/>
                <a:cs typeface="Calibri"/>
              </a:rPr>
              <a:t>VALUE</a:t>
            </a:r>
            <a:endParaRPr sz="3750">
              <a:latin typeface="Calibri"/>
              <a:cs typeface="Calibri"/>
            </a:endParaRPr>
          </a:p>
          <a:p>
            <a:pPr marL="12700" marR="5080" indent="6985">
              <a:lnSpc>
                <a:spcPct val="91200"/>
              </a:lnSpc>
              <a:spcBef>
                <a:spcPts val="795"/>
              </a:spcBef>
            </a:pPr>
            <a:r>
              <a:rPr dirty="0" sz="2300" spc="-220">
                <a:latin typeface="Courier New"/>
                <a:cs typeface="Courier New"/>
              </a:rPr>
              <a:t>Fine-</a:t>
            </a:r>
            <a:r>
              <a:rPr dirty="0" sz="2300" spc="-160">
                <a:latin typeface="Courier New"/>
                <a:cs typeface="Courier New"/>
              </a:rPr>
              <a:t>tuning</a:t>
            </a:r>
            <a:r>
              <a:rPr dirty="0" sz="2300" spc="-100">
                <a:latin typeface="Courier New"/>
                <a:cs typeface="Courier New"/>
              </a:rPr>
              <a:t> </a:t>
            </a:r>
            <a:r>
              <a:rPr dirty="0" sz="2300" spc="-125">
                <a:latin typeface="Courier New"/>
                <a:cs typeface="Courier New"/>
              </a:rPr>
              <a:t>is</a:t>
            </a:r>
            <a:r>
              <a:rPr dirty="0" sz="2300" spc="-220">
                <a:latin typeface="Courier New"/>
                <a:cs typeface="Courier New"/>
              </a:rPr>
              <a:t> </a:t>
            </a:r>
            <a:r>
              <a:rPr dirty="0" sz="2300" spc="-200">
                <a:latin typeface="Courier New"/>
                <a:cs typeface="Courier New"/>
              </a:rPr>
              <a:t>expensive</a:t>
            </a:r>
            <a:r>
              <a:rPr dirty="0" sz="2300" spc="-145">
                <a:latin typeface="Courier New"/>
                <a:cs typeface="Courier New"/>
              </a:rPr>
              <a:t> </a:t>
            </a:r>
            <a:r>
              <a:rPr dirty="0" sz="2300" spc="-25">
                <a:latin typeface="Courier New"/>
                <a:cs typeface="Courier New"/>
              </a:rPr>
              <a:t>and </a:t>
            </a:r>
            <a:r>
              <a:rPr dirty="0" sz="2300" spc="-175">
                <a:latin typeface="Courier New"/>
                <a:cs typeface="Courier New"/>
              </a:rPr>
              <a:t>slow.</a:t>
            </a:r>
            <a:r>
              <a:rPr dirty="0" sz="2300" spc="-195">
                <a:latin typeface="Courier New"/>
                <a:cs typeface="Courier New"/>
              </a:rPr>
              <a:t> </a:t>
            </a:r>
            <a:r>
              <a:rPr dirty="0" sz="2300" spc="-190">
                <a:latin typeface="Courier New"/>
                <a:cs typeface="Courier New"/>
              </a:rPr>
              <a:t>Prompts</a:t>
            </a:r>
            <a:r>
              <a:rPr dirty="0" sz="2300" spc="-210">
                <a:latin typeface="Courier New"/>
                <a:cs typeface="Courier New"/>
              </a:rPr>
              <a:t> </a:t>
            </a:r>
            <a:r>
              <a:rPr dirty="0" sz="2300" spc="-185">
                <a:latin typeface="Courier New"/>
                <a:cs typeface="Courier New"/>
              </a:rPr>
              <a:t>act</a:t>
            </a:r>
            <a:r>
              <a:rPr dirty="0" sz="2300" spc="-165">
                <a:latin typeface="Courier New"/>
                <a:cs typeface="Courier New"/>
              </a:rPr>
              <a:t> </a:t>
            </a:r>
            <a:r>
              <a:rPr dirty="0" sz="2300" spc="-95">
                <a:latin typeface="Courier New"/>
                <a:cs typeface="Courier New"/>
              </a:rPr>
              <a:t>as</a:t>
            </a:r>
            <a:r>
              <a:rPr dirty="0" sz="2300" spc="-175">
                <a:latin typeface="Courier New"/>
                <a:cs typeface="Courier New"/>
              </a:rPr>
              <a:t> </a:t>
            </a:r>
            <a:r>
              <a:rPr dirty="0" sz="2300" spc="-60">
                <a:latin typeface="Courier New"/>
                <a:cs typeface="Courier New"/>
              </a:rPr>
              <a:t>a </a:t>
            </a:r>
            <a:r>
              <a:rPr dirty="0" sz="2350" spc="-235">
                <a:latin typeface="Courier New"/>
                <a:cs typeface="Courier New"/>
              </a:rPr>
              <a:t>lightweight,</a:t>
            </a:r>
            <a:r>
              <a:rPr dirty="0" sz="2350" spc="-35">
                <a:latin typeface="Courier New"/>
                <a:cs typeface="Courier New"/>
              </a:rPr>
              <a:t> </a:t>
            </a:r>
            <a:r>
              <a:rPr dirty="0" sz="2350" spc="-229">
                <a:latin typeface="Courier New"/>
                <a:cs typeface="Courier New"/>
              </a:rPr>
              <a:t>immediate</a:t>
            </a:r>
            <a:r>
              <a:rPr dirty="0" sz="2350" spc="-125">
                <a:latin typeface="Courier New"/>
                <a:cs typeface="Courier New"/>
              </a:rPr>
              <a:t> </a:t>
            </a:r>
            <a:r>
              <a:rPr dirty="0" sz="2350" spc="-225">
                <a:latin typeface="Courier New"/>
                <a:cs typeface="Courier New"/>
              </a:rPr>
              <a:t>control </a:t>
            </a:r>
            <a:r>
              <a:rPr dirty="0" sz="2400" spc="-95">
                <a:latin typeface="Courier New"/>
                <a:cs typeface="Courier New"/>
              </a:rPr>
              <a:t>layer.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344842" y="7326841"/>
            <a:ext cx="1099820" cy="45085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23495" marR="5080" indent="-11430">
              <a:lnSpc>
                <a:spcPts val="1600"/>
              </a:lnSpc>
              <a:spcBef>
                <a:spcPts val="275"/>
              </a:spcBef>
            </a:pPr>
            <a:r>
              <a:rPr dirty="0" sz="1450" spc="-30">
                <a:latin typeface="Calibri"/>
                <a:cs typeface="Calibri"/>
              </a:rPr>
              <a:t>FINE—</a:t>
            </a:r>
            <a:r>
              <a:rPr dirty="0" sz="1450" spc="-10">
                <a:latin typeface="Calibri"/>
                <a:cs typeface="Calibri"/>
              </a:rPr>
              <a:t>TUNIKG </a:t>
            </a:r>
            <a:r>
              <a:rPr dirty="0" sz="1450" spc="55">
                <a:latin typeface="Calibri"/>
                <a:cs typeface="Calibri"/>
              </a:rPr>
              <a:t>[EXPE1SSVE</a:t>
            </a:r>
            <a:r>
              <a:rPr dirty="0" sz="1450" spc="-20">
                <a:latin typeface="Calibri"/>
                <a:cs typeface="Calibri"/>
              </a:rPr>
              <a:t> </a:t>
            </a:r>
            <a:r>
              <a:rPr dirty="0" sz="1450" spc="-50">
                <a:latin typeface="Calibri"/>
                <a:cs typeface="Calibri"/>
              </a:rPr>
              <a:t>,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535074" y="7530041"/>
            <a:ext cx="508634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10">
                <a:latin typeface="Calibri"/>
                <a:cs typeface="Calibri"/>
              </a:rPr>
              <a:t>SL0\¥]</a:t>
            </a:r>
            <a:endParaRPr sz="14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3344106" y="8588022"/>
            <a:ext cx="177863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Calibri"/>
                <a:cs typeface="Calibri"/>
              </a:rPr>
              <a:t>IFINEDIATE</a:t>
            </a:r>
            <a:r>
              <a:rPr dirty="0" sz="1500" spc="130">
                <a:latin typeface="Calibri"/>
                <a:cs typeface="Calibri"/>
              </a:rPr>
              <a:t>  </a:t>
            </a:r>
            <a:r>
              <a:rPr dirty="0" sz="1500" spc="-35">
                <a:latin typeface="Calibri"/>
                <a:cs typeface="Calibri"/>
              </a:rPr>
              <a:t>CONTROL]</a:t>
            </a:r>
            <a:endParaRPr sz="150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5694342" y="7911041"/>
            <a:ext cx="1004569" cy="4495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720"/>
              </a:lnSpc>
              <a:spcBef>
                <a:spcPts val="105"/>
              </a:spcBef>
            </a:pPr>
            <a:r>
              <a:rPr dirty="0" sz="1450" spc="85">
                <a:latin typeface="Calibri"/>
                <a:cs typeface="Calibri"/>
              </a:rPr>
              <a:t>EFFICIENCY</a:t>
            </a:r>
            <a:endParaRPr sz="1450">
              <a:latin typeface="Calibri"/>
              <a:cs typeface="Calibri"/>
            </a:endParaRPr>
          </a:p>
          <a:p>
            <a:pPr marL="20320">
              <a:lnSpc>
                <a:spcPts val="1600"/>
              </a:lnSpc>
            </a:pPr>
            <a:r>
              <a:rPr dirty="0" sz="1350" spc="45">
                <a:latin typeface="Calibri"/>
                <a:cs typeface="Calibri"/>
              </a:rPr>
              <a:t>GAIN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6107677" y="9413522"/>
            <a:ext cx="1237615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 spc="75">
                <a:latin typeface="Calibri"/>
                <a:cs typeface="Calibri"/>
              </a:rPr>
              <a:t>G</a:t>
            </a:r>
            <a:r>
              <a:rPr dirty="0" sz="1500" spc="465">
                <a:latin typeface="Calibri"/>
                <a:cs typeface="Calibri"/>
              </a:rPr>
              <a:t> </a:t>
            </a:r>
            <a:r>
              <a:rPr dirty="0" sz="1500" spc="-25">
                <a:latin typeface="Calibri"/>
                <a:cs typeface="Calibri"/>
              </a:rPr>
              <a:t>NotebookLM</a:t>
            </a:r>
            <a:endParaRPr sz="15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75200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/>
        </p:nvGraphicFramePr>
        <p:xfrm>
          <a:off x="1121833" y="1993900"/>
          <a:ext cx="15248890" cy="61074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48200"/>
                <a:gridCol w="5363845"/>
                <a:gridCol w="5139689"/>
              </a:tblGrid>
              <a:tr h="1261110">
                <a:tc>
                  <a:txBody>
                    <a:bodyPr/>
                    <a:lstStyle/>
                    <a:p>
                      <a:pPr algn="ctr" marL="47625">
                        <a:lnSpc>
                          <a:spcPct val="100000"/>
                        </a:lnSpc>
                        <a:spcBef>
                          <a:spcPts val="2565"/>
                        </a:spcBef>
                      </a:pPr>
                      <a:r>
                        <a:rPr dirty="0" sz="3200" spc="-285">
                          <a:latin typeface="Arial"/>
                          <a:cs typeface="Arial"/>
                        </a:rPr>
                        <a:t>CATEGORY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32575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88645">
                        <a:lnSpc>
                          <a:spcPct val="100000"/>
                        </a:lnSpc>
                        <a:spcBef>
                          <a:spcPts val="2565"/>
                        </a:spcBef>
                      </a:pPr>
                      <a:r>
                        <a:rPr dirty="0" sz="3200" spc="-215">
                          <a:latin typeface="Arial"/>
                          <a:cs typeface="Arial"/>
                        </a:rPr>
                        <a:t>PROMPT</a:t>
                      </a:r>
                      <a:r>
                        <a:rPr dirty="0" sz="32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spc="-145">
                          <a:latin typeface="Arial"/>
                          <a:cs typeface="Arial"/>
                        </a:rPr>
                        <a:t>ENGINEERING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32575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5095">
                        <a:lnSpc>
                          <a:spcPct val="100000"/>
                        </a:lnSpc>
                        <a:spcBef>
                          <a:spcPts val="2565"/>
                        </a:spcBef>
                      </a:pPr>
                      <a:r>
                        <a:rPr dirty="0" sz="3200" spc="-195">
                          <a:latin typeface="Arial"/>
                          <a:cs typeface="Arial"/>
                        </a:rPr>
                        <a:t>MODEL</a:t>
                      </a:r>
                      <a:r>
                        <a:rPr dirty="0" sz="32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spc="-55">
                          <a:latin typeface="Arial"/>
                          <a:cs typeface="Arial"/>
                        </a:rPr>
                        <a:t>TRAINING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32575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</a:tr>
              <a:tr h="1193800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830"/>
                        </a:spcBef>
                      </a:pPr>
                      <a:r>
                        <a:rPr dirty="0" sz="2600" spc="-20">
                          <a:latin typeface="Arial"/>
                          <a:cs typeface="Arial"/>
                        </a:rPr>
                        <a:t>COSt</a:t>
                      </a:r>
                      <a:endParaRPr sz="2600">
                        <a:latin typeface="Arial"/>
                        <a:cs typeface="Arial"/>
                      </a:endParaRPr>
                    </a:p>
                  </a:txBody>
                  <a:tcPr marL="0" marR="0" marB="0" marT="35941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33705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dirty="0" sz="3200" spc="-325">
                          <a:latin typeface="Calibri"/>
                          <a:cs typeface="Calibri"/>
                        </a:rPr>
                        <a:t>Low</a:t>
                      </a:r>
                      <a:r>
                        <a:rPr dirty="0" sz="3200" spc="229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3200">
                          <a:latin typeface="Calibri"/>
                          <a:cs typeface="Calibri"/>
                        </a:rPr>
                        <a:t>(0perat1onal</a:t>
                      </a:r>
                      <a:r>
                        <a:rPr dirty="0" sz="3200" spc="6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3200" spc="-10">
                          <a:latin typeface="Calibri"/>
                          <a:cs typeface="Calibri"/>
                        </a:rPr>
                        <a:t>Expense)</a:t>
                      </a:r>
                      <a:endParaRPr sz="3200">
                        <a:latin typeface="Calibri"/>
                        <a:cs typeface="Calibri"/>
                      </a:endParaRPr>
                    </a:p>
                  </a:txBody>
                  <a:tcPr marL="0" marR="0" marB="0" marT="28321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33045">
                        <a:lnSpc>
                          <a:spcPts val="3115"/>
                        </a:lnSpc>
                        <a:spcBef>
                          <a:spcPts val="930"/>
                        </a:spcBef>
                      </a:pPr>
                      <a:r>
                        <a:rPr dirty="0" sz="2900">
                          <a:latin typeface="Arial"/>
                          <a:cs typeface="Arial"/>
                        </a:rPr>
                        <a:t>Very</a:t>
                      </a:r>
                      <a:r>
                        <a:rPr dirty="0" sz="2900" spc="36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2900" spc="-305">
                          <a:latin typeface="Arial"/>
                          <a:cs typeface="Arial"/>
                        </a:rPr>
                        <a:t>H1gh</a:t>
                      </a:r>
                      <a:endParaRPr sz="2900">
                        <a:latin typeface="Arial"/>
                        <a:cs typeface="Arial"/>
                      </a:endParaRPr>
                    </a:p>
                    <a:p>
                      <a:pPr algn="ctr" marL="228600">
                        <a:lnSpc>
                          <a:spcPts val="3475"/>
                        </a:lnSpc>
                      </a:pPr>
                      <a:r>
                        <a:rPr dirty="0" sz="3200" spc="-50">
                          <a:latin typeface="Arial"/>
                          <a:cs typeface="Arial"/>
                        </a:rPr>
                        <a:t>(Compute/Capital)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11811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</a:tr>
              <a:tr h="1235710">
                <a:tc>
                  <a:txBody>
                    <a:bodyPr/>
                    <a:lstStyle/>
                    <a:p>
                      <a:pPr marL="295275">
                        <a:lnSpc>
                          <a:spcPct val="100000"/>
                        </a:lnSpc>
                        <a:spcBef>
                          <a:spcPts val="2230"/>
                        </a:spcBef>
                      </a:pPr>
                      <a:r>
                        <a:rPr dirty="0" sz="3400" spc="-35">
                          <a:latin typeface="Arial"/>
                          <a:cs typeface="Arial"/>
                        </a:rPr>
                        <a:t>Speed</a:t>
                      </a:r>
                      <a:endParaRPr sz="3400">
                        <a:latin typeface="Arial"/>
                        <a:cs typeface="Arial"/>
                      </a:endParaRPr>
                    </a:p>
                  </a:txBody>
                  <a:tcPr marL="0" marR="0" marB="0" marT="28321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28905">
                        <a:lnSpc>
                          <a:spcPct val="100000"/>
                        </a:lnSpc>
                        <a:spcBef>
                          <a:spcPts val="2580"/>
                        </a:spcBef>
                      </a:pPr>
                      <a:r>
                        <a:rPr dirty="0" sz="2950" spc="-180">
                          <a:latin typeface="Consolas"/>
                          <a:cs typeface="Consolas"/>
                        </a:rPr>
                        <a:t>Immediate</a:t>
                      </a:r>
                      <a:r>
                        <a:rPr dirty="0" sz="2950" spc="-18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2950" spc="-70">
                          <a:latin typeface="Consolas"/>
                          <a:cs typeface="Consolas"/>
                        </a:rPr>
                        <a:t>Iteration</a:t>
                      </a:r>
                      <a:endParaRPr sz="2950">
                        <a:latin typeface="Consolas"/>
                        <a:cs typeface="Consolas"/>
                      </a:endParaRPr>
                    </a:p>
                  </a:txBody>
                  <a:tcPr marL="0" marR="0" marB="0" marT="32766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08915">
                        <a:lnSpc>
                          <a:spcPct val="100000"/>
                        </a:lnSpc>
                        <a:spcBef>
                          <a:spcPts val="2480"/>
                        </a:spcBef>
                      </a:pPr>
                      <a:r>
                        <a:rPr dirty="0" sz="3050" spc="-200">
                          <a:latin typeface="Consolas"/>
                          <a:cs typeface="Consolas"/>
                        </a:rPr>
                        <a:t>Weeks</a:t>
                      </a:r>
                      <a:r>
                        <a:rPr dirty="0" sz="3050" spc="-204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050" spc="-210">
                          <a:latin typeface="Consolas"/>
                          <a:cs typeface="Consolas"/>
                        </a:rPr>
                        <a:t>to</a:t>
                      </a:r>
                      <a:r>
                        <a:rPr dirty="0" sz="3050" spc="-3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050" spc="-55">
                          <a:latin typeface="Consolas"/>
                          <a:cs typeface="Consolas"/>
                        </a:rPr>
                        <a:t>Nonths</a:t>
                      </a:r>
                      <a:endParaRPr sz="3050">
                        <a:latin typeface="Consolas"/>
                        <a:cs typeface="Consolas"/>
                      </a:endParaRPr>
                    </a:p>
                  </a:txBody>
                  <a:tcPr marL="0" marR="0" marB="0" marT="31496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</a:tr>
              <a:tr h="1184910">
                <a:tc>
                  <a:txBody>
                    <a:bodyPr/>
                    <a:lstStyle/>
                    <a:p>
                      <a:pPr marL="294640">
                        <a:lnSpc>
                          <a:spcPct val="100000"/>
                        </a:lnSpc>
                        <a:spcBef>
                          <a:spcPts val="2200"/>
                        </a:spcBef>
                      </a:pPr>
                      <a:r>
                        <a:rPr dirty="0" sz="3200" spc="-10">
                          <a:latin typeface="Arial"/>
                          <a:cs typeface="Arial"/>
                        </a:rPr>
                        <a:t>Flexibility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27940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53035">
                        <a:lnSpc>
                          <a:spcPct val="100000"/>
                        </a:lnSpc>
                        <a:spcBef>
                          <a:spcPts val="2300"/>
                        </a:spcBef>
                      </a:pPr>
                      <a:r>
                        <a:rPr dirty="0" sz="3100" spc="-260">
                          <a:latin typeface="Consolas"/>
                          <a:cs typeface="Consolas"/>
                        </a:rPr>
                        <a:t>High</a:t>
                      </a:r>
                      <a:r>
                        <a:rPr dirty="0" sz="3100" spc="-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100" spc="-565">
                          <a:latin typeface="Consolas"/>
                          <a:cs typeface="Consolas"/>
                        </a:rPr>
                        <a:t>/</a:t>
                      </a:r>
                      <a:r>
                        <a:rPr dirty="0" sz="3100" spc="-14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100" spc="-270">
                          <a:latin typeface="Consolas"/>
                          <a:cs typeface="Consolas"/>
                        </a:rPr>
                        <a:t>Dynamic</a:t>
                      </a:r>
                      <a:endParaRPr sz="3100">
                        <a:latin typeface="Consolas"/>
                        <a:cs typeface="Consolas"/>
                      </a:endParaRPr>
                    </a:p>
                  </a:txBody>
                  <a:tcPr marL="0" marR="0" marB="0" marT="29210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1495">
                        <a:lnSpc>
                          <a:spcPct val="100000"/>
                        </a:lnSpc>
                        <a:spcBef>
                          <a:spcPts val="2300"/>
                        </a:spcBef>
                        <a:tabLst>
                          <a:tab pos="1707514" algn="l"/>
                        </a:tabLst>
                      </a:pPr>
                      <a:r>
                        <a:rPr dirty="0" sz="3100" spc="-10">
                          <a:latin typeface="Calibri"/>
                          <a:cs typeface="Calibri"/>
                        </a:rPr>
                        <a:t>R1g1d</a:t>
                      </a:r>
                      <a:r>
                        <a:rPr dirty="0" sz="3100">
                          <a:latin typeface="Calibri"/>
                          <a:cs typeface="Calibri"/>
                        </a:rPr>
                        <a:t>	</a:t>
                      </a:r>
                      <a:r>
                        <a:rPr dirty="0" sz="3100" spc="-315">
                          <a:latin typeface="Calibri"/>
                          <a:cs typeface="Calibri"/>
                        </a:rPr>
                        <a:t>/</a:t>
                      </a:r>
                      <a:r>
                        <a:rPr dirty="0" sz="3100" spc="150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3100" spc="125">
                          <a:latin typeface="Calibri"/>
                          <a:cs typeface="Calibri"/>
                        </a:rPr>
                        <a:t>Stat1c</a:t>
                      </a:r>
                      <a:r>
                        <a:rPr dirty="0" sz="3100" spc="45">
                          <a:latin typeface="Calibri"/>
                          <a:cs typeface="Calibri"/>
                        </a:rPr>
                        <a:t>  </a:t>
                      </a:r>
                      <a:r>
                        <a:rPr dirty="0" sz="3100" spc="-10">
                          <a:latin typeface="Calibri"/>
                          <a:cs typeface="Calibri"/>
                        </a:rPr>
                        <a:t>Snapshot</a:t>
                      </a:r>
                      <a:endParaRPr sz="3100">
                        <a:latin typeface="Calibri"/>
                        <a:cs typeface="Calibri"/>
                      </a:endParaRPr>
                    </a:p>
                  </a:txBody>
                  <a:tcPr marL="0" marR="0" marB="0" marT="292100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</a:tr>
              <a:tr h="1231900">
                <a:tc>
                  <a:txBody>
                    <a:bodyPr/>
                    <a:lstStyle/>
                    <a:p>
                      <a:pPr marL="296545">
                        <a:lnSpc>
                          <a:spcPct val="100000"/>
                        </a:lnSpc>
                        <a:spcBef>
                          <a:spcPts val="2465"/>
                        </a:spcBef>
                      </a:pPr>
                      <a:r>
                        <a:rPr dirty="0" sz="3200" spc="-105">
                          <a:latin typeface="Arial"/>
                          <a:cs typeface="Arial"/>
                        </a:rPr>
                        <a:t>Skill</a:t>
                      </a:r>
                      <a:r>
                        <a:rPr dirty="0" sz="3200" spc="-2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3200" spc="-10">
                          <a:latin typeface="Arial"/>
                          <a:cs typeface="Arial"/>
                        </a:rPr>
                        <a:t>Required</a:t>
                      </a:r>
                      <a:endParaRPr sz="3200">
                        <a:latin typeface="Arial"/>
                        <a:cs typeface="Arial"/>
                      </a:endParaRPr>
                    </a:p>
                  </a:txBody>
                  <a:tcPr marL="0" marR="0" marB="0" marT="31305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41605">
                        <a:lnSpc>
                          <a:spcPts val="3304"/>
                        </a:lnSpc>
                        <a:spcBef>
                          <a:spcPts val="1015"/>
                        </a:spcBef>
                      </a:pPr>
                      <a:r>
                        <a:rPr dirty="0" sz="3050" spc="-195">
                          <a:latin typeface="Consolas"/>
                          <a:cs typeface="Consolas"/>
                        </a:rPr>
                        <a:t>Domain</a:t>
                      </a:r>
                      <a:r>
                        <a:rPr dirty="0" sz="3050" spc="-2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050" spc="-240">
                          <a:latin typeface="Consolas"/>
                          <a:cs typeface="Consolas"/>
                        </a:rPr>
                        <a:t>&amp;</a:t>
                      </a:r>
                      <a:r>
                        <a:rPr dirty="0" sz="3050" spc="-38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050" spc="-130">
                          <a:latin typeface="Consolas"/>
                          <a:cs typeface="Consolas"/>
                        </a:rPr>
                        <a:t>Linguistic</a:t>
                      </a:r>
                      <a:endParaRPr sz="3050">
                        <a:latin typeface="Consolas"/>
                        <a:cs typeface="Consolas"/>
                      </a:endParaRPr>
                    </a:p>
                    <a:p>
                      <a:pPr algn="ctr" marL="107314">
                        <a:lnSpc>
                          <a:spcPts val="3485"/>
                        </a:lnSpc>
                      </a:pPr>
                      <a:r>
                        <a:rPr dirty="0" sz="3200" spc="-350">
                          <a:latin typeface="Consolas"/>
                          <a:cs typeface="Consolas"/>
                        </a:rPr>
                        <a:t>Expertise</a:t>
                      </a:r>
                      <a:endParaRPr sz="3200">
                        <a:latin typeface="Consolas"/>
                        <a:cs typeface="Consolas"/>
                      </a:endParaRPr>
                    </a:p>
                  </a:txBody>
                  <a:tcPr marL="0" marR="0" marB="0" marT="12890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196850">
                        <a:lnSpc>
                          <a:spcPts val="3354"/>
                        </a:lnSpc>
                        <a:spcBef>
                          <a:spcPts val="1015"/>
                        </a:spcBef>
                      </a:pPr>
                      <a:r>
                        <a:rPr dirty="0" sz="3050" spc="-245">
                          <a:latin typeface="Consolas"/>
                          <a:cs typeface="Consolas"/>
                        </a:rPr>
                        <a:t>Machine</a:t>
                      </a:r>
                      <a:r>
                        <a:rPr dirty="0" sz="3050" spc="-215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050" spc="-120">
                          <a:latin typeface="Consolas"/>
                          <a:cs typeface="Consolas"/>
                        </a:rPr>
                        <a:t>Learning</a:t>
                      </a:r>
                      <a:endParaRPr sz="3050">
                        <a:latin typeface="Consolas"/>
                        <a:cs typeface="Consolas"/>
                      </a:endParaRPr>
                    </a:p>
                    <a:p>
                      <a:pPr algn="ctr" marL="161290">
                        <a:lnSpc>
                          <a:spcPts val="3415"/>
                        </a:lnSpc>
                      </a:pPr>
                      <a:r>
                        <a:rPr dirty="0" sz="3100" spc="-290">
                          <a:latin typeface="Consolas"/>
                          <a:cs typeface="Consolas"/>
                        </a:rPr>
                        <a:t>Engineering</a:t>
                      </a:r>
                      <a:endParaRPr sz="3100">
                        <a:latin typeface="Consolas"/>
                        <a:cs typeface="Consolas"/>
                      </a:endParaRPr>
                    </a:p>
                  </a:txBody>
                  <a:tcPr marL="0" marR="0" marB="0" marT="128905">
                    <a:lnL w="28575">
                      <a:solidFill>
                        <a:srgbClr val="1C1C1C"/>
                      </a:solidFill>
                      <a:prstDash val="solid"/>
                    </a:lnL>
                    <a:lnR w="28575">
                      <a:solidFill>
                        <a:srgbClr val="1C1C1C"/>
                      </a:solidFill>
                      <a:prstDash val="solid"/>
                    </a:lnR>
                    <a:lnT w="28575">
                      <a:solidFill>
                        <a:srgbClr val="1C1C1C"/>
                      </a:solidFill>
                      <a:prstDash val="solid"/>
                    </a:lnT>
                    <a:lnB w="28575">
                      <a:solidFill>
                        <a:srgbClr val="1C1C1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709047" y="529872"/>
            <a:ext cx="16007080" cy="829944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5250" spc="-310"/>
              <a:t>ENGINEERING</a:t>
            </a:r>
            <a:r>
              <a:rPr dirty="0" sz="5250" spc="330"/>
              <a:t> </a:t>
            </a:r>
            <a:r>
              <a:rPr dirty="0" sz="5250" spc="-220"/>
              <a:t>THE</a:t>
            </a:r>
            <a:r>
              <a:rPr dirty="0" sz="5250" spc="-550"/>
              <a:t> </a:t>
            </a:r>
            <a:r>
              <a:rPr dirty="0" sz="5250" spc="-150"/>
              <a:t>INPUT</a:t>
            </a:r>
            <a:r>
              <a:rPr dirty="0" sz="5250" spc="-120"/>
              <a:t> </a:t>
            </a:r>
            <a:r>
              <a:rPr dirty="0" sz="5250" spc="-180"/>
              <a:t>VS.</a:t>
            </a:r>
            <a:r>
              <a:rPr dirty="0" sz="5250" spc="-450"/>
              <a:t> </a:t>
            </a:r>
            <a:r>
              <a:rPr dirty="0" sz="5250" spc="-150"/>
              <a:t>TRAINING</a:t>
            </a:r>
            <a:r>
              <a:rPr dirty="0" sz="5250" spc="-85"/>
              <a:t> </a:t>
            </a:r>
            <a:r>
              <a:rPr dirty="0" sz="5250" spc="-220"/>
              <a:t>THE</a:t>
            </a:r>
            <a:r>
              <a:rPr dirty="0" sz="5250" spc="-455"/>
              <a:t> </a:t>
            </a:r>
            <a:r>
              <a:rPr dirty="0" sz="5250" spc="-20"/>
              <a:t>MODEL</a:t>
            </a:r>
            <a:endParaRPr sz="5250"/>
          </a:p>
        </p:txBody>
      </p:sp>
      <p:sp>
        <p:nvSpPr>
          <p:cNvPr id="4" name="object 4"/>
          <p:cNvSpPr txBox="1"/>
          <p:nvPr/>
        </p:nvSpPr>
        <p:spPr>
          <a:xfrm>
            <a:off x="1161203" y="8612716"/>
            <a:ext cx="16175355" cy="10591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70">
                <a:latin typeface="Arial"/>
                <a:cs typeface="Arial"/>
              </a:rPr>
              <a:t>Prompt</a:t>
            </a:r>
            <a:r>
              <a:rPr dirty="0" sz="3300" spc="-95">
                <a:latin typeface="Arial"/>
                <a:cs typeface="Arial"/>
              </a:rPr>
              <a:t> </a:t>
            </a:r>
            <a:r>
              <a:rPr dirty="0" sz="3300" spc="-75">
                <a:latin typeface="Arial"/>
                <a:cs typeface="Arial"/>
              </a:rPr>
              <a:t>engineering</a:t>
            </a:r>
            <a:r>
              <a:rPr dirty="0" sz="3300" spc="-50">
                <a:latin typeface="Arial"/>
                <a:cs typeface="Arial"/>
              </a:rPr>
              <a:t> offers</a:t>
            </a:r>
            <a:r>
              <a:rPr dirty="0" sz="3300" spc="-229">
                <a:latin typeface="Arial"/>
                <a:cs typeface="Arial"/>
              </a:rPr>
              <a:t> </a:t>
            </a:r>
            <a:r>
              <a:rPr dirty="0" sz="3300" spc="-60">
                <a:latin typeface="Arial"/>
                <a:cs typeface="Arial"/>
              </a:rPr>
              <a:t>agility</a:t>
            </a:r>
            <a:r>
              <a:rPr dirty="0" sz="3300" spc="-120">
                <a:latin typeface="Arial"/>
                <a:cs typeface="Arial"/>
              </a:rPr>
              <a:t> and</a:t>
            </a:r>
            <a:r>
              <a:rPr dirty="0" sz="3300" spc="-245">
                <a:latin typeface="Arial"/>
                <a:cs typeface="Arial"/>
              </a:rPr>
              <a:t> </a:t>
            </a:r>
            <a:r>
              <a:rPr dirty="0" sz="3300" spc="-60">
                <a:latin typeface="Arial"/>
                <a:cs typeface="Arial"/>
              </a:rPr>
              <a:t>precision</a:t>
            </a:r>
            <a:r>
              <a:rPr dirty="0" sz="3300" spc="-110">
                <a:latin typeface="Arial"/>
                <a:cs typeface="Arial"/>
              </a:rPr>
              <a:t> </a:t>
            </a:r>
            <a:r>
              <a:rPr dirty="0" sz="3300" spc="-25">
                <a:latin typeface="Arial"/>
                <a:cs typeface="Arial"/>
              </a:rPr>
              <a:t>without</a:t>
            </a:r>
            <a:r>
              <a:rPr dirty="0" sz="3300" spc="-100">
                <a:latin typeface="Arial"/>
                <a:cs typeface="Arial"/>
              </a:rPr>
              <a:t> </a:t>
            </a:r>
            <a:r>
              <a:rPr dirty="0" sz="3300" spc="-55">
                <a:latin typeface="Arial"/>
                <a:cs typeface="Arial"/>
              </a:rPr>
              <a:t>the</a:t>
            </a:r>
            <a:r>
              <a:rPr dirty="0" sz="3300" spc="-280">
                <a:latin typeface="Arial"/>
                <a:cs typeface="Arial"/>
              </a:rPr>
              <a:t> </a:t>
            </a:r>
            <a:r>
              <a:rPr dirty="0" sz="3300" spc="-120">
                <a:latin typeface="Arial"/>
                <a:cs typeface="Arial"/>
              </a:rPr>
              <a:t>heavy</a:t>
            </a:r>
            <a:r>
              <a:rPr dirty="0" sz="3300" spc="-95">
                <a:latin typeface="Arial"/>
                <a:cs typeface="Arial"/>
              </a:rPr>
              <a:t> </a:t>
            </a:r>
            <a:r>
              <a:rPr dirty="0" sz="3300" spc="-55">
                <a:latin typeface="Arial"/>
                <a:cs typeface="Arial"/>
              </a:rPr>
              <a:t>infrastructure</a:t>
            </a:r>
            <a:r>
              <a:rPr dirty="0" sz="3300" spc="-295">
                <a:latin typeface="Arial"/>
                <a:cs typeface="Arial"/>
              </a:rPr>
              <a:t> </a:t>
            </a:r>
            <a:r>
              <a:rPr dirty="0" sz="3300" spc="-10">
                <a:latin typeface="Arial"/>
                <a:cs typeface="Arial"/>
              </a:rPr>
              <a:t>costs.</a:t>
            </a:r>
            <a:endParaRPr sz="3300">
              <a:latin typeface="Arial"/>
              <a:cs typeface="Arial"/>
            </a:endParaRPr>
          </a:p>
          <a:p>
            <a:pPr algn="r" marR="5080">
              <a:lnSpc>
                <a:spcPct val="100000"/>
              </a:lnSpc>
              <a:spcBef>
                <a:spcPts val="2340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0">
                <a:latin typeface="Arial"/>
                <a:cs typeface="Arial"/>
              </a:rPr>
              <a:t> </a:t>
            </a:r>
            <a:r>
              <a:rPr dirty="0" sz="1500" spc="-1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79400" y="101600"/>
            <a:ext cx="17056100" cy="9525000"/>
            <a:chOff x="279400" y="101600"/>
            <a:chExt cx="17056100" cy="952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9400" y="101600"/>
              <a:ext cx="17056100" cy="952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131800" y="5137150"/>
              <a:ext cx="304800" cy="254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52500" y="5137150"/>
              <a:ext cx="711200" cy="254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22200" y="5156200"/>
              <a:ext cx="444500" cy="2032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528800" y="5207000"/>
              <a:ext cx="177800" cy="1524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534900" y="5899150"/>
              <a:ext cx="2127250" cy="32385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286000" y="8782050"/>
              <a:ext cx="1543050" cy="146050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286000" y="8597900"/>
              <a:ext cx="1358900" cy="177800"/>
            </a:xfrm>
            <a:prstGeom prst="rect">
              <a:avLst/>
            </a:prstGeom>
          </p:spPr>
        </p:pic>
      </p:grpSp>
      <p:sp>
        <p:nvSpPr>
          <p:cNvPr id="11" name="object 11" descr="$PPTXTitle"/>
          <p:cNvSpPr txBox="1">
            <a:spLocks noGrp="1"/>
          </p:cNvSpPr>
          <p:nvPr>
            <p:ph type="title"/>
          </p:nvPr>
        </p:nvSpPr>
        <p:spPr>
          <a:xfrm>
            <a:off x="1581683" y="641349"/>
            <a:ext cx="14265275" cy="9779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03375" algn="l"/>
                <a:tab pos="2936240" algn="l"/>
              </a:tabLst>
            </a:pPr>
            <a:r>
              <a:rPr dirty="0" sz="6250" spc="-465">
                <a:latin typeface="Calibri"/>
                <a:cs typeface="Calibri"/>
              </a:rPr>
              <a:t>THE</a:t>
            </a:r>
            <a:r>
              <a:rPr dirty="0" sz="6250">
                <a:latin typeface="Calibri"/>
                <a:cs typeface="Calibri"/>
              </a:rPr>
              <a:t>	</a:t>
            </a:r>
            <a:r>
              <a:rPr dirty="0" sz="6250" spc="-365">
                <a:latin typeface="Calibri"/>
                <a:cs typeface="Calibri"/>
              </a:rPr>
              <a:t>SIX</a:t>
            </a:r>
            <a:r>
              <a:rPr dirty="0" sz="6250">
                <a:latin typeface="Calibri"/>
                <a:cs typeface="Calibri"/>
              </a:rPr>
              <a:t>	</a:t>
            </a:r>
            <a:r>
              <a:rPr dirty="0" sz="6250" spc="565">
                <a:latin typeface="Calibri"/>
                <a:cs typeface="Calibri"/>
              </a:rPr>
              <a:t>PILLARS</a:t>
            </a:r>
            <a:r>
              <a:rPr dirty="0" sz="6250" spc="-300">
                <a:latin typeface="Calibri"/>
                <a:cs typeface="Calibri"/>
              </a:rPr>
              <a:t> </a:t>
            </a:r>
            <a:r>
              <a:rPr dirty="0" sz="6250" spc="705">
                <a:latin typeface="Calibri"/>
                <a:cs typeface="Calibri"/>
              </a:rPr>
              <a:t>OFA</a:t>
            </a:r>
            <a:r>
              <a:rPr dirty="0" sz="6250" spc="430">
                <a:latin typeface="Calibri"/>
                <a:cs typeface="Calibri"/>
              </a:rPr>
              <a:t> </a:t>
            </a:r>
            <a:r>
              <a:rPr dirty="0" sz="6250" spc="375">
                <a:latin typeface="Calibri"/>
                <a:cs typeface="Calibri"/>
              </a:rPr>
              <a:t>ROBUST</a:t>
            </a:r>
            <a:r>
              <a:rPr dirty="0" sz="6250" spc="140">
                <a:latin typeface="Calibri"/>
                <a:cs typeface="Calibri"/>
              </a:rPr>
              <a:t> </a:t>
            </a:r>
            <a:r>
              <a:rPr dirty="0" sz="6250" spc="355">
                <a:latin typeface="Calibri"/>
                <a:cs typeface="Calibri"/>
              </a:rPr>
              <a:t>PROMPT</a:t>
            </a:r>
            <a:endParaRPr sz="62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69667" y="2183694"/>
            <a:ext cx="3175000" cy="10560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9685">
              <a:lnSpc>
                <a:spcPts val="3529"/>
              </a:lnSpc>
              <a:spcBef>
                <a:spcPts val="105"/>
              </a:spcBef>
            </a:pPr>
            <a:r>
              <a:rPr dirty="0" sz="3050" spc="-70">
                <a:latin typeface="Calibri"/>
                <a:cs typeface="Calibri"/>
              </a:rPr>
              <a:t>01</a:t>
            </a:r>
            <a:r>
              <a:rPr dirty="0" sz="3050" spc="-120">
                <a:latin typeface="Calibri"/>
                <a:cs typeface="Calibri"/>
              </a:rPr>
              <a:t> </a:t>
            </a:r>
            <a:r>
              <a:rPr dirty="0" sz="3050" spc="-10">
                <a:latin typeface="Calibri"/>
                <a:cs typeface="Calibri"/>
              </a:rPr>
              <a:t>CLARITY.</a:t>
            </a:r>
            <a:endParaRPr sz="3050">
              <a:latin typeface="Calibri"/>
              <a:cs typeface="Calibri"/>
            </a:endParaRPr>
          </a:p>
          <a:p>
            <a:pPr marL="28575">
              <a:lnSpc>
                <a:spcPts val="2135"/>
              </a:lnSpc>
            </a:pPr>
            <a:r>
              <a:rPr dirty="0" sz="2150" spc="-60">
                <a:latin typeface="Calibri"/>
                <a:cs typeface="Calibri"/>
              </a:rPr>
              <a:t>Avoid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 spc="-50">
                <a:latin typeface="Calibri"/>
                <a:cs typeface="Calibri"/>
              </a:rPr>
              <a:t>ambiguity. </a:t>
            </a:r>
            <a:r>
              <a:rPr dirty="0" sz="2150">
                <a:latin typeface="Calibri"/>
                <a:cs typeface="Calibri"/>
              </a:rPr>
              <a:t>Use</a:t>
            </a:r>
            <a:r>
              <a:rPr dirty="0" sz="2150" spc="-60">
                <a:latin typeface="Calibri"/>
                <a:cs typeface="Calibri"/>
              </a:rPr>
              <a:t> </a:t>
            </a:r>
            <a:r>
              <a:rPr dirty="0" sz="2150" spc="-10">
                <a:latin typeface="Calibri"/>
                <a:cs typeface="Calibri"/>
              </a:rPr>
              <a:t>precise,</a:t>
            </a:r>
            <a:endParaRPr sz="2150">
              <a:latin typeface="Calibri"/>
              <a:cs typeface="Calibri"/>
            </a:endParaRPr>
          </a:p>
          <a:p>
            <a:pPr marL="12700">
              <a:lnSpc>
                <a:spcPts val="2445"/>
              </a:lnSpc>
            </a:pPr>
            <a:r>
              <a:rPr dirty="0" sz="2300" spc="-130">
                <a:latin typeface="Calibri"/>
                <a:cs typeface="Calibri"/>
              </a:rPr>
              <a:t>unambiguous</a:t>
            </a:r>
            <a:r>
              <a:rPr dirty="0" sz="2300" spc="60">
                <a:latin typeface="Calibri"/>
                <a:cs typeface="Calibri"/>
              </a:rPr>
              <a:t> </a:t>
            </a:r>
            <a:r>
              <a:rPr dirty="0" sz="2300" spc="-10">
                <a:latin typeface="Calibri"/>
                <a:cs typeface="Calibri"/>
              </a:rPr>
              <a:t>language.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73497" y="4670072"/>
            <a:ext cx="3001645" cy="10223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ts val="3100"/>
              </a:lnSpc>
              <a:spcBef>
                <a:spcPts val="125"/>
              </a:spcBef>
            </a:pPr>
            <a:r>
              <a:rPr dirty="0" sz="2750" spc="65">
                <a:latin typeface="Calibri"/>
                <a:cs typeface="Calibri"/>
              </a:rPr>
              <a:t>06</a:t>
            </a:r>
            <a:r>
              <a:rPr dirty="0" sz="2750" spc="-60">
                <a:latin typeface="Calibri"/>
                <a:cs typeface="Calibri"/>
              </a:rPr>
              <a:t> </a:t>
            </a:r>
            <a:r>
              <a:rPr dirty="0" sz="2750" spc="-50">
                <a:latin typeface="Calibri"/>
                <a:cs typeface="Calibri"/>
              </a:rPr>
              <a:t>OUTPUT</a:t>
            </a:r>
            <a:r>
              <a:rPr dirty="0" sz="2750" spc="60">
                <a:latin typeface="Calibri"/>
                <a:cs typeface="Calibri"/>
              </a:rPr>
              <a:t> </a:t>
            </a:r>
            <a:r>
              <a:rPr dirty="0" sz="2750" spc="-10">
                <a:latin typeface="Calibri"/>
                <a:cs typeface="Calibri"/>
              </a:rPr>
              <a:t>FORNAT.</a:t>
            </a:r>
            <a:endParaRPr sz="2750">
              <a:latin typeface="Calibri"/>
              <a:cs typeface="Calibri"/>
            </a:endParaRPr>
          </a:p>
          <a:p>
            <a:pPr marL="14604">
              <a:lnSpc>
                <a:spcPts val="2260"/>
              </a:lnSpc>
            </a:pPr>
            <a:r>
              <a:rPr dirty="0" sz="2150" spc="-40">
                <a:latin typeface="Calibri"/>
                <a:cs typeface="Calibri"/>
              </a:rPr>
              <a:t>Define</a:t>
            </a:r>
            <a:r>
              <a:rPr dirty="0" sz="2150" spc="-65">
                <a:latin typeface="Calibri"/>
                <a:cs typeface="Calibri"/>
              </a:rPr>
              <a:t> </a:t>
            </a:r>
            <a:r>
              <a:rPr dirty="0" sz="2150" spc="-45">
                <a:latin typeface="Calibri"/>
                <a:cs typeface="Calibri"/>
              </a:rPr>
              <a:t>the</a:t>
            </a:r>
            <a:r>
              <a:rPr dirty="0" sz="2150" spc="-35">
                <a:latin typeface="Calibri"/>
                <a:cs typeface="Calibri"/>
              </a:rPr>
              <a:t> </a:t>
            </a:r>
            <a:r>
              <a:rPr dirty="0" sz="2150" spc="-75">
                <a:latin typeface="Calibri"/>
                <a:cs typeface="Calibri"/>
              </a:rPr>
              <a:t>struct</a:t>
            </a:r>
            <a:r>
              <a:rPr dirty="0" sz="2350" spc="-75">
                <a:latin typeface="Calibri"/>
                <a:cs typeface="Calibri"/>
              </a:rPr>
              <a:t>ure</a:t>
            </a:r>
            <a:r>
              <a:rPr dirty="0" sz="2350" spc="-105">
                <a:latin typeface="Calibri"/>
                <a:cs typeface="Calibri"/>
              </a:rPr>
              <a:t> (J</a:t>
            </a:r>
            <a:r>
              <a:rPr dirty="0" sz="2350" spc="-120">
                <a:latin typeface="Calibri"/>
                <a:cs typeface="Calibri"/>
              </a:rPr>
              <a:t> </a:t>
            </a:r>
            <a:r>
              <a:rPr dirty="0" sz="2150" spc="-20">
                <a:latin typeface="Calibri"/>
                <a:cs typeface="Calibri"/>
              </a:rPr>
              <a:t>SON,</a:t>
            </a:r>
            <a:endParaRPr sz="2150">
              <a:latin typeface="Calibri"/>
              <a:cs typeface="Calibri"/>
            </a:endParaRPr>
          </a:p>
          <a:p>
            <a:pPr marL="22860">
              <a:lnSpc>
                <a:spcPts val="2460"/>
              </a:lnSpc>
            </a:pPr>
            <a:r>
              <a:rPr dirty="0" sz="2300" spc="-100">
                <a:latin typeface="Calibri"/>
                <a:cs typeface="Calibri"/>
              </a:rPr>
              <a:t>Table)</a:t>
            </a:r>
            <a:r>
              <a:rPr dirty="0" sz="2300" spc="25">
                <a:latin typeface="Calibri"/>
                <a:cs typeface="Calibri"/>
              </a:rPr>
              <a:t> </a:t>
            </a:r>
            <a:r>
              <a:rPr dirty="0" sz="2300" spc="-110">
                <a:latin typeface="Calibri"/>
                <a:cs typeface="Calibri"/>
              </a:rPr>
              <a:t>to</a:t>
            </a:r>
            <a:r>
              <a:rPr dirty="0" sz="2300" spc="-70">
                <a:latin typeface="Calibri"/>
                <a:cs typeface="Calibri"/>
              </a:rPr>
              <a:t> </a:t>
            </a:r>
            <a:r>
              <a:rPr dirty="0" sz="2300" spc="-125">
                <a:latin typeface="Calibri"/>
                <a:cs typeface="Calibri"/>
              </a:rPr>
              <a:t>avoid</a:t>
            </a:r>
            <a:r>
              <a:rPr dirty="0" sz="2300" spc="-35">
                <a:latin typeface="Calibri"/>
                <a:cs typeface="Calibri"/>
              </a:rPr>
              <a:t> </a:t>
            </a:r>
            <a:r>
              <a:rPr dirty="0" baseline="2364" sz="3525" spc="-44">
                <a:latin typeface="Calibri"/>
                <a:cs typeface="Calibri"/>
              </a:rPr>
              <a:t>rework.</a:t>
            </a:r>
            <a:endParaRPr baseline="2364" sz="3525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54406" y="7175852"/>
            <a:ext cx="3078480" cy="1011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285"/>
              </a:lnSpc>
              <a:spcBef>
                <a:spcPts val="95"/>
              </a:spcBef>
            </a:pPr>
            <a:r>
              <a:rPr dirty="0" sz="2850" spc="80">
                <a:latin typeface="Calibri"/>
                <a:cs typeface="Calibri"/>
              </a:rPr>
              <a:t>65</a:t>
            </a:r>
            <a:r>
              <a:rPr dirty="0" sz="2850" spc="-114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CONSTRAINTS.</a:t>
            </a:r>
            <a:endParaRPr sz="2850">
              <a:latin typeface="Calibri"/>
              <a:cs typeface="Calibri"/>
            </a:endParaRPr>
          </a:p>
          <a:p>
            <a:pPr marL="19050">
              <a:lnSpc>
                <a:spcPts val="2260"/>
              </a:lnSpc>
            </a:pPr>
            <a:r>
              <a:rPr dirty="0" sz="2200" spc="-75">
                <a:latin typeface="Calibri"/>
                <a:cs typeface="Calibri"/>
              </a:rPr>
              <a:t>Guide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quality</a:t>
            </a:r>
            <a:r>
              <a:rPr dirty="0" sz="2200" spc="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via</a:t>
            </a:r>
            <a:r>
              <a:rPr dirty="0" sz="2200" spc="-12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length,</a:t>
            </a:r>
            <a:endParaRPr sz="2200">
              <a:latin typeface="Calibri"/>
              <a:cs typeface="Calibri"/>
            </a:endParaRPr>
          </a:p>
          <a:p>
            <a:pPr marL="19685">
              <a:lnSpc>
                <a:spcPts val="2215"/>
              </a:lnSpc>
            </a:pPr>
            <a:r>
              <a:rPr dirty="0" sz="2050">
                <a:latin typeface="Calibri"/>
                <a:cs typeface="Calibri"/>
              </a:rPr>
              <a:t>complexity,</a:t>
            </a:r>
            <a:r>
              <a:rPr dirty="0" sz="2050" spc="3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and</a:t>
            </a:r>
            <a:r>
              <a:rPr dirty="0" sz="2050" spc="-3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boundaries.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297257" y="2210152"/>
            <a:ext cx="2719070" cy="1029969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">
              <a:lnSpc>
                <a:spcPts val="3185"/>
              </a:lnSpc>
              <a:spcBef>
                <a:spcPts val="95"/>
              </a:spcBef>
            </a:pPr>
            <a:r>
              <a:rPr dirty="0" sz="2850" spc="55">
                <a:latin typeface="Calibri"/>
                <a:cs typeface="Calibri"/>
              </a:rPr>
              <a:t>02</a:t>
            </a:r>
            <a:r>
              <a:rPr dirty="0" sz="2850" spc="-110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CONTEXT.</a:t>
            </a:r>
            <a:endParaRPr sz="2850">
              <a:latin typeface="Calibri"/>
              <a:cs typeface="Calibri"/>
            </a:endParaRPr>
          </a:p>
          <a:p>
            <a:pPr marL="20955">
              <a:lnSpc>
                <a:spcPts val="2305"/>
              </a:lnSpc>
            </a:pPr>
            <a:r>
              <a:rPr dirty="0" sz="2400" spc="-170">
                <a:latin typeface="Calibri"/>
                <a:cs typeface="Calibri"/>
              </a:rPr>
              <a:t>Provide</a:t>
            </a:r>
            <a:r>
              <a:rPr dirty="0" sz="2400" spc="-35">
                <a:latin typeface="Calibri"/>
                <a:cs typeface="Calibri"/>
              </a:rPr>
              <a:t> </a:t>
            </a:r>
            <a:r>
              <a:rPr dirty="0" sz="2400" spc="-175">
                <a:latin typeface="Calibri"/>
                <a:cs typeface="Calibri"/>
              </a:rPr>
              <a:t>background</a:t>
            </a:r>
            <a:r>
              <a:rPr dirty="0" sz="2400" spc="110">
                <a:latin typeface="Calibri"/>
                <a:cs typeface="Calibri"/>
              </a:rPr>
              <a:t> </a:t>
            </a:r>
            <a:r>
              <a:rPr dirty="0" sz="2400" spc="-25"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420"/>
              </a:lnSpc>
            </a:pPr>
            <a:r>
              <a:rPr dirty="0" sz="2300" spc="-170">
                <a:latin typeface="Calibri"/>
                <a:cs typeface="Calibri"/>
              </a:rPr>
              <a:t>narrow</a:t>
            </a:r>
            <a:r>
              <a:rPr dirty="0" sz="2300" spc="-25">
                <a:latin typeface="Calibri"/>
                <a:cs typeface="Calibri"/>
              </a:rPr>
              <a:t> </a:t>
            </a:r>
            <a:r>
              <a:rPr dirty="0" sz="2300" spc="-135">
                <a:latin typeface="Calibri"/>
                <a:cs typeface="Calibri"/>
              </a:rPr>
              <a:t>the</a:t>
            </a:r>
            <a:r>
              <a:rPr dirty="0" sz="2300" spc="-15">
                <a:latin typeface="Calibri"/>
                <a:cs typeface="Calibri"/>
              </a:rPr>
              <a:t> </a:t>
            </a:r>
            <a:r>
              <a:rPr dirty="0" sz="2300" spc="-100">
                <a:latin typeface="Calibri"/>
                <a:cs typeface="Calibri"/>
              </a:rPr>
              <a:t>search</a:t>
            </a:r>
            <a:r>
              <a:rPr dirty="0" sz="2300" spc="-5">
                <a:latin typeface="Calibri"/>
                <a:cs typeface="Calibri"/>
              </a:rPr>
              <a:t> </a:t>
            </a:r>
            <a:r>
              <a:rPr dirty="0" sz="2300" spc="-45">
                <a:latin typeface="Calibri"/>
                <a:cs typeface="Calibri"/>
              </a:rPr>
              <a:t>space.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498498" y="4617155"/>
            <a:ext cx="3589654" cy="10655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590">
              <a:lnSpc>
                <a:spcPts val="3670"/>
              </a:lnSpc>
              <a:spcBef>
                <a:spcPts val="95"/>
              </a:spcBef>
            </a:pPr>
            <a:r>
              <a:rPr dirty="0" sz="3200" spc="-125">
                <a:latin typeface="Calibri"/>
                <a:cs typeface="Calibri"/>
              </a:rPr>
              <a:t>03</a:t>
            </a:r>
            <a:r>
              <a:rPr dirty="0" sz="3200" spc="-210">
                <a:latin typeface="Calibri"/>
                <a:cs typeface="Calibri"/>
              </a:rPr>
              <a:t> </a:t>
            </a:r>
            <a:r>
              <a:rPr dirty="0" sz="3200" spc="-10">
                <a:latin typeface="Calibri"/>
                <a:cs typeface="Calibri"/>
              </a:rPr>
              <a:t>ROLE.</a:t>
            </a:r>
            <a:endParaRPr sz="3200">
              <a:latin typeface="Calibri"/>
              <a:cs typeface="Calibri"/>
            </a:endParaRPr>
          </a:p>
          <a:p>
            <a:pPr marL="12700" marR="5080" indent="164465">
              <a:lnSpc>
                <a:spcPct val="77700"/>
              </a:lnSpc>
              <a:spcBef>
                <a:spcPts val="415"/>
              </a:spcBef>
            </a:pPr>
            <a:r>
              <a:rPr dirty="0" sz="2200">
                <a:latin typeface="Calibri"/>
                <a:cs typeface="Calibri"/>
              </a:rPr>
              <a:t>ssign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114">
                <a:latin typeface="Calibri"/>
                <a:cs typeface="Calibri"/>
              </a:rPr>
              <a:t>a</a:t>
            </a:r>
            <a:r>
              <a:rPr dirty="0" sz="2200" spc="-20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persona</a:t>
            </a:r>
            <a:r>
              <a:rPr dirty="0" sz="220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(e.g., </a:t>
            </a:r>
            <a:r>
              <a:rPr dirty="0" sz="2200" spc="-45">
                <a:latin typeface="Calibri"/>
                <a:cs typeface="Calibri"/>
              </a:rPr>
              <a:t>Professor,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 spc="-20">
                <a:latin typeface="Calibri"/>
                <a:cs typeface="Calibri"/>
              </a:rPr>
              <a:t>Architect)</a:t>
            </a:r>
            <a:r>
              <a:rPr dirty="0" sz="2200" spc="30">
                <a:latin typeface="Calibri"/>
                <a:cs typeface="Calibri"/>
              </a:rPr>
              <a:t> </a:t>
            </a:r>
            <a:r>
              <a:rPr dirty="0" sz="2200" spc="-50">
                <a:latin typeface="Calibri"/>
                <a:cs typeface="Calibri"/>
              </a:rPr>
              <a:t>to</a:t>
            </a:r>
            <a:r>
              <a:rPr dirty="0" sz="2200" spc="-7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set</a:t>
            </a:r>
            <a:r>
              <a:rPr dirty="0" sz="2200" spc="-110">
                <a:latin typeface="Calibri"/>
                <a:cs typeface="Calibri"/>
              </a:rPr>
              <a:t> </a:t>
            </a:r>
            <a:r>
              <a:rPr dirty="0" sz="2200" spc="-30">
                <a:latin typeface="Calibri"/>
                <a:cs typeface="Calibri"/>
              </a:rPr>
              <a:t>tone.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77175" y="7163152"/>
            <a:ext cx="3544570" cy="10242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5400">
              <a:lnSpc>
                <a:spcPts val="3235"/>
              </a:lnSpc>
              <a:spcBef>
                <a:spcPts val="95"/>
              </a:spcBef>
            </a:pPr>
            <a:r>
              <a:rPr dirty="0" sz="2850">
                <a:latin typeface="Calibri"/>
                <a:cs typeface="Calibri"/>
              </a:rPr>
              <a:t>04</a:t>
            </a:r>
            <a:r>
              <a:rPr dirty="0" sz="2850" spc="105">
                <a:latin typeface="Calibri"/>
                <a:cs typeface="Calibri"/>
              </a:rPr>
              <a:t> </a:t>
            </a:r>
            <a:r>
              <a:rPr dirty="0" sz="2850" spc="-10">
                <a:latin typeface="Calibri"/>
                <a:cs typeface="Calibri"/>
              </a:rPr>
              <a:t>TASK.</a:t>
            </a:r>
            <a:endParaRPr sz="2850">
              <a:latin typeface="Calibri"/>
              <a:cs typeface="Calibri"/>
            </a:endParaRPr>
          </a:p>
          <a:p>
            <a:pPr marL="12700">
              <a:lnSpc>
                <a:spcPts val="2430"/>
              </a:lnSpc>
            </a:pPr>
            <a:r>
              <a:rPr dirty="0" sz="2400" spc="-25">
                <a:latin typeface="Calibri"/>
                <a:cs typeface="Calibri"/>
              </a:rPr>
              <a:t>Explicitly</a:t>
            </a:r>
            <a:r>
              <a:rPr dirty="0" sz="2400" spc="35">
                <a:latin typeface="Calibri"/>
                <a:cs typeface="Calibri"/>
              </a:rPr>
              <a:t> </a:t>
            </a:r>
            <a:r>
              <a:rPr dirty="0" sz="2400" spc="-90">
                <a:latin typeface="Calibri"/>
                <a:cs typeface="Calibri"/>
              </a:rPr>
              <a:t>state </a:t>
            </a:r>
            <a:r>
              <a:rPr dirty="0" sz="2400" spc="-140">
                <a:latin typeface="Calibri"/>
                <a:cs typeface="Calibri"/>
              </a:rPr>
              <a:t>the</a:t>
            </a:r>
            <a:r>
              <a:rPr dirty="0" sz="2400" spc="-8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actions</a:t>
            </a:r>
            <a:endParaRPr sz="2400">
              <a:latin typeface="Calibri"/>
              <a:cs typeface="Calibri"/>
            </a:endParaRPr>
          </a:p>
          <a:p>
            <a:pPr marL="20955">
              <a:lnSpc>
                <a:spcPts val="2195"/>
              </a:lnSpc>
            </a:pPr>
            <a:r>
              <a:rPr dirty="0" sz="2050" spc="-30">
                <a:latin typeface="Calibri"/>
                <a:cs typeface="Calibri"/>
              </a:rPr>
              <a:t>(Summarize,</a:t>
            </a:r>
            <a:r>
              <a:rPr dirty="0" sz="2050" spc="-20">
                <a:latin typeface="Calibri"/>
                <a:cs typeface="Calibri"/>
              </a:rPr>
              <a:t> </a:t>
            </a:r>
            <a:r>
              <a:rPr dirty="0" sz="2050">
                <a:latin typeface="Calibri"/>
                <a:cs typeface="Calibri"/>
              </a:rPr>
              <a:t>Generate,</a:t>
            </a:r>
            <a:r>
              <a:rPr dirty="0" sz="2050" spc="15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Critique).</a:t>
            </a:r>
            <a:endParaRPr sz="2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9700" y="9207500"/>
            <a:ext cx="9575800" cy="63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45600" y="7480300"/>
            <a:ext cx="469900" cy="5080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319500" y="7480300"/>
            <a:ext cx="469900" cy="508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92300" y="5372100"/>
            <a:ext cx="1181100" cy="10541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258300" y="2260600"/>
            <a:ext cx="457200" cy="469900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813620" y="8983133"/>
            <a:ext cx="0" cy="482600"/>
          </a:xfrm>
          <a:custGeom>
            <a:avLst/>
            <a:gdLst/>
            <a:ahLst/>
            <a:cxnLst/>
            <a:rect l="l" t="t" r="r" b="b"/>
            <a:pathLst>
              <a:path w="0" h="482600">
                <a:moveTo>
                  <a:pt x="0" y="482600"/>
                </a:moveTo>
                <a:lnTo>
                  <a:pt x="0" y="0"/>
                </a:lnTo>
              </a:path>
            </a:pathLst>
          </a:custGeom>
          <a:ln w="12700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/>
          <p:cNvGrpSpPr/>
          <p:nvPr/>
        </p:nvGrpSpPr>
        <p:grpSpPr>
          <a:xfrm>
            <a:off x="15807270" y="8983133"/>
            <a:ext cx="1320800" cy="482600"/>
            <a:chOff x="15807270" y="8983133"/>
            <a:chExt cx="1320800" cy="482600"/>
          </a:xfrm>
        </p:grpSpPr>
        <p:sp>
          <p:nvSpPr>
            <p:cNvPr id="9" name="object 9"/>
            <p:cNvSpPr/>
            <p:nvPr/>
          </p:nvSpPr>
          <p:spPr>
            <a:xfrm>
              <a:off x="17121720" y="8983133"/>
              <a:ext cx="0" cy="482600"/>
            </a:xfrm>
            <a:custGeom>
              <a:avLst/>
              <a:gdLst/>
              <a:ahLst/>
              <a:cxnLst/>
              <a:rect l="l" t="t" r="r" b="b"/>
              <a:pathLst>
                <a:path w="0" h="482600">
                  <a:moveTo>
                    <a:pt x="0" y="482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5807270" y="8989483"/>
              <a:ext cx="1320800" cy="0"/>
            </a:xfrm>
            <a:custGeom>
              <a:avLst/>
              <a:gdLst/>
              <a:ahLst/>
              <a:cxnLst/>
              <a:rect l="l" t="t" r="r" b="b"/>
              <a:pathLst>
                <a:path w="1320800" h="0">
                  <a:moveTo>
                    <a:pt x="0" y="0"/>
                  </a:moveTo>
                  <a:lnTo>
                    <a:pt x="1320800" y="0"/>
                  </a:lnTo>
                </a:path>
              </a:pathLst>
            </a:custGeom>
            <a:ln w="12700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807270" y="9459383"/>
              <a:ext cx="1320800" cy="0"/>
            </a:xfrm>
            <a:custGeom>
              <a:avLst/>
              <a:gdLst/>
              <a:ahLst/>
              <a:cxnLst/>
              <a:rect l="l" t="t" r="r" b="b"/>
              <a:pathLst>
                <a:path w="1320800" h="0">
                  <a:moveTo>
                    <a:pt x="0" y="0"/>
                  </a:moveTo>
                  <a:lnTo>
                    <a:pt x="1320800" y="0"/>
                  </a:lnTo>
                </a:path>
              </a:pathLst>
            </a:custGeom>
            <a:ln w="12700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626420" y="8983133"/>
              <a:ext cx="0" cy="482600"/>
            </a:xfrm>
            <a:custGeom>
              <a:avLst/>
              <a:gdLst/>
              <a:ahLst/>
              <a:cxnLst/>
              <a:rect l="l" t="t" r="r" b="b"/>
              <a:pathLst>
                <a:path w="0" h="482600">
                  <a:moveTo>
                    <a:pt x="0" y="4826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807270" y="9256183"/>
              <a:ext cx="825500" cy="0"/>
            </a:xfrm>
            <a:custGeom>
              <a:avLst/>
              <a:gdLst/>
              <a:ahLst/>
              <a:cxnLst/>
              <a:rect l="l" t="t" r="r" b="b"/>
              <a:pathLst>
                <a:path w="825500" h="0">
                  <a:moveTo>
                    <a:pt x="0" y="0"/>
                  </a:moveTo>
                  <a:lnTo>
                    <a:pt x="825500" y="0"/>
                  </a:lnTo>
                </a:path>
              </a:pathLst>
            </a:custGeom>
            <a:ln w="12700">
              <a:solidFill>
                <a:srgbClr val="5B5B5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12238566" y="7103533"/>
          <a:ext cx="3124200" cy="6851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300"/>
              </a:tblGrid>
              <a:tr h="397510">
                <a:tc>
                  <a:txBody>
                    <a:bodyPr/>
                    <a:lstStyle/>
                    <a:p>
                      <a:pPr marL="125730">
                        <a:lnSpc>
                          <a:spcPct val="100000"/>
                        </a:lnSpc>
                        <a:spcBef>
                          <a:spcPts val="165"/>
                        </a:spcBef>
                      </a:pPr>
                      <a:r>
                        <a:rPr dirty="0" sz="1800">
                          <a:latin typeface="Arial"/>
                          <a:cs typeface="Arial"/>
                        </a:rPr>
                        <a:t>CONTENT</a:t>
                      </a:r>
                      <a:r>
                        <a:rPr dirty="0" sz="1800" spc="-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10">
                          <a:latin typeface="Arial"/>
                          <a:cs typeface="Arial"/>
                        </a:rPr>
                        <a:t>REQUIREMENT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0955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</a:tr>
              <a:tr h="287655">
                <a:tc>
                  <a:txBody>
                    <a:bodyPr/>
                    <a:lstStyle/>
                    <a:p>
                      <a:pPr marL="135255">
                        <a:lnSpc>
                          <a:spcPts val="1255"/>
                        </a:lnSpc>
                        <a:tabLst>
                          <a:tab pos="621665" algn="l"/>
                          <a:tab pos="1604010" algn="l"/>
                        </a:tabLst>
                      </a:pPr>
                      <a:r>
                        <a:rPr dirty="0" sz="1100" spc="-10">
                          <a:solidFill>
                            <a:srgbClr val="262626"/>
                          </a:solidFill>
                          <a:latin typeface="Arial"/>
                          <a:cs typeface="Arial"/>
                        </a:rPr>
                        <a:t>type</a:t>
                      </a:r>
                      <a:r>
                        <a:rPr dirty="0" sz="1100" spc="-10">
                          <a:solidFill>
                            <a:srgbClr val="363636"/>
                          </a:solidFill>
                          <a:latin typeface="Arial"/>
                          <a:cs typeface="Arial"/>
                        </a:rPr>
                        <a:t>:</a:t>
                      </a:r>
                      <a:r>
                        <a:rPr dirty="0" sz="1100">
                          <a:solidFill>
                            <a:srgbClr val="363636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00" spc="-1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PRACTICAL</a:t>
                      </a:r>
                      <a:r>
                        <a:rPr dirty="0" sz="1100">
                          <a:solidFill>
                            <a:srgbClr val="131313"/>
                          </a:solidFill>
                          <a:latin typeface="Arial"/>
                          <a:cs typeface="Arial"/>
                        </a:rPr>
                        <a:t>	</a:t>
                      </a:r>
                      <a:r>
                        <a:rPr dirty="0" sz="1100" spc="-10">
                          <a:solidFill>
                            <a:srgbClr val="161616"/>
                          </a:solidFill>
                          <a:latin typeface="Arial"/>
                          <a:cs typeface="Arial"/>
                        </a:rPr>
                        <a:t>SPECIFIC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0">
                    <a:lnL w="12700">
                      <a:solidFill>
                        <a:srgbClr val="545454"/>
                      </a:solidFill>
                      <a:prstDash val="solid"/>
                    </a:lnL>
                    <a:lnR w="12700">
                      <a:solidFill>
                        <a:srgbClr val="545454"/>
                      </a:solidFill>
                      <a:prstDash val="solid"/>
                    </a:lnR>
                    <a:lnT w="12700">
                      <a:solidFill>
                        <a:srgbClr val="545454"/>
                      </a:solidFill>
                      <a:prstDash val="solid"/>
                    </a:lnT>
                    <a:lnB w="12700">
                      <a:solidFill>
                        <a:srgbClr val="545454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object 15"/>
          <p:cNvSpPr/>
          <p:nvPr/>
        </p:nvSpPr>
        <p:spPr>
          <a:xfrm>
            <a:off x="14461070" y="2633132"/>
            <a:ext cx="2273300" cy="698500"/>
          </a:xfrm>
          <a:custGeom>
            <a:avLst/>
            <a:gdLst/>
            <a:ahLst/>
            <a:cxnLst/>
            <a:rect l="l" t="t" r="r" b="b"/>
            <a:pathLst>
              <a:path w="2273300" h="698500">
                <a:moveTo>
                  <a:pt x="6350" y="698500"/>
                </a:moveTo>
                <a:lnTo>
                  <a:pt x="6350" y="0"/>
                </a:lnTo>
              </a:path>
              <a:path w="2273300" h="698500">
                <a:moveTo>
                  <a:pt x="0" y="6350"/>
                </a:moveTo>
                <a:lnTo>
                  <a:pt x="2273300" y="6350"/>
                </a:lnTo>
              </a:path>
            </a:pathLst>
          </a:custGeom>
          <a:ln w="12700">
            <a:solidFill>
              <a:srgbClr val="5B5B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03400" y="3060700"/>
            <a:ext cx="2921000" cy="2286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819900" y="3200400"/>
            <a:ext cx="114300" cy="57150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5829300" y="2984500"/>
            <a:ext cx="1155700" cy="381000"/>
            <a:chOff x="5829300" y="2984500"/>
            <a:chExt cx="1155700" cy="381000"/>
          </a:xfrm>
        </p:grpSpPr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829300" y="3098800"/>
              <a:ext cx="635000" cy="2667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89700" y="2984500"/>
              <a:ext cx="495300" cy="228600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612900" y="5511800"/>
            <a:ext cx="1092200" cy="4318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2057400" y="6273800"/>
            <a:ext cx="1320800" cy="2159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94200" y="6184900"/>
            <a:ext cx="12700" cy="2032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95900" y="5816600"/>
            <a:ext cx="1905000" cy="3937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866900" y="2590800"/>
            <a:ext cx="1612900" cy="4064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68800" y="2616200"/>
            <a:ext cx="1943100" cy="44450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892300" y="3302000"/>
            <a:ext cx="3492500" cy="4699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435600" y="3505200"/>
            <a:ext cx="901700" cy="33655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388100" y="2501900"/>
            <a:ext cx="1117600" cy="35560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5943600" y="3035300"/>
            <a:ext cx="1625600" cy="558800"/>
            <a:chOff x="5943600" y="3035300"/>
            <a:chExt cx="1625600" cy="55880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943600" y="3282950"/>
              <a:ext cx="1473200" cy="3111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42200" y="3035300"/>
              <a:ext cx="127000" cy="381000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2794000" y="5676900"/>
            <a:ext cx="2476500" cy="749300"/>
            <a:chOff x="2794000" y="5676900"/>
            <a:chExt cx="2476500" cy="749300"/>
          </a:xfrm>
        </p:grpSpPr>
        <p:pic>
          <p:nvPicPr>
            <p:cNvPr id="34" name="object 3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2794000" y="5676900"/>
              <a:ext cx="1536700" cy="425450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403600" y="6127750"/>
              <a:ext cx="977900" cy="298450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94200" y="5740400"/>
              <a:ext cx="876300" cy="406400"/>
            </a:xfrm>
            <a:prstGeom prst="rect">
              <a:avLst/>
            </a:prstGeom>
          </p:spPr>
        </p:pic>
      </p:grpSp>
      <p:pic>
        <p:nvPicPr>
          <p:cNvPr id="37" name="object 3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2103100" y="2819400"/>
            <a:ext cx="927100" cy="9271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5913100" y="9042400"/>
            <a:ext cx="1168400" cy="330200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524000" y="6019800"/>
            <a:ext cx="469900" cy="444500"/>
          </a:xfrm>
          <a:prstGeom prst="rect">
            <a:avLst/>
          </a:prstGeom>
        </p:spPr>
      </p:pic>
      <p:sp>
        <p:nvSpPr>
          <p:cNvPr id="40" name="object 40" descr="$PPTXTitle"/>
          <p:cNvSpPr txBox="1">
            <a:spLocks noGrp="1"/>
          </p:cNvSpPr>
          <p:nvPr>
            <p:ph type="title"/>
          </p:nvPr>
        </p:nvSpPr>
        <p:spPr>
          <a:xfrm>
            <a:off x="2371865" y="230011"/>
            <a:ext cx="12663805" cy="9994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350" spc="-100"/>
              <a:t>FROM</a:t>
            </a:r>
            <a:r>
              <a:rPr dirty="0" sz="6350" spc="-345"/>
              <a:t> </a:t>
            </a:r>
            <a:r>
              <a:rPr dirty="0" sz="6350" spc="-10"/>
              <a:t>AMBIGUITY</a:t>
            </a:r>
            <a:r>
              <a:rPr dirty="0" sz="6350" spc="-380"/>
              <a:t> </a:t>
            </a:r>
            <a:r>
              <a:rPr dirty="0" sz="6350" spc="-229"/>
              <a:t>TO</a:t>
            </a:r>
            <a:r>
              <a:rPr dirty="0" sz="6350" spc="-335"/>
              <a:t> </a:t>
            </a:r>
            <a:r>
              <a:rPr dirty="0" sz="6350" spc="-125"/>
              <a:t>PRECISION</a:t>
            </a:r>
            <a:endParaRPr sz="6350"/>
          </a:p>
        </p:txBody>
      </p:sp>
      <p:sp>
        <p:nvSpPr>
          <p:cNvPr id="41" name="object 41"/>
          <p:cNvSpPr txBox="1"/>
          <p:nvPr/>
        </p:nvSpPr>
        <p:spPr>
          <a:xfrm>
            <a:off x="2428866" y="1585736"/>
            <a:ext cx="1305306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8101965" algn="l"/>
              </a:tabLst>
            </a:pPr>
            <a:r>
              <a:rPr dirty="0" sz="3250" spc="-220">
                <a:latin typeface="Arial"/>
                <a:cs typeface="Arial"/>
              </a:rPr>
              <a:t>THE</a:t>
            </a:r>
            <a:r>
              <a:rPr dirty="0" sz="3250" spc="-235">
                <a:latin typeface="Arial"/>
                <a:cs typeface="Arial"/>
              </a:rPr>
              <a:t> </a:t>
            </a:r>
            <a:r>
              <a:rPr dirty="0" sz="3250" spc="-210">
                <a:latin typeface="Arial"/>
                <a:cs typeface="Arial"/>
              </a:rPr>
              <a:t>SIMPLE</a:t>
            </a:r>
            <a:r>
              <a:rPr dirty="0" sz="3250" spc="-40">
                <a:latin typeface="Arial"/>
                <a:cs typeface="Arial"/>
              </a:rPr>
              <a:t> </a:t>
            </a:r>
            <a:r>
              <a:rPr dirty="0" sz="3250" spc="-10">
                <a:latin typeface="Arial"/>
                <a:cs typeface="Arial"/>
              </a:rPr>
              <a:t>PROMPT</a:t>
            </a:r>
            <a:r>
              <a:rPr dirty="0" sz="3250">
                <a:latin typeface="Arial"/>
                <a:cs typeface="Arial"/>
              </a:rPr>
              <a:t>	</a:t>
            </a:r>
            <a:r>
              <a:rPr dirty="0" sz="3250" spc="-220">
                <a:latin typeface="Arial"/>
                <a:cs typeface="Arial"/>
              </a:rPr>
              <a:t>THE</a:t>
            </a:r>
            <a:r>
              <a:rPr dirty="0" sz="3250" spc="-260">
                <a:latin typeface="Arial"/>
                <a:cs typeface="Arial"/>
              </a:rPr>
              <a:t> </a:t>
            </a:r>
            <a:r>
              <a:rPr dirty="0" sz="3250" spc="-285">
                <a:latin typeface="Arial"/>
                <a:cs typeface="Arial"/>
              </a:rPr>
              <a:t>ENGINEERED</a:t>
            </a:r>
            <a:r>
              <a:rPr dirty="0" sz="3250" spc="140">
                <a:latin typeface="Arial"/>
                <a:cs typeface="Arial"/>
              </a:rPr>
              <a:t> </a:t>
            </a:r>
            <a:r>
              <a:rPr dirty="0" sz="3250" spc="-195">
                <a:latin typeface="Arial"/>
                <a:cs typeface="Arial"/>
              </a:rPr>
              <a:t>PROMPT</a:t>
            </a:r>
            <a:endParaRPr sz="325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437755" y="3365500"/>
            <a:ext cx="104139" cy="215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50">
                <a:solidFill>
                  <a:srgbClr val="8C8C8C"/>
                </a:solidFill>
                <a:latin typeface="Arial"/>
                <a:cs typeface="Arial"/>
              </a:rPr>
              <a:t>1</a:t>
            </a:r>
            <a:endParaRPr sz="125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54989" y="3770269"/>
            <a:ext cx="6523990" cy="138049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algn="r" marR="357505">
              <a:lnSpc>
                <a:spcPct val="100000"/>
              </a:lnSpc>
              <a:spcBef>
                <a:spcPts val="710"/>
              </a:spcBef>
            </a:pPr>
            <a:r>
              <a:rPr dirty="0" sz="3850" spc="-1075">
                <a:solidFill>
                  <a:srgbClr val="8A8A8A"/>
                </a:solidFill>
                <a:latin typeface="Arial"/>
                <a:cs typeface="Arial"/>
              </a:rPr>
              <a:t>İ</a:t>
            </a:r>
            <a:endParaRPr sz="38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dirty="0" sz="4000" spc="220">
                <a:latin typeface="Arial"/>
                <a:cs typeface="Arial"/>
              </a:rPr>
              <a:t>Explain</a:t>
            </a:r>
            <a:r>
              <a:rPr dirty="0" sz="4000" spc="819">
                <a:latin typeface="Arial"/>
                <a:cs typeface="Arial"/>
              </a:rPr>
              <a:t> </a:t>
            </a:r>
            <a:r>
              <a:rPr dirty="0" sz="4000">
                <a:latin typeface="Arial"/>
                <a:cs typeface="Arial"/>
              </a:rPr>
              <a:t>machine</a:t>
            </a:r>
            <a:r>
              <a:rPr dirty="0" sz="4000" spc="30">
                <a:latin typeface="Arial"/>
                <a:cs typeface="Arial"/>
              </a:rPr>
              <a:t>  </a:t>
            </a:r>
            <a:r>
              <a:rPr dirty="0" sz="4000" spc="305">
                <a:latin typeface="Arial"/>
                <a:cs typeface="Arial"/>
              </a:rPr>
              <a:t>learning</a:t>
            </a:r>
            <a:endParaRPr sz="400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987995" y="5896327"/>
            <a:ext cx="75628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45">
                <a:solidFill>
                  <a:srgbClr val="313131"/>
                </a:solidFill>
                <a:latin typeface="Arial"/>
                <a:cs typeface="Arial"/>
              </a:rPr>
              <a:t>ming!</a:t>
            </a:r>
            <a:endParaRPr sz="22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081616" y="6957483"/>
            <a:ext cx="6832600" cy="965200"/>
          </a:xfrm>
          <a:prstGeom prst="rect">
            <a:avLst/>
          </a:prstGeom>
          <a:ln w="12700">
            <a:solidFill>
              <a:srgbClr val="4F4F4F"/>
            </a:solidFill>
          </a:ln>
        </p:spPr>
        <p:txBody>
          <a:bodyPr wrap="square" lIns="0" tIns="66675" rIns="0" bIns="0" rtlCol="0" vert="horz">
            <a:spAutoFit/>
          </a:bodyPr>
          <a:lstStyle/>
          <a:p>
            <a:pPr marL="215265" marR="563245" indent="-15240">
              <a:lnSpc>
                <a:spcPts val="2800"/>
              </a:lnSpc>
              <a:spcBef>
                <a:spcPts val="525"/>
              </a:spcBef>
              <a:tabLst>
                <a:tab pos="3075305" algn="l"/>
                <a:tab pos="4272280" algn="l"/>
              </a:tabLst>
            </a:pPr>
            <a:r>
              <a:rPr dirty="0" sz="2550" spc="150">
                <a:latin typeface="Arial"/>
                <a:cs typeface="Arial"/>
              </a:rPr>
              <a:t>Result:</a:t>
            </a:r>
            <a:r>
              <a:rPr dirty="0" sz="2550" spc="125">
                <a:latin typeface="Arial"/>
                <a:cs typeface="Arial"/>
              </a:rPr>
              <a:t>  </a:t>
            </a:r>
            <a:r>
              <a:rPr dirty="0" sz="2550" spc="-10">
                <a:latin typeface="Arial"/>
                <a:cs typeface="Arial"/>
              </a:rPr>
              <a:t>Generic,</a:t>
            </a:r>
            <a:r>
              <a:rPr dirty="0" sz="2550">
                <a:latin typeface="Arial"/>
                <a:cs typeface="Arial"/>
              </a:rPr>
              <a:t>	</a:t>
            </a:r>
            <a:r>
              <a:rPr dirty="0" sz="2550" spc="-10">
                <a:latin typeface="Arial"/>
                <a:cs typeface="Arial"/>
              </a:rPr>
              <a:t>broad,</a:t>
            </a:r>
            <a:r>
              <a:rPr dirty="0" sz="2550">
                <a:latin typeface="Arial"/>
                <a:cs typeface="Arial"/>
              </a:rPr>
              <a:t>	</a:t>
            </a:r>
            <a:r>
              <a:rPr dirty="0" sz="2550" spc="50">
                <a:latin typeface="Arial"/>
                <a:cs typeface="Arial"/>
              </a:rPr>
              <a:t>textbook </a:t>
            </a:r>
            <a:r>
              <a:rPr dirty="0" sz="2550" spc="290">
                <a:latin typeface="Arial"/>
                <a:cs typeface="Arial"/>
              </a:rPr>
              <a:t>definition</a:t>
            </a:r>
            <a:r>
              <a:rPr dirty="0" sz="2550" spc="20">
                <a:latin typeface="Arial"/>
                <a:cs typeface="Arial"/>
              </a:rPr>
              <a:t>  </a:t>
            </a:r>
            <a:r>
              <a:rPr dirty="0" sz="2550" spc="165">
                <a:latin typeface="Arial"/>
                <a:cs typeface="Arial"/>
              </a:rPr>
              <a:t>lacking</a:t>
            </a:r>
            <a:r>
              <a:rPr dirty="0" sz="2550" spc="30">
                <a:latin typeface="Arial"/>
                <a:cs typeface="Arial"/>
              </a:rPr>
              <a:t>  </a:t>
            </a:r>
            <a:r>
              <a:rPr dirty="0" sz="2550" spc="229">
                <a:latin typeface="Arial"/>
                <a:cs typeface="Arial"/>
              </a:rPr>
              <a:t>specific</a:t>
            </a:r>
            <a:r>
              <a:rPr dirty="0" sz="2550" spc="70">
                <a:latin typeface="Arial"/>
                <a:cs typeface="Arial"/>
              </a:rPr>
              <a:t>  </a:t>
            </a:r>
            <a:r>
              <a:rPr dirty="0" sz="2550" spc="480">
                <a:latin typeface="Arial"/>
                <a:cs typeface="Arial"/>
              </a:rPr>
              <a:t>utility.</a:t>
            </a:r>
            <a:endParaRPr sz="25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4579955" y="2642305"/>
            <a:ext cx="218567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03755" algn="l"/>
              </a:tabLst>
            </a:pPr>
            <a:r>
              <a:rPr dirty="0" sz="1950" spc="-10">
                <a:latin typeface="Arial"/>
                <a:cs typeface="Arial"/>
              </a:rPr>
              <a:t>CONSTRAINT</a:t>
            </a:r>
            <a:r>
              <a:rPr dirty="0" sz="1950">
                <a:latin typeface="Arial"/>
                <a:cs typeface="Arial"/>
              </a:rPr>
              <a:t>	</a:t>
            </a:r>
            <a:r>
              <a:rPr dirty="0" sz="1950" spc="-50">
                <a:solidFill>
                  <a:srgbClr val="2D2D2D"/>
                </a:solidFill>
                <a:latin typeface="Arial"/>
                <a:cs typeface="Arial"/>
              </a:rPr>
              <a:t>t</a:t>
            </a:r>
            <a:endParaRPr sz="19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4467420" y="3037417"/>
            <a:ext cx="2260600" cy="288290"/>
          </a:xfrm>
          <a:prstGeom prst="rect">
            <a:avLst/>
          </a:prstGeom>
          <a:ln w="12700">
            <a:solidFill>
              <a:srgbClr val="5B5B5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 marL="128905">
              <a:lnSpc>
                <a:spcPts val="1395"/>
              </a:lnSpc>
            </a:pPr>
            <a:r>
              <a:rPr dirty="0" sz="1300" spc="105">
                <a:solidFill>
                  <a:srgbClr val="464646"/>
                </a:solidFill>
                <a:latin typeface="Arial"/>
                <a:cs typeface="Arial"/>
              </a:rPr>
              <a:t>Cpu</a:t>
            </a:r>
            <a:r>
              <a:rPr dirty="0" sz="1300" spc="105">
                <a:latin typeface="Arial"/>
                <a:cs typeface="Arial"/>
              </a:rPr>
              <a:t>lexi</a:t>
            </a:r>
            <a:r>
              <a:rPr dirty="0" sz="1300" spc="105">
                <a:solidFill>
                  <a:srgbClr val="131313"/>
                </a:solidFill>
                <a:latin typeface="Arial"/>
                <a:cs typeface="Arial"/>
              </a:rPr>
              <a:t>ty</a:t>
            </a:r>
            <a:r>
              <a:rPr dirty="0" sz="1300" spc="-175">
                <a:solidFill>
                  <a:srgbClr val="131313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4D4D4D"/>
                </a:solidFill>
                <a:latin typeface="Arial"/>
                <a:cs typeface="Arial"/>
              </a:rPr>
              <a:t>:</a:t>
            </a:r>
            <a:r>
              <a:rPr dirty="0" sz="1300" spc="385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75">
                <a:latin typeface="Arial"/>
                <a:cs typeface="Arial"/>
              </a:rPr>
              <a:t>LV</a:t>
            </a:r>
            <a:r>
              <a:rPr dirty="0" sz="1300" spc="125">
                <a:latin typeface="Arial"/>
                <a:cs typeface="Arial"/>
              </a:rPr>
              <a:t>  </a:t>
            </a:r>
            <a:r>
              <a:rPr dirty="0" sz="1300">
                <a:solidFill>
                  <a:srgbClr val="4D4D4D"/>
                </a:solidFill>
                <a:latin typeface="Arial"/>
                <a:cs typeface="Arial"/>
              </a:rPr>
              <a:t>/</a:t>
            </a:r>
            <a:r>
              <a:rPr dirty="0" sz="1300" spc="409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dirty="0" sz="1300" spc="-290">
                <a:solidFill>
                  <a:srgbClr val="111111"/>
                </a:solidFill>
                <a:latin typeface="Arial"/>
                <a:cs typeface="Arial"/>
              </a:rPr>
              <a:t>OEF</a:t>
            </a:r>
            <a:r>
              <a:rPr dirty="0" sz="1300" spc="-165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dirty="0" sz="1300" spc="-20">
                <a:latin typeface="Arial"/>
                <a:cs typeface="Arial"/>
              </a:rPr>
              <a:t>ZhEb</a:t>
            </a:r>
            <a:endParaRPr sz="13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646206" y="3571875"/>
            <a:ext cx="6659880" cy="692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4350" spc="114">
                <a:latin typeface="Arial"/>
                <a:cs typeface="Arial"/>
              </a:rPr>
              <a:t>Explain</a:t>
            </a:r>
            <a:r>
              <a:rPr dirty="0" sz="4350" spc="555">
                <a:latin typeface="Arial"/>
                <a:cs typeface="Arial"/>
              </a:rPr>
              <a:t> </a:t>
            </a:r>
            <a:r>
              <a:rPr dirty="0" sz="4350" spc="-95">
                <a:latin typeface="Arial"/>
                <a:cs typeface="Arial"/>
              </a:rPr>
              <a:t>machine</a:t>
            </a:r>
            <a:r>
              <a:rPr dirty="0" sz="4350" spc="905">
                <a:latin typeface="Arial"/>
                <a:cs typeface="Arial"/>
              </a:rPr>
              <a:t> </a:t>
            </a:r>
            <a:r>
              <a:rPr dirty="0" sz="4350" spc="195">
                <a:latin typeface="Arial"/>
                <a:cs typeface="Arial"/>
              </a:rPr>
              <a:t>learning</a:t>
            </a:r>
            <a:endParaRPr sz="43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655756" y="4165952"/>
            <a:ext cx="5161280" cy="650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55980" algn="l"/>
              </a:tabLst>
            </a:pPr>
            <a:r>
              <a:rPr dirty="0" sz="4100" spc="145">
                <a:latin typeface="Arial"/>
                <a:cs typeface="Arial"/>
              </a:rPr>
              <a:t>in</a:t>
            </a:r>
            <a:r>
              <a:rPr dirty="0" sz="4100">
                <a:latin typeface="Arial"/>
                <a:cs typeface="Arial"/>
              </a:rPr>
              <a:t>	</a:t>
            </a:r>
            <a:r>
              <a:rPr dirty="0" sz="4100" spc="75">
                <a:latin typeface="Arial"/>
                <a:cs typeface="Arial"/>
              </a:rPr>
              <a:t>sînp1e</a:t>
            </a:r>
            <a:r>
              <a:rPr dirty="0" sz="4100" spc="100">
                <a:latin typeface="Arial"/>
                <a:cs typeface="Arial"/>
              </a:rPr>
              <a:t>  </a:t>
            </a:r>
            <a:r>
              <a:rPr dirty="0" sz="4100" spc="240">
                <a:latin typeface="Arial"/>
                <a:cs typeface="Arial"/>
              </a:rPr>
              <a:t>terøs</a:t>
            </a:r>
            <a:r>
              <a:rPr dirty="0" sz="4100" spc="155">
                <a:latin typeface="Arial"/>
                <a:cs typeface="Arial"/>
              </a:rPr>
              <a:t>  </a:t>
            </a:r>
            <a:r>
              <a:rPr dirty="0" sz="4100" spc="180">
                <a:latin typeface="Arial"/>
                <a:cs typeface="Arial"/>
              </a:rPr>
              <a:t>for</a:t>
            </a:r>
            <a:endParaRPr sz="41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56233" y="4715933"/>
            <a:ext cx="6084570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55">
                <a:latin typeface="Arial"/>
                <a:cs typeface="Arial"/>
              </a:rPr>
              <a:t>undergraduate</a:t>
            </a:r>
            <a:r>
              <a:rPr dirty="0" sz="4150" spc="170">
                <a:latin typeface="Arial"/>
                <a:cs typeface="Arial"/>
              </a:rPr>
              <a:t>  </a:t>
            </a:r>
            <a:r>
              <a:rPr dirty="0" sz="4150" spc="165">
                <a:latin typeface="Arial"/>
                <a:cs typeface="Arial"/>
              </a:rPr>
              <a:t>students</a:t>
            </a:r>
            <a:endParaRPr sz="41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657361" y="5292372"/>
            <a:ext cx="4404360" cy="1198245"/>
          </a:xfrm>
          <a:prstGeom prst="rect">
            <a:avLst/>
          </a:prstGeom>
        </p:spPr>
        <p:txBody>
          <a:bodyPr wrap="square" lIns="0" tIns="76835" rIns="0" bIns="0" rtlCol="0" vert="horz">
            <a:spAutoFit/>
          </a:bodyPr>
          <a:lstStyle/>
          <a:p>
            <a:pPr marL="13335" marR="5080" indent="-1270">
              <a:lnSpc>
                <a:spcPts val="4400"/>
              </a:lnSpc>
              <a:spcBef>
                <a:spcPts val="605"/>
              </a:spcBef>
            </a:pPr>
            <a:r>
              <a:rPr dirty="0" sz="4000">
                <a:latin typeface="Arial"/>
                <a:cs typeface="Arial"/>
              </a:rPr>
              <a:t>us1ng</a:t>
            </a:r>
            <a:r>
              <a:rPr dirty="0" sz="4000" spc="50">
                <a:latin typeface="Arial"/>
                <a:cs typeface="Arial"/>
              </a:rPr>
              <a:t>  </a:t>
            </a:r>
            <a:r>
              <a:rPr dirty="0" sz="4000" spc="65">
                <a:latin typeface="Arial"/>
                <a:cs typeface="Arial"/>
              </a:rPr>
              <a:t>rea1-</a:t>
            </a:r>
            <a:r>
              <a:rPr dirty="0" sz="4000" spc="70">
                <a:latin typeface="Arial"/>
                <a:cs typeface="Arial"/>
              </a:rPr>
              <a:t>wor1d </a:t>
            </a:r>
            <a:r>
              <a:rPr dirty="0" sz="4000" spc="45">
                <a:latin typeface="Arial"/>
                <a:cs typeface="Arial"/>
              </a:rPr>
              <a:t>examples.</a:t>
            </a:r>
            <a:endParaRPr sz="4000">
              <a:latin typeface="Arial"/>
              <a:cs typeface="Arial"/>
            </a:endParaRPr>
          </a:p>
        </p:txBody>
      </p:sp>
      <p:graphicFrame>
        <p:nvGraphicFramePr>
          <p:cNvPr id="52" name="object 52"/>
          <p:cNvGraphicFramePr>
            <a:graphicFrameLocks noGrp="1"/>
          </p:cNvGraphicFramePr>
          <p:nvPr/>
        </p:nvGraphicFramePr>
        <p:xfrm>
          <a:off x="14448370" y="5871633"/>
          <a:ext cx="2667000" cy="685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8100"/>
              </a:tblGrid>
              <a:tr h="393700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r>
                        <a:rPr dirty="0" sz="1850" spc="-10">
                          <a:latin typeface="Arial"/>
                          <a:cs typeface="Arial"/>
                        </a:rPr>
                        <a:t>AUDIENCE/CONTEXT</a:t>
                      </a:r>
                      <a:endParaRPr sz="1850">
                        <a:latin typeface="Arial"/>
                        <a:cs typeface="Arial"/>
                      </a:endParaRPr>
                    </a:p>
                  </a:txBody>
                  <a:tcPr marL="0" marR="0" marB="0" marT="27305">
                    <a:lnL w="12700">
                      <a:solidFill>
                        <a:srgbClr val="5B5B57"/>
                      </a:solidFill>
                      <a:prstDash val="solid"/>
                    </a:lnL>
                    <a:lnR w="12700">
                      <a:solidFill>
                        <a:srgbClr val="5B5B57"/>
                      </a:solidFill>
                      <a:prstDash val="solid"/>
                    </a:lnR>
                    <a:lnT w="12700">
                      <a:solidFill>
                        <a:srgbClr val="5B5B57"/>
                      </a:solidFill>
                      <a:prstDash val="solid"/>
                    </a:lnT>
                    <a:lnB w="12700">
                      <a:solidFill>
                        <a:srgbClr val="5B5B57"/>
                      </a:solidFill>
                      <a:prstDash val="soli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marL="69786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1100" spc="-145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UNDERGRAD</a:t>
                      </a:r>
                      <a:r>
                        <a:rPr dirty="0" sz="1100" spc="470">
                          <a:solidFill>
                            <a:srgbClr val="0C0C0C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/</a:t>
                      </a:r>
                      <a:r>
                        <a:rPr dirty="0" sz="1100" spc="465">
                          <a:solidFill>
                            <a:srgbClr val="2F2F2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100" spc="-10">
                          <a:solidFill>
                            <a:srgbClr val="232323"/>
                          </a:solidFill>
                          <a:latin typeface="Arial"/>
                          <a:cs typeface="Arial"/>
                        </a:rPr>
                        <a:t>TARGETED</a:t>
                      </a:r>
                      <a:endParaRPr sz="1100">
                        <a:latin typeface="Arial"/>
                        <a:cs typeface="Arial"/>
                      </a:endParaRPr>
                    </a:p>
                  </a:txBody>
                  <a:tcPr marL="0" marR="0" marB="0" marT="8255">
                    <a:lnL w="12700">
                      <a:solidFill>
                        <a:srgbClr val="5B5B57"/>
                      </a:solidFill>
                      <a:prstDash val="solid"/>
                    </a:lnL>
                    <a:lnR w="12700">
                      <a:solidFill>
                        <a:srgbClr val="5B5B57"/>
                      </a:solidFill>
                      <a:prstDash val="solid"/>
                    </a:lnR>
                    <a:lnT w="12700">
                      <a:solidFill>
                        <a:srgbClr val="5B5B57"/>
                      </a:solidFill>
                      <a:prstDash val="solid"/>
                    </a:lnT>
                    <a:lnB w="12700">
                      <a:solidFill>
                        <a:srgbClr val="5B5B5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3" name="object 53"/>
          <p:cNvSpPr txBox="1"/>
          <p:nvPr/>
        </p:nvSpPr>
        <p:spPr>
          <a:xfrm>
            <a:off x="3910832" y="8452908"/>
            <a:ext cx="9638665" cy="7556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4800">
                <a:latin typeface="Arial"/>
                <a:cs typeface="Arial"/>
              </a:rPr>
              <a:t>Quality</a:t>
            </a:r>
            <a:r>
              <a:rPr dirty="0" sz="4800" spc="-50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of</a:t>
            </a:r>
            <a:r>
              <a:rPr dirty="0" sz="4800" spc="-185">
                <a:latin typeface="Arial"/>
                <a:cs typeface="Arial"/>
              </a:rPr>
              <a:t> </a:t>
            </a:r>
            <a:r>
              <a:rPr dirty="0" sz="4800" spc="60">
                <a:latin typeface="Arial"/>
                <a:cs typeface="Arial"/>
              </a:rPr>
              <a:t>Input</a:t>
            </a:r>
            <a:r>
              <a:rPr dirty="0" sz="4800" spc="-70">
                <a:latin typeface="Arial"/>
                <a:cs typeface="Arial"/>
              </a:rPr>
              <a:t> </a:t>
            </a:r>
            <a:r>
              <a:rPr dirty="0" sz="4800" spc="80">
                <a:latin typeface="Arial"/>
                <a:cs typeface="Arial"/>
              </a:rPr>
              <a:t>=</a:t>
            </a:r>
            <a:r>
              <a:rPr dirty="0" sz="4800" spc="-345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Quality</a:t>
            </a:r>
            <a:r>
              <a:rPr dirty="0" sz="4800" spc="-95">
                <a:latin typeface="Arial"/>
                <a:cs typeface="Arial"/>
              </a:rPr>
              <a:t> </a:t>
            </a:r>
            <a:r>
              <a:rPr dirty="0" sz="4800">
                <a:latin typeface="Arial"/>
                <a:cs typeface="Arial"/>
              </a:rPr>
              <a:t>of</a:t>
            </a:r>
            <a:r>
              <a:rPr dirty="0" sz="4800" spc="-65">
                <a:latin typeface="Arial"/>
                <a:cs typeface="Arial"/>
              </a:rPr>
              <a:t> </a:t>
            </a:r>
            <a:r>
              <a:rPr dirty="0" sz="4800" spc="50">
                <a:latin typeface="Arial"/>
                <a:cs typeface="Arial"/>
              </a:rPr>
              <a:t>Output.</a:t>
            </a:r>
            <a:endParaRPr sz="4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6107423" y="9439980"/>
            <a:ext cx="123253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 spc="50">
                <a:latin typeface="Arial"/>
                <a:cs typeface="Arial"/>
              </a:rPr>
              <a:t>G</a:t>
            </a:r>
            <a:r>
              <a:rPr dirty="0" sz="1300" spc="434">
                <a:latin typeface="Arial"/>
                <a:cs typeface="Arial"/>
              </a:rPr>
              <a:t> </a:t>
            </a:r>
            <a:r>
              <a:rPr dirty="0" sz="1300" spc="-10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5900" y="2717800"/>
            <a:ext cx="5905500" cy="43053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27800" y="5772150"/>
            <a:ext cx="1098550" cy="41275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8100" y="3048000"/>
            <a:ext cx="6311900" cy="22987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855700" y="3213100"/>
            <a:ext cx="495300" cy="177800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697018" y="245533"/>
            <a:ext cx="16032480" cy="8509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5400" spc="-385"/>
              <a:t>NARROWING</a:t>
            </a:r>
            <a:r>
              <a:rPr dirty="0" sz="5400" spc="-45"/>
              <a:t> </a:t>
            </a:r>
            <a:r>
              <a:rPr dirty="0" sz="5400" spc="-330"/>
              <a:t>THE</a:t>
            </a:r>
            <a:r>
              <a:rPr dirty="0" sz="5400" spc="-570"/>
              <a:t> </a:t>
            </a:r>
            <a:r>
              <a:rPr dirty="0" sz="5400" spc="-380"/>
              <a:t>SEARCH</a:t>
            </a:r>
            <a:r>
              <a:rPr dirty="0" sz="5400" spc="-305"/>
              <a:t> </a:t>
            </a:r>
            <a:r>
              <a:rPr dirty="0" sz="5400" spc="-335"/>
              <a:t>SPACE:</a:t>
            </a:r>
            <a:r>
              <a:rPr dirty="0" sz="5400" spc="-575"/>
              <a:t> </a:t>
            </a:r>
            <a:r>
              <a:rPr dirty="0" sz="5400" spc="-340"/>
              <a:t>CONTEXT</a:t>
            </a:r>
            <a:r>
              <a:rPr dirty="0" sz="5400" spc="20"/>
              <a:t> </a:t>
            </a:r>
            <a:r>
              <a:rPr dirty="0" sz="5400" spc="70"/>
              <a:t>&amp;</a:t>
            </a:r>
            <a:r>
              <a:rPr dirty="0" sz="5400" spc="-780"/>
              <a:t> </a:t>
            </a:r>
            <a:r>
              <a:rPr dirty="0" sz="5400" spc="-395"/>
              <a:t>ROLE</a:t>
            </a:r>
            <a:endParaRPr sz="5400"/>
          </a:p>
        </p:txBody>
      </p:sp>
      <p:sp>
        <p:nvSpPr>
          <p:cNvPr id="7" name="object 7"/>
          <p:cNvSpPr txBox="1"/>
          <p:nvPr/>
        </p:nvSpPr>
        <p:spPr>
          <a:xfrm>
            <a:off x="9915339" y="1592438"/>
            <a:ext cx="3658870" cy="5759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3600">
                <a:latin typeface="Calibri"/>
                <a:cs typeface="Calibri"/>
              </a:rPr>
              <a:t>THE</a:t>
            </a:r>
            <a:r>
              <a:rPr dirty="0" sz="3600" spc="-145">
                <a:latin typeface="Calibri"/>
                <a:cs typeface="Calibri"/>
              </a:rPr>
              <a:t> </a:t>
            </a:r>
            <a:r>
              <a:rPr dirty="0" sz="3600">
                <a:latin typeface="Calibri"/>
                <a:cs typeface="Calibri"/>
              </a:rPr>
              <a:t>CONTEXT</a:t>
            </a:r>
            <a:r>
              <a:rPr dirty="0" sz="3600" spc="20">
                <a:latin typeface="Calibri"/>
                <a:cs typeface="Calibri"/>
              </a:rPr>
              <a:t> </a:t>
            </a:r>
            <a:r>
              <a:rPr dirty="0" sz="3600" spc="-20">
                <a:latin typeface="Calibri"/>
                <a:cs typeface="Calibri"/>
              </a:rPr>
              <a:t>LENS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781116" y="2220382"/>
            <a:ext cx="6464300" cy="812800"/>
          </a:xfrm>
          <a:prstGeom prst="rect">
            <a:avLst/>
          </a:prstGeom>
          <a:ln w="12700">
            <a:solidFill>
              <a:srgbClr val="3B3B38"/>
            </a:solidFill>
          </a:ln>
        </p:spPr>
        <p:txBody>
          <a:bodyPr wrap="square" lIns="0" tIns="52705" rIns="0" bIns="0" rtlCol="0" vert="horz">
            <a:spAutoFit/>
          </a:bodyPr>
          <a:lstStyle/>
          <a:p>
            <a:pPr marL="148590" marR="143510" indent="-10795">
              <a:lnSpc>
                <a:spcPts val="2500"/>
              </a:lnSpc>
              <a:spcBef>
                <a:spcPts val="415"/>
              </a:spcBef>
            </a:pPr>
            <a:r>
              <a:rPr dirty="0" sz="2300" spc="-10">
                <a:latin typeface="Consolas"/>
                <a:cs typeface="Consolas"/>
              </a:rPr>
              <a:t>Input:</a:t>
            </a:r>
            <a:r>
              <a:rPr dirty="0" sz="2300" spc="-265">
                <a:latin typeface="Consolas"/>
                <a:cs typeface="Consolas"/>
              </a:rPr>
              <a:t> </a:t>
            </a:r>
            <a:r>
              <a:rPr dirty="0" sz="2300" spc="-105">
                <a:latin typeface="Consolas"/>
                <a:cs typeface="Consolas"/>
              </a:rPr>
              <a:t>“You</a:t>
            </a:r>
            <a:r>
              <a:rPr dirty="0" sz="2300" spc="-215">
                <a:latin typeface="Consolas"/>
                <a:cs typeface="Consolas"/>
              </a:rPr>
              <a:t> </a:t>
            </a:r>
            <a:r>
              <a:rPr dirty="0" sz="2300" spc="-10">
                <a:latin typeface="Consolas"/>
                <a:cs typeface="Consolas"/>
              </a:rPr>
              <a:t>are</a:t>
            </a:r>
            <a:r>
              <a:rPr dirty="0" sz="2300" spc="-260">
                <a:latin typeface="Consolas"/>
                <a:cs typeface="Consolas"/>
              </a:rPr>
              <a:t> </a:t>
            </a:r>
            <a:r>
              <a:rPr dirty="0" sz="2300" spc="-70">
                <a:latin typeface="Consolas"/>
                <a:cs typeface="Consolas"/>
              </a:rPr>
              <a:t>teaching</a:t>
            </a:r>
            <a:r>
              <a:rPr dirty="0" sz="2300" spc="-135">
                <a:latin typeface="Consolas"/>
                <a:cs typeface="Consolas"/>
              </a:rPr>
              <a:t> </a:t>
            </a:r>
            <a:r>
              <a:rPr dirty="0" sz="2300">
                <a:latin typeface="Consolas"/>
                <a:cs typeface="Consolas"/>
              </a:rPr>
              <a:t>an</a:t>
            </a:r>
            <a:r>
              <a:rPr dirty="0" sz="2300" spc="-315">
                <a:latin typeface="Consolas"/>
                <a:cs typeface="Consolas"/>
              </a:rPr>
              <a:t> </a:t>
            </a:r>
            <a:r>
              <a:rPr dirty="0" sz="2300" spc="-80">
                <a:latin typeface="Consolas"/>
                <a:cs typeface="Consolas"/>
              </a:rPr>
              <a:t>undergraduate </a:t>
            </a:r>
            <a:r>
              <a:rPr dirty="0" sz="2300">
                <a:latin typeface="Consolas"/>
                <a:cs typeface="Consolas"/>
              </a:rPr>
              <a:t>AI</a:t>
            </a:r>
            <a:r>
              <a:rPr dirty="0" sz="2300" spc="-280">
                <a:latin typeface="Consolas"/>
                <a:cs typeface="Consolas"/>
              </a:rPr>
              <a:t> </a:t>
            </a:r>
            <a:r>
              <a:rPr dirty="0" sz="2300" spc="-80">
                <a:latin typeface="Consolas"/>
                <a:cs typeface="Consolas"/>
              </a:rPr>
              <a:t>course.</a:t>
            </a:r>
            <a:r>
              <a:rPr dirty="0" sz="2300" spc="-145">
                <a:latin typeface="Consolas"/>
                <a:cs typeface="Consolas"/>
              </a:rPr>
              <a:t> </a:t>
            </a:r>
            <a:r>
              <a:rPr dirty="0" sz="2300" spc="-65">
                <a:latin typeface="Consolas"/>
                <a:cs typeface="Consolas"/>
              </a:rPr>
              <a:t>Explain</a:t>
            </a:r>
            <a:r>
              <a:rPr dirty="0" sz="2300" spc="-210">
                <a:latin typeface="Consolas"/>
                <a:cs typeface="Consolas"/>
              </a:rPr>
              <a:t> </a:t>
            </a:r>
            <a:r>
              <a:rPr dirty="0" sz="2300" spc="-50">
                <a:latin typeface="Consolas"/>
                <a:cs typeface="Consolas"/>
              </a:rPr>
              <a:t>neural</a:t>
            </a:r>
            <a:r>
              <a:rPr dirty="0" sz="2300" spc="-250">
                <a:latin typeface="Consolas"/>
                <a:cs typeface="Consolas"/>
              </a:rPr>
              <a:t> </a:t>
            </a:r>
            <a:r>
              <a:rPr dirty="0" sz="2300" spc="-10">
                <a:latin typeface="Consolas"/>
                <a:cs typeface="Consolas"/>
              </a:rPr>
              <a:t>networks.”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795798" y="4560358"/>
            <a:ext cx="1657985" cy="5651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3550" spc="-100">
                <a:latin typeface="Calibri"/>
                <a:cs typeface="Calibri"/>
              </a:rPr>
              <a:t>CONTEXT</a:t>
            </a:r>
            <a:endParaRPr sz="35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70331" y="7374819"/>
            <a:ext cx="8517890" cy="162369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319405">
              <a:lnSpc>
                <a:spcPts val="4365"/>
              </a:lnSpc>
              <a:spcBef>
                <a:spcPts val="130"/>
              </a:spcBef>
            </a:pPr>
            <a:r>
              <a:rPr dirty="0" sz="3650">
                <a:latin typeface="Calibri"/>
                <a:cs typeface="Calibri"/>
              </a:rPr>
              <a:t>THE</a:t>
            </a:r>
            <a:r>
              <a:rPr dirty="0" sz="3650" spc="-105">
                <a:latin typeface="Calibri"/>
                <a:cs typeface="Calibri"/>
              </a:rPr>
              <a:t> </a:t>
            </a:r>
            <a:r>
              <a:rPr dirty="0" sz="3650">
                <a:latin typeface="Calibri"/>
                <a:cs typeface="Calibri"/>
              </a:rPr>
              <a:t>ROLE</a:t>
            </a:r>
            <a:r>
              <a:rPr dirty="0" sz="3650" spc="-114">
                <a:latin typeface="Calibri"/>
                <a:cs typeface="Calibri"/>
              </a:rPr>
              <a:t> </a:t>
            </a:r>
            <a:r>
              <a:rPr dirty="0" sz="3650" spc="-10">
                <a:latin typeface="Calibri"/>
                <a:cs typeface="Calibri"/>
              </a:rPr>
              <a:t>PERSONA</a:t>
            </a:r>
            <a:endParaRPr sz="3650">
              <a:latin typeface="Calibri"/>
              <a:cs typeface="Calibri"/>
            </a:endParaRPr>
          </a:p>
          <a:p>
            <a:pPr marL="674370">
              <a:lnSpc>
                <a:spcPts val="2785"/>
              </a:lnSpc>
              <a:tabLst>
                <a:tab pos="1188085" algn="l"/>
                <a:tab pos="1995170" algn="l"/>
                <a:tab pos="2490470" algn="l"/>
                <a:tab pos="7074534" algn="l"/>
              </a:tabLst>
            </a:pPr>
            <a:r>
              <a:rPr dirty="0" sz="2500" spc="-25">
                <a:latin typeface="Calibri"/>
                <a:cs typeface="Calibri"/>
              </a:rPr>
              <a:t>1.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95">
                <a:latin typeface="Calibri"/>
                <a:cs typeface="Calibri"/>
              </a:rPr>
              <a:t>“Act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100">
                <a:latin typeface="Calibri"/>
                <a:cs typeface="Calibri"/>
              </a:rPr>
              <a:t>as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95">
                <a:latin typeface="Calibri"/>
                <a:cs typeface="Calibri"/>
              </a:rPr>
              <a:t>a</a:t>
            </a:r>
            <a:r>
              <a:rPr dirty="0" sz="2500" spc="35">
                <a:latin typeface="Calibri"/>
                <a:cs typeface="Calibri"/>
              </a:rPr>
              <a:t>  </a:t>
            </a:r>
            <a:r>
              <a:rPr dirty="0" sz="2500" spc="195">
                <a:latin typeface="Calibri"/>
                <a:cs typeface="Calibri"/>
              </a:rPr>
              <a:t>Professor”</a:t>
            </a:r>
            <a:r>
              <a:rPr dirty="0" sz="2500" spc="105">
                <a:latin typeface="Calibri"/>
                <a:cs typeface="Calibri"/>
              </a:rPr>
              <a:t>  </a:t>
            </a:r>
            <a:r>
              <a:rPr dirty="0" sz="2500" spc="-595">
                <a:latin typeface="Calibri"/>
                <a:cs typeface="Calibri"/>
              </a:rPr>
              <a:t>—</a:t>
            </a:r>
            <a:r>
              <a:rPr dirty="0" sz="2500" spc="-325">
                <a:latin typeface="Calibri"/>
                <a:cs typeface="Calibri"/>
              </a:rPr>
              <a:t>+</a:t>
            </a:r>
            <a:r>
              <a:rPr dirty="0" sz="2500" spc="110">
                <a:latin typeface="Calibri"/>
                <a:cs typeface="Calibri"/>
              </a:rPr>
              <a:t>  </a:t>
            </a:r>
            <a:r>
              <a:rPr dirty="0" sz="2500" spc="-10">
                <a:latin typeface="Calibri"/>
                <a:cs typeface="Calibri"/>
              </a:rPr>
              <a:t>Educat:fona1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25">
                <a:latin typeface="Calibri"/>
                <a:cs typeface="Calibri"/>
              </a:rPr>
              <a:t>Tone</a:t>
            </a:r>
            <a:r>
              <a:rPr dirty="0" sz="2500" spc="-145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506095">
              <a:lnSpc>
                <a:spcPts val="2600"/>
              </a:lnSpc>
              <a:tabLst>
                <a:tab pos="1022985" algn="l"/>
                <a:tab pos="1830070" algn="l"/>
                <a:tab pos="2325370" algn="l"/>
                <a:tab pos="7239634" algn="l"/>
              </a:tabLst>
            </a:pPr>
            <a:r>
              <a:rPr dirty="0" sz="2500" spc="-25">
                <a:latin typeface="Calibri"/>
                <a:cs typeface="Calibri"/>
              </a:rPr>
              <a:t>2.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95">
                <a:latin typeface="Calibri"/>
                <a:cs typeface="Calibri"/>
              </a:rPr>
              <a:t>“Act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100">
                <a:latin typeface="Calibri"/>
                <a:cs typeface="Calibri"/>
              </a:rPr>
              <a:t>as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95">
                <a:latin typeface="Calibri"/>
                <a:cs typeface="Calibri"/>
              </a:rPr>
              <a:t>a</a:t>
            </a:r>
            <a:r>
              <a:rPr dirty="0" sz="2500" spc="530">
                <a:latin typeface="Calibri"/>
                <a:cs typeface="Calibri"/>
              </a:rPr>
              <a:t> </a:t>
            </a:r>
            <a:r>
              <a:rPr dirty="0" sz="2500" spc="110">
                <a:latin typeface="Calibri"/>
                <a:cs typeface="Calibri"/>
              </a:rPr>
              <a:t>Ned1caI</a:t>
            </a:r>
            <a:r>
              <a:rPr dirty="0" sz="2500" spc="620">
                <a:latin typeface="Calibri"/>
                <a:cs typeface="Calibri"/>
              </a:rPr>
              <a:t> </a:t>
            </a:r>
            <a:r>
              <a:rPr dirty="0" sz="2500" spc="180">
                <a:latin typeface="Calibri"/>
                <a:cs typeface="Calibri"/>
              </a:rPr>
              <a:t>Expert”</a:t>
            </a:r>
            <a:r>
              <a:rPr dirty="0" sz="2500" spc="60">
                <a:latin typeface="Calibri"/>
                <a:cs typeface="Calibri"/>
              </a:rPr>
              <a:t>  </a:t>
            </a:r>
            <a:r>
              <a:rPr dirty="0" sz="2500" spc="-595">
                <a:latin typeface="Calibri"/>
                <a:cs typeface="Calibri"/>
              </a:rPr>
              <a:t>—</a:t>
            </a:r>
            <a:r>
              <a:rPr dirty="0" sz="2500" spc="-325">
                <a:latin typeface="Calibri"/>
                <a:cs typeface="Calibri"/>
              </a:rPr>
              <a:t>+</a:t>
            </a:r>
            <a:r>
              <a:rPr dirty="0" sz="2500" spc="105">
                <a:latin typeface="Calibri"/>
                <a:cs typeface="Calibri"/>
              </a:rPr>
              <a:t>  </a:t>
            </a:r>
            <a:r>
              <a:rPr dirty="0" sz="2500" spc="100">
                <a:latin typeface="Calibri"/>
                <a:cs typeface="Calibri"/>
              </a:rPr>
              <a:t>CI1n1ca1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25">
                <a:latin typeface="Calibri"/>
                <a:cs typeface="Calibri"/>
              </a:rPr>
              <a:t>Tone</a:t>
            </a:r>
            <a:r>
              <a:rPr dirty="0" sz="2500" spc="-145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  <a:p>
            <a:pPr marL="12700">
              <a:lnSpc>
                <a:spcPts val="2800"/>
              </a:lnSpc>
              <a:tabLst>
                <a:tab pos="527685" algn="l"/>
                <a:tab pos="1830070" algn="l"/>
                <a:tab pos="5415280" algn="l"/>
              </a:tabLst>
            </a:pPr>
            <a:r>
              <a:rPr dirty="0" sz="2500" spc="-25">
                <a:latin typeface="Calibri"/>
                <a:cs typeface="Calibri"/>
              </a:rPr>
              <a:t>3.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135">
                <a:latin typeface="Calibri"/>
                <a:cs typeface="Calibri"/>
              </a:rPr>
              <a:t>“Act</a:t>
            </a:r>
            <a:r>
              <a:rPr dirty="0" sz="2500" spc="120">
                <a:latin typeface="Calibri"/>
                <a:cs typeface="Calibri"/>
              </a:rPr>
              <a:t>  as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95">
                <a:latin typeface="Calibri"/>
                <a:cs typeface="Calibri"/>
              </a:rPr>
              <a:t>a</a:t>
            </a:r>
            <a:r>
              <a:rPr dirty="0" sz="2500" spc="45">
                <a:latin typeface="Calibri"/>
                <a:cs typeface="Calibri"/>
              </a:rPr>
              <a:t>  </a:t>
            </a:r>
            <a:r>
              <a:rPr dirty="0" sz="2500" spc="120">
                <a:latin typeface="Calibri"/>
                <a:cs typeface="Calibri"/>
              </a:rPr>
              <a:t>Software</a:t>
            </a:r>
            <a:r>
              <a:rPr dirty="0" sz="2500" spc="130">
                <a:latin typeface="Calibri"/>
                <a:cs typeface="Calibri"/>
              </a:rPr>
              <a:t>  </a:t>
            </a:r>
            <a:r>
              <a:rPr dirty="0" sz="2500" spc="210">
                <a:latin typeface="Calibri"/>
                <a:cs typeface="Calibri"/>
              </a:rPr>
              <a:t>Architect”</a:t>
            </a:r>
            <a:r>
              <a:rPr dirty="0" sz="2500">
                <a:latin typeface="Calibri"/>
                <a:cs typeface="Calibri"/>
              </a:rPr>
              <a:t>	</a:t>
            </a:r>
            <a:r>
              <a:rPr dirty="0" sz="2500" spc="-595">
                <a:latin typeface="Calibri"/>
                <a:cs typeface="Calibri"/>
              </a:rPr>
              <a:t>—</a:t>
            </a:r>
            <a:r>
              <a:rPr dirty="0" sz="2500" spc="-325">
                <a:latin typeface="Calibri"/>
                <a:cs typeface="Calibri"/>
              </a:rPr>
              <a:t>+</a:t>
            </a:r>
            <a:r>
              <a:rPr dirty="0" sz="2500" spc="120">
                <a:latin typeface="Calibri"/>
                <a:cs typeface="Calibri"/>
              </a:rPr>
              <a:t>  </a:t>
            </a:r>
            <a:r>
              <a:rPr dirty="0" sz="2500" spc="-265">
                <a:latin typeface="Calibri"/>
                <a:cs typeface="Calibri"/>
              </a:rPr>
              <a:t>St</a:t>
            </a:r>
            <a:r>
              <a:rPr dirty="0" sz="2500" spc="50">
                <a:latin typeface="Calibri"/>
                <a:cs typeface="Calibri"/>
              </a:rPr>
              <a:t>  </a:t>
            </a:r>
            <a:r>
              <a:rPr dirty="0" sz="2500" spc="254">
                <a:latin typeface="Calibri"/>
                <a:cs typeface="Calibri"/>
              </a:rPr>
              <a:t>ructural</a:t>
            </a:r>
            <a:r>
              <a:rPr dirty="0" sz="2500" spc="125">
                <a:latin typeface="Calibri"/>
                <a:cs typeface="Calibri"/>
              </a:rPr>
              <a:t>  </a:t>
            </a:r>
            <a:r>
              <a:rPr dirty="0" sz="2500" spc="-25">
                <a:latin typeface="Calibri"/>
                <a:cs typeface="Calibri"/>
              </a:rPr>
              <a:t>Tone</a:t>
            </a:r>
            <a:r>
              <a:rPr dirty="0" sz="2500" spc="-165">
                <a:latin typeface="Calibri"/>
                <a:cs typeface="Calibri"/>
              </a:rPr>
              <a:t> </a:t>
            </a:r>
            <a:r>
              <a:rPr dirty="0" sz="2500" spc="-50">
                <a:latin typeface="Calibri"/>
                <a:cs typeface="Calibri"/>
              </a:rPr>
              <a:t>.</a:t>
            </a:r>
            <a:endParaRPr sz="25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901356" y="4577997"/>
            <a:ext cx="2410460" cy="54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5305" algn="l"/>
              </a:tabLst>
            </a:pPr>
            <a:r>
              <a:rPr dirty="0" sz="3400">
                <a:solidFill>
                  <a:srgbClr val="D45613"/>
                </a:solidFill>
                <a:latin typeface="Calibri"/>
                <a:cs typeface="Calibri"/>
              </a:rPr>
              <a:t>-	</a:t>
            </a:r>
            <a:r>
              <a:rPr dirty="0" sz="3400">
                <a:solidFill>
                  <a:srgbClr val="FB6203"/>
                </a:solidFill>
                <a:latin typeface="Calibri"/>
                <a:cs typeface="Calibri"/>
              </a:rPr>
              <a:t>•</a:t>
            </a:r>
            <a:r>
              <a:rPr dirty="0" sz="3400" spc="160">
                <a:solidFill>
                  <a:srgbClr val="FB6203"/>
                </a:solidFill>
                <a:latin typeface="Calibri"/>
                <a:cs typeface="Calibri"/>
              </a:rPr>
              <a:t>  </a:t>
            </a:r>
            <a:r>
              <a:rPr dirty="0" sz="3400" spc="-95">
                <a:latin typeface="Calibri"/>
                <a:cs typeface="Calibri"/>
              </a:rPr>
              <a:t>OUTPUT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11029" y="9431160"/>
            <a:ext cx="1234440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>
                <a:latin typeface="Calibri"/>
                <a:cs typeface="Calibri"/>
              </a:rPr>
              <a:t>W</a:t>
            </a:r>
            <a:r>
              <a:rPr dirty="0" sz="1350" spc="40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NotebaokLM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719300" y="9294283"/>
            <a:ext cx="601345" cy="0"/>
          </a:xfrm>
          <a:custGeom>
            <a:avLst/>
            <a:gdLst/>
            <a:ahLst/>
            <a:cxnLst/>
            <a:rect l="l" t="t" r="r" b="b"/>
            <a:pathLst>
              <a:path w="601344" h="0">
                <a:moveTo>
                  <a:pt x="0" y="0"/>
                </a:moveTo>
                <a:lnTo>
                  <a:pt x="601133" y="0"/>
                </a:lnTo>
              </a:path>
            </a:pathLst>
          </a:custGeom>
          <a:ln w="423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3924300" y="4303183"/>
            <a:ext cx="931544" cy="0"/>
          </a:xfrm>
          <a:custGeom>
            <a:avLst/>
            <a:gdLst/>
            <a:ahLst/>
            <a:cxnLst/>
            <a:rect l="l" t="t" r="r" b="b"/>
            <a:pathLst>
              <a:path w="931545" h="0">
                <a:moveTo>
                  <a:pt x="0" y="0"/>
                </a:moveTo>
                <a:lnTo>
                  <a:pt x="931333" y="0"/>
                </a:lnTo>
              </a:path>
            </a:pathLst>
          </a:custGeom>
          <a:ln w="4233">
            <a:solidFill>
              <a:srgbClr val="93775B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50000" y="4419600"/>
            <a:ext cx="2095500" cy="26543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6515100" y="2667000"/>
            <a:ext cx="4991100" cy="4406900"/>
            <a:chOff x="6515100" y="2667000"/>
            <a:chExt cx="4991100" cy="4406900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017000" y="4343400"/>
              <a:ext cx="2489200" cy="2730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70700" y="4686300"/>
              <a:ext cx="2717800" cy="6731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100" y="2667000"/>
              <a:ext cx="4064000" cy="20193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34200" y="5359400"/>
              <a:ext cx="1397000" cy="660400"/>
            </a:xfrm>
            <a:prstGeom prst="rect">
              <a:avLst/>
            </a:prstGeom>
          </p:spPr>
        </p:pic>
      </p:grpSp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81500" y="3327400"/>
            <a:ext cx="1193800" cy="1625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93000" y="6032500"/>
            <a:ext cx="4419600" cy="520700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663933" y="183444"/>
            <a:ext cx="16040735" cy="106299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6800" spc="-400">
                <a:latin typeface="Cambria"/>
                <a:cs typeface="Cambria"/>
              </a:rPr>
              <a:t>SHAPING</a:t>
            </a:r>
            <a:r>
              <a:rPr dirty="0" sz="6800" spc="265">
                <a:latin typeface="Cambria"/>
                <a:cs typeface="Cambria"/>
              </a:rPr>
              <a:t> </a:t>
            </a:r>
            <a:r>
              <a:rPr dirty="0" sz="6800" spc="-550">
                <a:latin typeface="Cambria"/>
                <a:cs typeface="Cambria"/>
              </a:rPr>
              <a:t>THE</a:t>
            </a:r>
            <a:r>
              <a:rPr dirty="0" sz="6800" spc="-340">
                <a:latin typeface="Cambria"/>
                <a:cs typeface="Cambria"/>
              </a:rPr>
              <a:t> </a:t>
            </a:r>
            <a:r>
              <a:rPr dirty="0" sz="6800" spc="-470">
                <a:latin typeface="Cambria"/>
                <a:cs typeface="Cambria"/>
              </a:rPr>
              <a:t>OUTPUT:</a:t>
            </a:r>
            <a:r>
              <a:rPr dirty="0" sz="6800" spc="-240">
                <a:latin typeface="Cambria"/>
                <a:cs typeface="Cambria"/>
              </a:rPr>
              <a:t> </a:t>
            </a:r>
            <a:r>
              <a:rPr dirty="0" sz="6800" spc="-355">
                <a:latin typeface="Cambria"/>
                <a:cs typeface="Cambria"/>
              </a:rPr>
              <a:t>TASKS</a:t>
            </a:r>
            <a:r>
              <a:rPr dirty="0" sz="6800" spc="-30">
                <a:latin typeface="Cambria"/>
                <a:cs typeface="Cambria"/>
              </a:rPr>
              <a:t> </a:t>
            </a:r>
            <a:r>
              <a:rPr dirty="0" sz="6800" spc="-795">
                <a:latin typeface="Cambria"/>
                <a:cs typeface="Cambria"/>
              </a:rPr>
              <a:t>&amp;</a:t>
            </a:r>
            <a:r>
              <a:rPr dirty="0" sz="6800" spc="-270">
                <a:latin typeface="Cambria"/>
                <a:cs typeface="Cambria"/>
              </a:rPr>
              <a:t> </a:t>
            </a:r>
            <a:r>
              <a:rPr dirty="0" sz="6800" spc="-409">
                <a:latin typeface="Cambria"/>
                <a:cs typeface="Cambria"/>
              </a:rPr>
              <a:t>CONSTRAINTS</a:t>
            </a:r>
            <a:endParaRPr sz="6800">
              <a:latin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559448" y="1562100"/>
            <a:ext cx="14544675" cy="144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583930" algn="l"/>
              </a:tabLst>
            </a:pPr>
            <a:r>
              <a:rPr dirty="0" sz="3750" spc="-355">
                <a:latin typeface="Cambria"/>
                <a:cs typeface="Cambria"/>
              </a:rPr>
              <a:t>THE</a:t>
            </a:r>
            <a:r>
              <a:rPr dirty="0" sz="3750" spc="-100">
                <a:latin typeface="Cambria"/>
                <a:cs typeface="Cambria"/>
              </a:rPr>
              <a:t> </a:t>
            </a:r>
            <a:r>
              <a:rPr dirty="0" sz="3750" spc="-315">
                <a:latin typeface="Cambria"/>
                <a:cs typeface="Cambria"/>
              </a:rPr>
              <a:t>TASK</a:t>
            </a:r>
            <a:r>
              <a:rPr dirty="0" sz="3750" spc="135">
                <a:latin typeface="Cambria"/>
                <a:cs typeface="Cambria"/>
              </a:rPr>
              <a:t> </a:t>
            </a:r>
            <a:r>
              <a:rPr dirty="0" sz="3750" spc="-10">
                <a:latin typeface="Cambria"/>
                <a:cs typeface="Cambria"/>
              </a:rPr>
              <a:t>VERBS</a:t>
            </a:r>
            <a:r>
              <a:rPr dirty="0" sz="3750">
                <a:latin typeface="Cambria"/>
                <a:cs typeface="Cambria"/>
              </a:rPr>
              <a:t>	</a:t>
            </a:r>
            <a:r>
              <a:rPr dirty="0" sz="3750">
                <a:latin typeface="Calibri"/>
                <a:cs typeface="Calibri"/>
              </a:rPr>
              <a:t>THE</a:t>
            </a:r>
            <a:r>
              <a:rPr dirty="0" sz="3750" spc="-215">
                <a:latin typeface="Calibri"/>
                <a:cs typeface="Calibri"/>
              </a:rPr>
              <a:t> </a:t>
            </a:r>
            <a:r>
              <a:rPr dirty="0" sz="3750" spc="-30">
                <a:latin typeface="Calibri"/>
                <a:cs typeface="Calibri"/>
              </a:rPr>
              <a:t>CONSTRAINTS</a:t>
            </a:r>
            <a:r>
              <a:rPr dirty="0" sz="3750" spc="175">
                <a:latin typeface="Calibri"/>
                <a:cs typeface="Calibri"/>
              </a:rPr>
              <a:t> </a:t>
            </a:r>
            <a:r>
              <a:rPr dirty="0" sz="3750">
                <a:latin typeface="Calibri"/>
                <a:cs typeface="Calibri"/>
              </a:rPr>
              <a:t>-</a:t>
            </a:r>
            <a:r>
              <a:rPr dirty="0" sz="3750" spc="545">
                <a:latin typeface="Calibri"/>
                <a:cs typeface="Calibri"/>
              </a:rPr>
              <a:t> </a:t>
            </a:r>
            <a:r>
              <a:rPr dirty="0" sz="3750" spc="-20">
                <a:latin typeface="Calibri"/>
                <a:cs typeface="Calibri"/>
              </a:rPr>
              <a:t>THE</a:t>
            </a:r>
            <a:r>
              <a:rPr dirty="0" sz="3750" spc="-195">
                <a:latin typeface="Calibri"/>
                <a:cs typeface="Calibri"/>
              </a:rPr>
              <a:t> </a:t>
            </a:r>
            <a:r>
              <a:rPr dirty="0" sz="3750" spc="-315">
                <a:latin typeface="Calibri"/>
                <a:cs typeface="Calibri"/>
              </a:rPr>
              <a:t>MOLD</a:t>
            </a:r>
            <a:endParaRPr sz="3750">
              <a:latin typeface="Calibri"/>
              <a:cs typeface="Calibri"/>
            </a:endParaRPr>
          </a:p>
          <a:p>
            <a:pPr marL="9568180">
              <a:lnSpc>
                <a:spcPct val="100000"/>
              </a:lnSpc>
              <a:spcBef>
                <a:spcPts val="2800"/>
              </a:spcBef>
            </a:pPr>
            <a:r>
              <a:rPr dirty="0" sz="3250" spc="-50">
                <a:solidFill>
                  <a:srgbClr val="545454"/>
                </a:solidFill>
                <a:latin typeface="Calibri"/>
                <a:cs typeface="Calibri"/>
              </a:rPr>
              <a:t>4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2388" y="3410339"/>
            <a:ext cx="2217420" cy="284035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19050" marR="5080" indent="-6985">
              <a:lnSpc>
                <a:spcPct val="111300"/>
              </a:lnSpc>
              <a:spcBef>
                <a:spcPts val="35"/>
              </a:spcBef>
            </a:pPr>
            <a:r>
              <a:rPr dirty="0" sz="3400" spc="-30">
                <a:latin typeface="Consolas"/>
                <a:cs typeface="Consolas"/>
              </a:rPr>
              <a:t>Explain. </a:t>
            </a:r>
            <a:r>
              <a:rPr dirty="0" sz="3300" spc="-105">
                <a:latin typeface="Consolas"/>
                <a:cs typeface="Consolas"/>
              </a:rPr>
              <a:t>Summarize. </a:t>
            </a:r>
            <a:r>
              <a:rPr dirty="0" sz="3250" spc="-10">
                <a:latin typeface="Consolas"/>
                <a:cs typeface="Consolas"/>
              </a:rPr>
              <a:t>Compare.</a:t>
            </a:r>
            <a:endParaRPr sz="3250">
              <a:latin typeface="Consolas"/>
              <a:cs typeface="Consolas"/>
            </a:endParaRPr>
          </a:p>
          <a:p>
            <a:pPr marL="27940">
              <a:lnSpc>
                <a:spcPct val="100000"/>
              </a:lnSpc>
              <a:spcBef>
                <a:spcPts val="450"/>
              </a:spcBef>
            </a:pPr>
            <a:r>
              <a:rPr dirty="0" sz="3400" spc="-60">
                <a:latin typeface="Consolas"/>
                <a:cs typeface="Consolas"/>
              </a:rPr>
              <a:t>Generate.</a:t>
            </a:r>
            <a:endParaRPr sz="3400">
              <a:latin typeface="Consolas"/>
              <a:cs typeface="Consolas"/>
            </a:endParaRPr>
          </a:p>
          <a:p>
            <a:pPr marL="15875">
              <a:lnSpc>
                <a:spcPct val="100000"/>
              </a:lnSpc>
              <a:spcBef>
                <a:spcPts val="420"/>
              </a:spcBef>
            </a:pPr>
            <a:r>
              <a:rPr dirty="0" sz="3300" spc="-140">
                <a:latin typeface="Courier New"/>
                <a:cs typeface="Courier New"/>
              </a:rPr>
              <a:t>Critique.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902287" y="5717116"/>
            <a:ext cx="93980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30">
                <a:solidFill>
                  <a:srgbClr val="464646"/>
                </a:solidFill>
                <a:latin typeface="Courier New"/>
                <a:cs typeface="Courier New"/>
              </a:rPr>
              <a:t>—</a:t>
            </a:r>
            <a:r>
              <a:rPr dirty="0" sz="3300" spc="-25">
                <a:solidFill>
                  <a:srgbClr val="464646"/>
                </a:solidFill>
                <a:latin typeface="Courier New"/>
                <a:cs typeface="Courier New"/>
              </a:rPr>
              <a:t>’</a:t>
            </a:r>
            <a:r>
              <a:rPr dirty="0" sz="3300" spc="-1614">
                <a:solidFill>
                  <a:srgbClr val="464646"/>
                </a:solidFill>
                <a:latin typeface="Courier New"/>
                <a:cs typeface="Courier New"/>
              </a:rPr>
              <a:t> </a:t>
            </a:r>
            <a:r>
              <a:rPr dirty="0" sz="3300" spc="-565">
                <a:solidFill>
                  <a:srgbClr val="181818"/>
                </a:solidFill>
                <a:latin typeface="Courier New"/>
                <a:cs typeface="Courier New"/>
              </a:rPr>
              <a:t>j—</a:t>
            </a:r>
            <a:endParaRPr sz="33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669843" y="3541536"/>
            <a:ext cx="3811270" cy="5232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1988185" algn="l"/>
              </a:tabLst>
            </a:pPr>
            <a:r>
              <a:rPr dirty="0" sz="3250" spc="-1355">
                <a:solidFill>
                  <a:srgbClr val="857259"/>
                </a:solidFill>
                <a:latin typeface="Calibri"/>
                <a:cs typeface="Calibri"/>
              </a:rPr>
              <a:t>—</a:t>
            </a:r>
            <a:r>
              <a:rPr dirty="0" sz="3250" spc="425">
                <a:solidFill>
                  <a:srgbClr val="857259"/>
                </a:solidFill>
                <a:latin typeface="Calibri"/>
                <a:cs typeface="Calibri"/>
              </a:rPr>
              <a:t> </a:t>
            </a:r>
            <a:r>
              <a:rPr dirty="0" sz="3250" spc="125">
                <a:latin typeface="Calibri"/>
                <a:cs typeface="Calibri"/>
              </a:rPr>
              <a:t>Length:</a:t>
            </a:r>
            <a:r>
              <a:rPr dirty="0" sz="3250">
                <a:latin typeface="Calibri"/>
                <a:cs typeface="Calibri"/>
              </a:rPr>
              <a:t>	150</a:t>
            </a:r>
            <a:r>
              <a:rPr dirty="0" sz="3250" spc="685">
                <a:latin typeface="Calibri"/>
                <a:cs typeface="Calibri"/>
              </a:rPr>
              <a:t> </a:t>
            </a:r>
            <a:r>
              <a:rPr dirty="0" sz="3250" spc="-55">
                <a:latin typeface="Calibri"/>
                <a:cs typeface="Calibri"/>
              </a:rPr>
              <a:t>words</a:t>
            </a:r>
            <a:endParaRPr sz="32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647702" y="4579055"/>
            <a:ext cx="3425825" cy="918844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385445" marR="5080" indent="-373380">
              <a:lnSpc>
                <a:spcPts val="3200"/>
              </a:lnSpc>
              <a:spcBef>
                <a:spcPts val="735"/>
              </a:spcBef>
            </a:pPr>
            <a:r>
              <a:rPr dirty="0" sz="3200" spc="-95">
                <a:solidFill>
                  <a:srgbClr val="5B422D"/>
                </a:solidFill>
                <a:latin typeface="Consolas"/>
                <a:cs typeface="Consolas"/>
              </a:rPr>
              <a:t>-</a:t>
            </a:r>
            <a:r>
              <a:rPr dirty="0" sz="3200" spc="-475">
                <a:solidFill>
                  <a:srgbClr val="5B422D"/>
                </a:solidFill>
                <a:latin typeface="Consolas"/>
                <a:cs typeface="Consolas"/>
              </a:rPr>
              <a:t> </a:t>
            </a:r>
            <a:r>
              <a:rPr dirty="0" sz="3200" spc="-105">
                <a:latin typeface="Consolas"/>
                <a:cs typeface="Consolas"/>
              </a:rPr>
              <a:t>Complexity: </a:t>
            </a:r>
            <a:r>
              <a:rPr dirty="0" sz="3200" spc="-160">
                <a:latin typeface="Consolas"/>
                <a:cs typeface="Consolas"/>
              </a:rPr>
              <a:t>Simple</a:t>
            </a:r>
            <a:r>
              <a:rPr dirty="0" sz="3200" spc="-260">
                <a:latin typeface="Consolas"/>
                <a:cs typeface="Consolas"/>
              </a:rPr>
              <a:t> </a:t>
            </a:r>
            <a:r>
              <a:rPr dirty="0" sz="3200" spc="-185">
                <a:latin typeface="Consolas"/>
                <a:cs typeface="Consolas"/>
              </a:rPr>
              <a:t>language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006057" y="5852936"/>
            <a:ext cx="2870200" cy="133413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7465">
              <a:lnSpc>
                <a:spcPts val="3550"/>
              </a:lnSpc>
              <a:spcBef>
                <a:spcPts val="110"/>
              </a:spcBef>
            </a:pPr>
            <a:r>
              <a:rPr dirty="0" sz="3250" spc="-10">
                <a:latin typeface="Cambria"/>
                <a:cs typeface="Cambria"/>
              </a:rPr>
              <a:t>Format:</a:t>
            </a:r>
            <a:endParaRPr sz="3250">
              <a:latin typeface="Cambria"/>
              <a:cs typeface="Cambria"/>
            </a:endParaRPr>
          </a:p>
          <a:p>
            <a:pPr marL="12700">
              <a:lnSpc>
                <a:spcPts val="3225"/>
              </a:lnSpc>
            </a:pPr>
            <a:r>
              <a:rPr dirty="0" sz="3250" spc="-45">
                <a:latin typeface="Consolas"/>
                <a:cs typeface="Consolas"/>
              </a:rPr>
              <a:t>JSON</a:t>
            </a:r>
            <a:r>
              <a:rPr dirty="0" sz="3250" spc="-405">
                <a:latin typeface="Consolas"/>
                <a:cs typeface="Consolas"/>
              </a:rPr>
              <a:t> </a:t>
            </a:r>
            <a:r>
              <a:rPr dirty="0" sz="3250" spc="-505">
                <a:latin typeface="Consolas"/>
                <a:cs typeface="Consolas"/>
              </a:rPr>
              <a:t>/</a:t>
            </a:r>
            <a:r>
              <a:rPr dirty="0" sz="3250" spc="-235">
                <a:latin typeface="Consolas"/>
                <a:cs typeface="Consolas"/>
              </a:rPr>
              <a:t> </a:t>
            </a:r>
            <a:r>
              <a:rPr dirty="0" sz="3250" spc="-120">
                <a:latin typeface="Consolas"/>
                <a:cs typeface="Consolas"/>
              </a:rPr>
              <a:t>Table</a:t>
            </a:r>
            <a:r>
              <a:rPr dirty="0" sz="3250" spc="-290">
                <a:latin typeface="Consolas"/>
                <a:cs typeface="Consolas"/>
              </a:rPr>
              <a:t> </a:t>
            </a:r>
            <a:r>
              <a:rPr dirty="0" sz="3250" spc="-555">
                <a:latin typeface="Consolas"/>
                <a:cs typeface="Consolas"/>
              </a:rPr>
              <a:t>/</a:t>
            </a:r>
            <a:endParaRPr sz="3250">
              <a:latin typeface="Consolas"/>
              <a:cs typeface="Consolas"/>
            </a:endParaRPr>
          </a:p>
          <a:p>
            <a:pPr marL="30480">
              <a:lnSpc>
                <a:spcPts val="3515"/>
              </a:lnSpc>
            </a:pPr>
            <a:r>
              <a:rPr dirty="0" sz="3200" spc="-160">
                <a:latin typeface="Consolas"/>
                <a:cs typeface="Consolas"/>
              </a:rPr>
              <a:t>Bullet</a:t>
            </a:r>
            <a:r>
              <a:rPr dirty="0" sz="3200" spc="-265">
                <a:latin typeface="Consolas"/>
                <a:cs typeface="Consolas"/>
              </a:rPr>
              <a:t> </a:t>
            </a:r>
            <a:r>
              <a:rPr dirty="0" sz="3200" spc="-25">
                <a:latin typeface="Consolas"/>
                <a:cs typeface="Consolas"/>
              </a:rPr>
              <a:t>Points</a:t>
            </a:r>
            <a:endParaRPr sz="3200">
              <a:latin typeface="Consolas"/>
              <a:cs typeface="Consola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342445" y="7897635"/>
            <a:ext cx="10768330" cy="131699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 marR="23495">
              <a:lnSpc>
                <a:spcPts val="5075"/>
              </a:lnSpc>
              <a:spcBef>
                <a:spcPts val="110"/>
              </a:spcBef>
            </a:pPr>
            <a:r>
              <a:rPr dirty="0" sz="4500">
                <a:latin typeface="Cambria"/>
                <a:cs typeface="Cambria"/>
              </a:rPr>
              <a:t>If</a:t>
            </a:r>
            <a:r>
              <a:rPr dirty="0" sz="4500" spc="-250">
                <a:latin typeface="Cambria"/>
                <a:cs typeface="Cambria"/>
              </a:rPr>
              <a:t> </a:t>
            </a:r>
            <a:r>
              <a:rPr dirty="0" sz="4500" spc="-60">
                <a:latin typeface="Cambria"/>
                <a:cs typeface="Cambria"/>
              </a:rPr>
              <a:t>you</a:t>
            </a:r>
            <a:r>
              <a:rPr dirty="0" sz="4500" spc="-185">
                <a:latin typeface="Cambria"/>
                <a:cs typeface="Cambria"/>
              </a:rPr>
              <a:t> </a:t>
            </a:r>
            <a:r>
              <a:rPr dirty="0" sz="4500" spc="-80">
                <a:latin typeface="Cambria"/>
                <a:cs typeface="Cambria"/>
              </a:rPr>
              <a:t>do</a:t>
            </a:r>
            <a:r>
              <a:rPr dirty="0" sz="4500" spc="-195">
                <a:latin typeface="Cambria"/>
                <a:cs typeface="Cambria"/>
              </a:rPr>
              <a:t> </a:t>
            </a:r>
            <a:r>
              <a:rPr dirty="0" sz="4500" spc="-80">
                <a:latin typeface="Cambria"/>
                <a:cs typeface="Cambria"/>
              </a:rPr>
              <a:t>not</a:t>
            </a:r>
            <a:r>
              <a:rPr dirty="0" sz="4500" spc="-170">
                <a:latin typeface="Cambria"/>
                <a:cs typeface="Cambria"/>
              </a:rPr>
              <a:t> </a:t>
            </a:r>
            <a:r>
              <a:rPr dirty="0" sz="4500">
                <a:latin typeface="Cambria"/>
                <a:cs typeface="Cambria"/>
              </a:rPr>
              <a:t>define</a:t>
            </a:r>
            <a:r>
              <a:rPr dirty="0" sz="4500" spc="-90">
                <a:latin typeface="Cambria"/>
                <a:cs typeface="Cambria"/>
              </a:rPr>
              <a:t> the</a:t>
            </a:r>
            <a:r>
              <a:rPr dirty="0" sz="4500" spc="-160">
                <a:latin typeface="Cambria"/>
                <a:cs typeface="Cambria"/>
              </a:rPr>
              <a:t> </a:t>
            </a:r>
            <a:r>
              <a:rPr dirty="0" sz="4500" spc="-10">
                <a:latin typeface="Cambria"/>
                <a:cs typeface="Cambria"/>
              </a:rPr>
              <a:t>format,</a:t>
            </a:r>
            <a:endParaRPr sz="4500">
              <a:latin typeface="Cambria"/>
              <a:cs typeface="Cambria"/>
            </a:endParaRPr>
          </a:p>
          <a:p>
            <a:pPr algn="ctr">
              <a:lnSpc>
                <a:spcPts val="5075"/>
              </a:lnSpc>
            </a:pPr>
            <a:r>
              <a:rPr dirty="0" sz="4500" spc="-40">
                <a:latin typeface="Cambria"/>
                <a:cs typeface="Cambria"/>
              </a:rPr>
              <a:t>the</a:t>
            </a:r>
            <a:r>
              <a:rPr dirty="0" sz="4500" spc="-210">
                <a:latin typeface="Cambria"/>
                <a:cs typeface="Cambria"/>
              </a:rPr>
              <a:t> </a:t>
            </a:r>
            <a:r>
              <a:rPr dirty="0" sz="4500" spc="-30">
                <a:latin typeface="Cambria"/>
                <a:cs typeface="Cambria"/>
              </a:rPr>
              <a:t>model</a:t>
            </a:r>
            <a:r>
              <a:rPr dirty="0" sz="4500" spc="-215">
                <a:latin typeface="Cambria"/>
                <a:cs typeface="Cambria"/>
              </a:rPr>
              <a:t> </a:t>
            </a:r>
            <a:r>
              <a:rPr dirty="0" sz="4500" spc="-110">
                <a:latin typeface="Cambria"/>
                <a:cs typeface="Cambria"/>
              </a:rPr>
              <a:t>will</a:t>
            </a:r>
            <a:r>
              <a:rPr dirty="0" sz="4500" spc="-140">
                <a:latin typeface="Cambria"/>
                <a:cs typeface="Cambria"/>
              </a:rPr>
              <a:t> </a:t>
            </a:r>
            <a:r>
              <a:rPr dirty="0" sz="4500" spc="-190">
                <a:latin typeface="Cambria"/>
                <a:cs typeface="Cambria"/>
              </a:rPr>
              <a:t>guess—</a:t>
            </a:r>
            <a:r>
              <a:rPr dirty="0" sz="4500" spc="-55">
                <a:latin typeface="Cambria"/>
                <a:cs typeface="Cambria"/>
              </a:rPr>
              <a:t>and</a:t>
            </a:r>
            <a:r>
              <a:rPr dirty="0" sz="4500" spc="-110">
                <a:latin typeface="Cambria"/>
                <a:cs typeface="Cambria"/>
              </a:rPr>
              <a:t> </a:t>
            </a:r>
            <a:r>
              <a:rPr dirty="0" sz="4500" spc="-55">
                <a:latin typeface="Cambria"/>
                <a:cs typeface="Cambria"/>
              </a:rPr>
              <a:t>often</a:t>
            </a:r>
            <a:r>
              <a:rPr dirty="0" sz="4500" spc="-190">
                <a:latin typeface="Cambria"/>
                <a:cs typeface="Cambria"/>
              </a:rPr>
              <a:t> </a:t>
            </a:r>
            <a:r>
              <a:rPr dirty="0" sz="4500">
                <a:latin typeface="Cambria"/>
                <a:cs typeface="Cambria"/>
              </a:rPr>
              <a:t>guess</a:t>
            </a:r>
            <a:r>
              <a:rPr dirty="0" sz="4500" spc="-210">
                <a:latin typeface="Cambria"/>
                <a:cs typeface="Cambria"/>
              </a:rPr>
              <a:t> </a:t>
            </a:r>
            <a:r>
              <a:rPr dirty="0" sz="4500" spc="285">
                <a:latin typeface="Cambria"/>
                <a:cs typeface="Cambria"/>
              </a:rPr>
              <a:t>wong.</a:t>
            </a:r>
            <a:endParaRPr sz="4500">
              <a:latin typeface="Cambria"/>
              <a:cs typeface="Cambri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5663950" y="9422341"/>
            <a:ext cx="15367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65">
                <a:latin typeface="Cambria"/>
                <a:cs typeface="Cambria"/>
              </a:rPr>
              <a:t>G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347020" y="9422341"/>
            <a:ext cx="979169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95">
                <a:latin typeface="Cambria"/>
                <a:cs typeface="Cambria"/>
              </a:rPr>
              <a:t>NotebookLtVi</a:t>
            </a:r>
            <a:endParaRPr sz="14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808200" y="8851900"/>
            <a:ext cx="2527300" cy="774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67700" y="8089900"/>
            <a:ext cx="762000" cy="342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557000" y="8089900"/>
            <a:ext cx="749300" cy="342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5700" y="6807200"/>
            <a:ext cx="3962400" cy="254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731000" y="6807200"/>
            <a:ext cx="4000500" cy="254000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2057400" y="2222500"/>
            <a:ext cx="13360400" cy="4838700"/>
            <a:chOff x="2057400" y="2222500"/>
            <a:chExt cx="13360400" cy="4838700"/>
          </a:xfrm>
        </p:grpSpPr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74400" y="6807200"/>
              <a:ext cx="4051300" cy="254000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057400" y="2222500"/>
              <a:ext cx="13360400" cy="4559300"/>
            </a:xfrm>
            <a:prstGeom prst="rect">
              <a:avLst/>
            </a:prstGeom>
          </p:spPr>
        </p:pic>
      </p:grpSp>
      <p:sp>
        <p:nvSpPr>
          <p:cNvPr id="10" name="object 10"/>
          <p:cNvSpPr/>
          <p:nvPr/>
        </p:nvSpPr>
        <p:spPr>
          <a:xfrm>
            <a:off x="239183" y="245532"/>
            <a:ext cx="0" cy="9296400"/>
          </a:xfrm>
          <a:custGeom>
            <a:avLst/>
            <a:gdLst/>
            <a:ahLst/>
            <a:cxnLst/>
            <a:rect l="l" t="t" r="r" b="b"/>
            <a:pathLst>
              <a:path w="0" h="9296400">
                <a:moveTo>
                  <a:pt x="0" y="9296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232833" y="245532"/>
            <a:ext cx="16946245" cy="9182100"/>
            <a:chOff x="232833" y="245532"/>
            <a:chExt cx="16946245" cy="9182100"/>
          </a:xfrm>
        </p:grpSpPr>
        <p:sp>
          <p:nvSpPr>
            <p:cNvPr id="12" name="object 12"/>
            <p:cNvSpPr/>
            <p:nvPr/>
          </p:nvSpPr>
          <p:spPr>
            <a:xfrm>
              <a:off x="17172520" y="245532"/>
              <a:ext cx="0" cy="9182100"/>
            </a:xfrm>
            <a:custGeom>
              <a:avLst/>
              <a:gdLst/>
              <a:ahLst/>
              <a:cxnLst/>
              <a:rect l="l" t="t" r="r" b="b"/>
              <a:pathLst>
                <a:path w="0" h="9182100">
                  <a:moveTo>
                    <a:pt x="0" y="91821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2833" y="251882"/>
              <a:ext cx="16946245" cy="0"/>
            </a:xfrm>
            <a:custGeom>
              <a:avLst/>
              <a:gdLst/>
              <a:ahLst/>
              <a:cxnLst/>
              <a:rect l="l" t="t" r="r" b="b"/>
              <a:pathLst>
                <a:path w="16946245" h="0">
                  <a:moveTo>
                    <a:pt x="0" y="0"/>
                  </a:moveTo>
                  <a:lnTo>
                    <a:pt x="16946034" y="0"/>
                  </a:lnTo>
                </a:path>
              </a:pathLst>
            </a:custGeom>
            <a:ln w="12700">
              <a:solidFill>
                <a:srgbClr val="2F2F2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/>
          <p:nvPr/>
        </p:nvSpPr>
        <p:spPr>
          <a:xfrm>
            <a:off x="232833" y="9535583"/>
            <a:ext cx="15765144" cy="0"/>
          </a:xfrm>
          <a:custGeom>
            <a:avLst/>
            <a:gdLst/>
            <a:ahLst/>
            <a:cxnLst/>
            <a:rect l="l" t="t" r="r" b="b"/>
            <a:pathLst>
              <a:path w="15765144" h="0">
                <a:moveTo>
                  <a:pt x="0" y="0"/>
                </a:moveTo>
                <a:lnTo>
                  <a:pt x="15764934" y="0"/>
                </a:lnTo>
              </a:path>
            </a:pathLst>
          </a:custGeom>
          <a:ln w="12700">
            <a:solidFill>
              <a:srgbClr val="2F2F2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729816" y="7903633"/>
            <a:ext cx="0" cy="406400"/>
          </a:xfrm>
          <a:custGeom>
            <a:avLst/>
            <a:gdLst/>
            <a:ahLst/>
            <a:cxnLst/>
            <a:rect l="l" t="t" r="r" b="b"/>
            <a:pathLst>
              <a:path w="0" h="406400">
                <a:moveTo>
                  <a:pt x="0" y="4064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323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6" name="object 16"/>
          <p:cNvGrpSpPr/>
          <p:nvPr/>
        </p:nvGrpSpPr>
        <p:grpSpPr>
          <a:xfrm>
            <a:off x="5723466" y="7903633"/>
            <a:ext cx="2527300" cy="774700"/>
            <a:chOff x="5723466" y="7903633"/>
            <a:chExt cx="2527300" cy="774700"/>
          </a:xfrm>
        </p:grpSpPr>
        <p:sp>
          <p:nvSpPr>
            <p:cNvPr id="17" name="object 17"/>
            <p:cNvSpPr/>
            <p:nvPr/>
          </p:nvSpPr>
          <p:spPr>
            <a:xfrm>
              <a:off x="8244416" y="7903633"/>
              <a:ext cx="0" cy="774700"/>
            </a:xfrm>
            <a:custGeom>
              <a:avLst/>
              <a:gdLst/>
              <a:ahLst/>
              <a:cxnLst/>
              <a:rect l="l" t="t" r="r" b="b"/>
              <a:pathLst>
                <a:path w="0" h="774700">
                  <a:moveTo>
                    <a:pt x="0" y="7747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32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5723466" y="7909983"/>
              <a:ext cx="2527300" cy="0"/>
            </a:xfrm>
            <a:custGeom>
              <a:avLst/>
              <a:gdLst/>
              <a:ahLst/>
              <a:cxnLst/>
              <a:rect l="l" t="t" r="r" b="b"/>
              <a:pathLst>
                <a:path w="2527300" h="0">
                  <a:moveTo>
                    <a:pt x="0" y="0"/>
                  </a:moveTo>
                  <a:lnTo>
                    <a:pt x="2527300" y="0"/>
                  </a:lnTo>
                </a:path>
              </a:pathLst>
            </a:custGeom>
            <a:ln w="12700">
              <a:solidFill>
                <a:srgbClr val="2323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5723466" y="8671983"/>
              <a:ext cx="2527300" cy="0"/>
            </a:xfrm>
            <a:custGeom>
              <a:avLst/>
              <a:gdLst/>
              <a:ahLst/>
              <a:cxnLst/>
              <a:rect l="l" t="t" r="r" b="b"/>
              <a:pathLst>
                <a:path w="2527300" h="0">
                  <a:moveTo>
                    <a:pt x="0" y="0"/>
                  </a:moveTo>
                  <a:lnTo>
                    <a:pt x="2527300" y="0"/>
                  </a:lnTo>
                </a:path>
              </a:pathLst>
            </a:custGeom>
            <a:ln w="12700">
              <a:solidFill>
                <a:srgbClr val="2323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/>
          <p:nvPr/>
        </p:nvSpPr>
        <p:spPr>
          <a:xfrm>
            <a:off x="2082800" y="8633883"/>
            <a:ext cx="334645" cy="0"/>
          </a:xfrm>
          <a:custGeom>
            <a:avLst/>
            <a:gdLst/>
            <a:ahLst/>
            <a:cxnLst/>
            <a:rect l="l" t="t" r="r" b="b"/>
            <a:pathLst>
              <a:path w="334644" h="0">
                <a:moveTo>
                  <a:pt x="0" y="0"/>
                </a:moveTo>
                <a:lnTo>
                  <a:pt x="334433" y="0"/>
                </a:lnTo>
              </a:path>
            </a:pathLst>
          </a:custGeom>
          <a:ln w="4233">
            <a:solidFill>
              <a:srgbClr val="4B4B4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1" name="object 21"/>
          <p:cNvGrpSpPr/>
          <p:nvPr/>
        </p:nvGrpSpPr>
        <p:grpSpPr>
          <a:xfrm>
            <a:off x="12280900" y="7869766"/>
            <a:ext cx="2950845" cy="842644"/>
            <a:chOff x="12280900" y="7869766"/>
            <a:chExt cx="2950845" cy="842644"/>
          </a:xfrm>
        </p:grpSpPr>
        <p:sp>
          <p:nvSpPr>
            <p:cNvPr id="22" name="object 22"/>
            <p:cNvSpPr/>
            <p:nvPr/>
          </p:nvSpPr>
          <p:spPr>
            <a:xfrm>
              <a:off x="15216716" y="7869766"/>
              <a:ext cx="0" cy="842644"/>
            </a:xfrm>
            <a:custGeom>
              <a:avLst/>
              <a:gdLst/>
              <a:ahLst/>
              <a:cxnLst/>
              <a:rect l="l" t="t" r="r" b="b"/>
              <a:pathLst>
                <a:path w="0" h="842645">
                  <a:moveTo>
                    <a:pt x="0" y="842433"/>
                  </a:moveTo>
                  <a:lnTo>
                    <a:pt x="0" y="0"/>
                  </a:lnTo>
                </a:path>
              </a:pathLst>
            </a:custGeom>
            <a:ln w="29633">
              <a:solidFill>
                <a:srgbClr val="DB57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2280900" y="7884583"/>
              <a:ext cx="2950845" cy="0"/>
            </a:xfrm>
            <a:custGeom>
              <a:avLst/>
              <a:gdLst/>
              <a:ahLst/>
              <a:cxnLst/>
              <a:rect l="l" t="t" r="r" b="b"/>
              <a:pathLst>
                <a:path w="2950844" h="0">
                  <a:moveTo>
                    <a:pt x="0" y="0"/>
                  </a:moveTo>
                  <a:lnTo>
                    <a:pt x="2950633" y="0"/>
                  </a:lnTo>
                </a:path>
              </a:pathLst>
            </a:custGeom>
            <a:ln w="29633">
              <a:solidFill>
                <a:srgbClr val="DB57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14200" y="4737100"/>
            <a:ext cx="101600" cy="1651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3081000" y="4737100"/>
            <a:ext cx="101600" cy="1778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095500" y="8705850"/>
            <a:ext cx="412750" cy="34925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27000" y="4737100"/>
            <a:ext cx="279400" cy="2540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89200" y="7874000"/>
            <a:ext cx="3314700" cy="774700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4820900" y="7454900"/>
            <a:ext cx="406400" cy="38100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081500" y="4762500"/>
            <a:ext cx="266700" cy="215900"/>
          </a:xfrm>
          <a:prstGeom prst="rect">
            <a:avLst/>
          </a:prstGeom>
        </p:spPr>
      </p:pic>
      <p:sp>
        <p:nvSpPr>
          <p:cNvPr id="31" name="object 31" descr="$PPTXTitle"/>
          <p:cNvSpPr txBox="1">
            <a:spLocks noGrp="1"/>
          </p:cNvSpPr>
          <p:nvPr>
            <p:ph type="title"/>
          </p:nvPr>
        </p:nvSpPr>
        <p:spPr>
          <a:xfrm>
            <a:off x="894590" y="401461"/>
            <a:ext cx="12028805" cy="1189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954530" algn="l"/>
              </a:tabLst>
            </a:pPr>
            <a:r>
              <a:rPr dirty="0" sz="7600" spc="-555">
                <a:latin typeface="Calibri"/>
                <a:cs typeface="Calibri"/>
              </a:rPr>
              <a:t>THE</a:t>
            </a:r>
            <a:r>
              <a:rPr dirty="0" sz="7600">
                <a:latin typeface="Calibri"/>
                <a:cs typeface="Calibri"/>
              </a:rPr>
              <a:t>	</a:t>
            </a:r>
            <a:r>
              <a:rPr dirty="0" sz="7600" spc="545">
                <a:latin typeface="Calibri"/>
                <a:cs typeface="Calibri"/>
              </a:rPr>
              <a:t>STRATEGY</a:t>
            </a:r>
            <a:r>
              <a:rPr dirty="0" sz="7600" spc="-220">
                <a:latin typeface="Calibri"/>
                <a:cs typeface="Calibri"/>
              </a:rPr>
              <a:t> </a:t>
            </a:r>
            <a:r>
              <a:rPr dirty="0" sz="7600" spc="680">
                <a:latin typeface="Calibri"/>
                <a:cs typeface="Calibri"/>
              </a:rPr>
              <a:t>OF"SHOTS"</a:t>
            </a:r>
            <a:endParaRPr sz="76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813984" y="3104444"/>
            <a:ext cx="134175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390">
                <a:latin typeface="Arial"/>
                <a:cs typeface="Arial"/>
              </a:rPr>
              <a:t>EMPTY</a:t>
            </a:r>
            <a:r>
              <a:rPr dirty="0" sz="1800" spc="475">
                <a:latin typeface="Arial"/>
                <a:cs typeface="Arial"/>
              </a:rPr>
              <a:t> </a:t>
            </a:r>
            <a:r>
              <a:rPr dirty="0" sz="1800" spc="-434">
                <a:latin typeface="Arial"/>
                <a:cs typeface="Arial"/>
              </a:rPr>
              <a:t>SQUARE</a:t>
            </a:r>
            <a:endParaRPr sz="18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292600" y="3104444"/>
            <a:ext cx="174815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12420" algn="l"/>
              </a:tabLst>
            </a:pPr>
            <a:r>
              <a:rPr dirty="0" sz="1800" spc="-25">
                <a:latin typeface="Arial"/>
                <a:cs typeface="Arial"/>
              </a:rPr>
              <a:t>//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280">
                <a:latin typeface="Arial"/>
                <a:cs typeface="Arial"/>
              </a:rPr>
              <a:t>ZER0</a:t>
            </a:r>
            <a:r>
              <a:rPr dirty="0" sz="1800" spc="385">
                <a:latin typeface="Arial"/>
                <a:cs typeface="Arial"/>
              </a:rPr>
              <a:t> </a:t>
            </a:r>
            <a:r>
              <a:rPr dirty="0" sz="1800" spc="-380">
                <a:latin typeface="Arial"/>
                <a:cs typeface="Arial"/>
              </a:rPr>
              <a:t>EXAMPLES</a:t>
            </a:r>
            <a:endParaRPr sz="1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746609" y="5358475"/>
            <a:ext cx="2952115" cy="1162050"/>
          </a:xfrm>
          <a:prstGeom prst="rect">
            <a:avLst/>
          </a:prstGeom>
        </p:spPr>
        <p:txBody>
          <a:bodyPr wrap="square" lIns="0" tIns="514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3200" spc="-170">
                <a:latin typeface="Consolas"/>
                <a:cs typeface="Consolas"/>
              </a:rPr>
              <a:t>ZERO-</a:t>
            </a:r>
            <a:r>
              <a:rPr dirty="0" sz="3200" spc="-20">
                <a:latin typeface="Consolas"/>
                <a:cs typeface="Consolas"/>
              </a:rPr>
              <a:t>SHOT</a:t>
            </a:r>
            <a:endParaRPr sz="3200">
              <a:latin typeface="Consolas"/>
              <a:cs typeface="Consolas"/>
            </a:endParaRPr>
          </a:p>
          <a:p>
            <a:pPr marL="15240">
              <a:lnSpc>
                <a:spcPts val="2325"/>
              </a:lnSpc>
              <a:spcBef>
                <a:spcPts val="210"/>
              </a:spcBef>
            </a:pPr>
            <a:r>
              <a:rPr dirty="0" sz="2000" spc="-275">
                <a:latin typeface="Arial"/>
                <a:cs typeface="Arial"/>
              </a:rPr>
              <a:t>No</a:t>
            </a:r>
            <a:r>
              <a:rPr dirty="0" sz="2000" spc="10">
                <a:latin typeface="Arial"/>
                <a:cs typeface="Arial"/>
              </a:rPr>
              <a:t>  </a:t>
            </a:r>
            <a:r>
              <a:rPr dirty="0" sz="2000" spc="-60">
                <a:latin typeface="Arial"/>
                <a:cs typeface="Arial"/>
              </a:rPr>
              <a:t>examples</a:t>
            </a:r>
            <a:r>
              <a:rPr dirty="0" sz="2000" spc="-15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.</a:t>
            </a:r>
            <a:r>
              <a:rPr dirty="0" sz="2000" spc="85">
                <a:latin typeface="Arial"/>
                <a:cs typeface="Arial"/>
              </a:rPr>
              <a:t>  </a:t>
            </a:r>
            <a:r>
              <a:rPr dirty="0" sz="2000">
                <a:latin typeface="Arial"/>
                <a:cs typeface="Arial"/>
              </a:rPr>
              <a:t>Re1ies</a:t>
            </a:r>
            <a:r>
              <a:rPr dirty="0" sz="2000" spc="30">
                <a:latin typeface="Arial"/>
                <a:cs typeface="Arial"/>
              </a:rPr>
              <a:t>  </a:t>
            </a:r>
            <a:r>
              <a:rPr dirty="0" sz="2000" spc="-25">
                <a:latin typeface="Arial"/>
                <a:cs typeface="Arial"/>
              </a:rPr>
              <a:t>on</a:t>
            </a:r>
            <a:endParaRPr sz="2000">
              <a:latin typeface="Arial"/>
              <a:cs typeface="Arial"/>
            </a:endParaRPr>
          </a:p>
          <a:p>
            <a:pPr marL="17780">
              <a:lnSpc>
                <a:spcPts val="2265"/>
              </a:lnSpc>
            </a:pPr>
            <a:r>
              <a:rPr dirty="0" sz="1950" spc="225">
                <a:latin typeface="Arial"/>
                <a:cs typeface="Arial"/>
              </a:rPr>
              <a:t>pre-</a:t>
            </a:r>
            <a:r>
              <a:rPr dirty="0" sz="1950" spc="145">
                <a:latin typeface="Arial"/>
                <a:cs typeface="Arial"/>
              </a:rPr>
              <a:t>t</a:t>
            </a:r>
            <a:r>
              <a:rPr dirty="0" sz="1950" spc="-240">
                <a:latin typeface="Arial"/>
                <a:cs typeface="Arial"/>
              </a:rPr>
              <a:t> </a:t>
            </a:r>
            <a:r>
              <a:rPr dirty="0" sz="1950" spc="180">
                <a:latin typeface="Arial"/>
                <a:cs typeface="Arial"/>
              </a:rPr>
              <a:t>raining</a:t>
            </a:r>
            <a:r>
              <a:rPr dirty="0" sz="1950" spc="-260">
                <a:latin typeface="Arial"/>
                <a:cs typeface="Arial"/>
              </a:rPr>
              <a:t> </a:t>
            </a:r>
            <a:r>
              <a:rPr dirty="0" sz="1950" spc="-50">
                <a:latin typeface="Arial"/>
                <a:cs typeface="Arial"/>
              </a:rPr>
              <a:t>.</a:t>
            </a:r>
            <a:endParaRPr sz="19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2477181" y="7392105"/>
            <a:ext cx="2992120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75">
                <a:latin typeface="Consolas"/>
                <a:cs typeface="Consolas"/>
              </a:rPr>
              <a:t>FEW—</a:t>
            </a:r>
            <a:r>
              <a:rPr dirty="0" sz="1950">
                <a:latin typeface="Consolas"/>
                <a:cs typeface="Consolas"/>
              </a:rPr>
              <a:t>SHOT</a:t>
            </a:r>
            <a:r>
              <a:rPr dirty="0" sz="1950" spc="-185">
                <a:latin typeface="Consolas"/>
                <a:cs typeface="Consolas"/>
              </a:rPr>
              <a:t> </a:t>
            </a:r>
            <a:r>
              <a:rPr dirty="0" sz="1950" spc="-65">
                <a:latin typeface="Consolas"/>
                <a:cs typeface="Consolas"/>
              </a:rPr>
              <a:t>MECHANISM</a:t>
            </a:r>
            <a:r>
              <a:rPr dirty="0" sz="1950" spc="-195">
                <a:latin typeface="Consolas"/>
                <a:cs typeface="Consolas"/>
              </a:rPr>
              <a:t> </a:t>
            </a:r>
            <a:r>
              <a:rPr dirty="0" sz="1950" spc="-20">
                <a:latin typeface="Consolas"/>
                <a:cs typeface="Consolas"/>
              </a:rPr>
              <a:t>FLOW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997610" y="4703762"/>
            <a:ext cx="3060700" cy="1159510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409"/>
              </a:spcBef>
            </a:pPr>
            <a:r>
              <a:rPr dirty="0" sz="3100" spc="-130">
                <a:latin typeface="Consolas"/>
                <a:cs typeface="Consolas"/>
              </a:rPr>
              <a:t>ONE-</a:t>
            </a:r>
            <a:r>
              <a:rPr dirty="0" sz="3100" spc="-20">
                <a:latin typeface="Consolas"/>
                <a:cs typeface="Consolas"/>
              </a:rPr>
              <a:t>SHOT</a:t>
            </a:r>
            <a:endParaRPr sz="3100">
              <a:latin typeface="Consolas"/>
              <a:cs typeface="Consolas"/>
            </a:endParaRPr>
          </a:p>
          <a:p>
            <a:pPr marL="13335" marR="5080" indent="-1270">
              <a:lnSpc>
                <a:spcPts val="2200"/>
              </a:lnSpc>
              <a:spcBef>
                <a:spcPts val="520"/>
              </a:spcBef>
              <a:tabLst>
                <a:tab pos="1605280" algn="l"/>
                <a:tab pos="2814955" algn="l"/>
              </a:tabLst>
            </a:pPr>
            <a:r>
              <a:rPr dirty="0" sz="2050">
                <a:latin typeface="Calibri"/>
                <a:cs typeface="Calibri"/>
              </a:rPr>
              <a:t>One</a:t>
            </a:r>
            <a:r>
              <a:rPr dirty="0" sz="2050" spc="250">
                <a:latin typeface="Calibri"/>
                <a:cs typeface="Calibri"/>
              </a:rPr>
              <a:t> </a:t>
            </a:r>
            <a:r>
              <a:rPr dirty="0" sz="2050" spc="-10">
                <a:latin typeface="Calibri"/>
                <a:cs typeface="Calibri"/>
              </a:rPr>
              <a:t>example</a:t>
            </a:r>
            <a:r>
              <a:rPr dirty="0" sz="2050">
                <a:latin typeface="Calibri"/>
                <a:cs typeface="Calibri"/>
              </a:rPr>
              <a:t>	</a:t>
            </a:r>
            <a:r>
              <a:rPr dirty="0" sz="2050" spc="-10">
                <a:latin typeface="Calibri"/>
                <a:cs typeface="Calibri"/>
              </a:rPr>
              <a:t>prov1ded</a:t>
            </a:r>
            <a:r>
              <a:rPr dirty="0" sz="2050">
                <a:latin typeface="Calibri"/>
                <a:cs typeface="Calibri"/>
              </a:rPr>
              <a:t>	</a:t>
            </a:r>
            <a:r>
              <a:rPr dirty="0" sz="2050" spc="-25">
                <a:latin typeface="Calibri"/>
                <a:cs typeface="Calibri"/>
              </a:rPr>
              <a:t>to </a:t>
            </a:r>
            <a:r>
              <a:rPr dirty="0" sz="2050" spc="204">
                <a:latin typeface="Calibri"/>
                <a:cs typeface="Calibri"/>
              </a:rPr>
              <a:t>establish</a:t>
            </a:r>
            <a:r>
              <a:rPr dirty="0" sz="2050" spc="85">
                <a:latin typeface="Calibri"/>
                <a:cs typeface="Calibri"/>
              </a:rPr>
              <a:t>  </a:t>
            </a:r>
            <a:r>
              <a:rPr dirty="0" sz="2050" spc="150">
                <a:latin typeface="Calibri"/>
                <a:cs typeface="Calibri"/>
              </a:rPr>
              <a:t>pattern.</a:t>
            </a:r>
            <a:endParaRPr sz="2050">
              <a:latin typeface="Calibri"/>
              <a:cs typeface="Calibr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964483" y="7921977"/>
            <a:ext cx="2106930" cy="62484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 marR="5080" indent="638175">
              <a:lnSpc>
                <a:spcPct val="77700"/>
              </a:lnSpc>
              <a:spcBef>
                <a:spcPts val="710"/>
              </a:spcBef>
            </a:pPr>
            <a:r>
              <a:rPr dirty="0" sz="2200" spc="-10">
                <a:latin typeface="Arial"/>
                <a:cs typeface="Arial"/>
              </a:rPr>
              <a:t>Output </a:t>
            </a:r>
            <a:r>
              <a:rPr dirty="0" sz="2200" spc="-125">
                <a:latin typeface="Arial"/>
                <a:cs typeface="Arial"/>
              </a:rPr>
              <a:t>(Sample</a:t>
            </a:r>
            <a:r>
              <a:rPr dirty="0" sz="2200" spc="210">
                <a:latin typeface="Arial"/>
                <a:cs typeface="Arial"/>
              </a:rPr>
              <a:t> </a:t>
            </a:r>
            <a:r>
              <a:rPr dirty="0" sz="2200" spc="-409">
                <a:latin typeface="Arial"/>
                <a:cs typeface="Arial"/>
              </a:rPr>
              <a:t>Sunma</a:t>
            </a:r>
            <a:r>
              <a:rPr dirty="0" sz="2200" spc="-254">
                <a:latin typeface="Arial"/>
                <a:cs typeface="Arial"/>
              </a:rPr>
              <a:t> </a:t>
            </a:r>
            <a:r>
              <a:rPr dirty="0" sz="2200" spc="40">
                <a:latin typeface="Arial"/>
                <a:cs typeface="Arial"/>
              </a:rPr>
              <a:t>ry)</a:t>
            </a:r>
            <a:endParaRPr sz="2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031816" y="7909983"/>
            <a:ext cx="2489200" cy="762000"/>
          </a:xfrm>
          <a:prstGeom prst="rect">
            <a:avLst/>
          </a:prstGeom>
          <a:ln w="12700">
            <a:solidFill>
              <a:srgbClr val="23231F"/>
            </a:solidFill>
          </a:ln>
        </p:spPr>
        <p:txBody>
          <a:bodyPr wrap="square" lIns="0" tIns="86995" rIns="0" bIns="0" rtlCol="0" vert="horz">
            <a:spAutoFit/>
          </a:bodyPr>
          <a:lstStyle/>
          <a:p>
            <a:pPr marL="629920" marR="578485" indent="309245">
              <a:lnSpc>
                <a:spcPts val="2100"/>
              </a:lnSpc>
              <a:spcBef>
                <a:spcPts val="685"/>
              </a:spcBef>
            </a:pPr>
            <a:r>
              <a:rPr dirty="0" sz="2000" spc="125">
                <a:latin typeface="Arial"/>
                <a:cs typeface="Arial"/>
              </a:rPr>
              <a:t>Input </a:t>
            </a:r>
            <a:r>
              <a:rPr dirty="0" sz="2000" spc="-55">
                <a:latin typeface="Arial"/>
                <a:cs typeface="Arial"/>
              </a:rPr>
              <a:t>(Alex</a:t>
            </a:r>
            <a:r>
              <a:rPr dirty="0" sz="2000" spc="204">
                <a:latin typeface="Arial"/>
                <a:cs typeface="Arial"/>
              </a:rPr>
              <a:t> </a:t>
            </a:r>
            <a:r>
              <a:rPr dirty="0" sz="2000" spc="60">
                <a:latin typeface="Arial"/>
                <a:cs typeface="Arial"/>
              </a:rPr>
              <a:t>Text)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04849" y="1868663"/>
            <a:ext cx="7485380" cy="868044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924300">
              <a:lnSpc>
                <a:spcPct val="100000"/>
              </a:lnSpc>
              <a:spcBef>
                <a:spcPts val="135"/>
              </a:spcBef>
            </a:pPr>
            <a:r>
              <a:rPr dirty="0" sz="1700" spc="-45">
                <a:latin typeface="Consolas"/>
                <a:cs typeface="Consolas"/>
              </a:rPr>
              <a:t>DOT</a:t>
            </a:r>
            <a:r>
              <a:rPr dirty="0" sz="1700" spc="-190">
                <a:latin typeface="Consolas"/>
                <a:cs typeface="Consolas"/>
              </a:rPr>
              <a:t> </a:t>
            </a:r>
            <a:r>
              <a:rPr dirty="0" sz="1700" spc="-35">
                <a:latin typeface="Consolas"/>
                <a:cs typeface="Consolas"/>
              </a:rPr>
              <a:t>PATTERN</a:t>
            </a:r>
            <a:r>
              <a:rPr dirty="0" sz="1700" spc="-200">
                <a:latin typeface="Consolas"/>
                <a:cs typeface="Consolas"/>
              </a:rPr>
              <a:t> </a:t>
            </a:r>
            <a:r>
              <a:rPr dirty="0" sz="1700" spc="-35">
                <a:solidFill>
                  <a:srgbClr val="111111"/>
                </a:solidFill>
                <a:latin typeface="Consolas"/>
                <a:cs typeface="Consolas"/>
              </a:rPr>
              <a:t>//</a:t>
            </a:r>
            <a:r>
              <a:rPr dirty="0" sz="1700" spc="-120">
                <a:solidFill>
                  <a:srgbClr val="111111"/>
                </a:solidFill>
                <a:latin typeface="Consolas"/>
                <a:cs typeface="Consolas"/>
              </a:rPr>
              <a:t> </a:t>
            </a:r>
            <a:r>
              <a:rPr dirty="0" sz="1700" spc="-80">
                <a:latin typeface="Consolas"/>
                <a:cs typeface="Consolas"/>
              </a:rPr>
              <a:t>MULTIPLE</a:t>
            </a:r>
            <a:r>
              <a:rPr dirty="0" sz="1700" spc="-155">
                <a:latin typeface="Consolas"/>
                <a:cs typeface="Consolas"/>
              </a:rPr>
              <a:t> </a:t>
            </a:r>
            <a:r>
              <a:rPr dirty="0" sz="1700" spc="-40">
                <a:latin typeface="Consolas"/>
                <a:cs typeface="Consolas"/>
              </a:rPr>
              <a:t>EXAMPLES</a:t>
            </a:r>
            <a:endParaRPr sz="17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7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1700" spc="-65">
                <a:latin typeface="Consolas"/>
                <a:cs typeface="Consolas"/>
              </a:rPr>
              <a:t>SINGLE</a:t>
            </a:r>
            <a:r>
              <a:rPr dirty="0" sz="1700" spc="-170">
                <a:latin typeface="Consolas"/>
                <a:cs typeface="Consolas"/>
              </a:rPr>
              <a:t> </a:t>
            </a:r>
            <a:r>
              <a:rPr dirty="0" sz="1700">
                <a:latin typeface="Consolas"/>
                <a:cs typeface="Consolas"/>
              </a:rPr>
              <a:t>DOT</a:t>
            </a:r>
            <a:r>
              <a:rPr dirty="0" sz="1700" spc="-204">
                <a:latin typeface="Consolas"/>
                <a:cs typeface="Consolas"/>
              </a:rPr>
              <a:t> </a:t>
            </a:r>
            <a:r>
              <a:rPr dirty="0" sz="1700" spc="-45">
                <a:latin typeface="Consolas"/>
                <a:cs typeface="Consolas"/>
              </a:rPr>
              <a:t>//</a:t>
            </a:r>
            <a:r>
              <a:rPr dirty="0" sz="1700" spc="-100">
                <a:latin typeface="Consolas"/>
                <a:cs typeface="Consolas"/>
              </a:rPr>
              <a:t> </a:t>
            </a:r>
            <a:r>
              <a:rPr dirty="0" sz="1700" spc="-75">
                <a:latin typeface="Consolas"/>
                <a:cs typeface="Consolas"/>
              </a:rPr>
              <a:t>ONE</a:t>
            </a:r>
            <a:r>
              <a:rPr dirty="0" sz="1700" spc="-190">
                <a:latin typeface="Consolas"/>
                <a:cs typeface="Consolas"/>
              </a:rPr>
              <a:t> </a:t>
            </a:r>
            <a:r>
              <a:rPr dirty="0" sz="1700" spc="-10">
                <a:latin typeface="Consolas"/>
                <a:cs typeface="Consolas"/>
              </a:rPr>
              <a:t>EXAMPLE</a:t>
            </a:r>
            <a:endParaRPr sz="1700">
              <a:latin typeface="Consolas"/>
              <a:cs typeface="Consola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1314075" y="4044621"/>
            <a:ext cx="3465195" cy="1434465"/>
          </a:xfrm>
          <a:prstGeom prst="rect">
            <a:avLst/>
          </a:prstGeom>
        </p:spPr>
        <p:txBody>
          <a:bodyPr wrap="square" lIns="0" tIns="571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0"/>
              </a:spcBef>
            </a:pPr>
            <a:r>
              <a:rPr dirty="0" sz="3100" spc="-90">
                <a:latin typeface="Consolas"/>
                <a:cs typeface="Consolas"/>
              </a:rPr>
              <a:t>FEW-</a:t>
            </a:r>
            <a:r>
              <a:rPr dirty="0" sz="3100" spc="-20">
                <a:latin typeface="Consolas"/>
                <a:cs typeface="Consolas"/>
              </a:rPr>
              <a:t>SHOT</a:t>
            </a:r>
            <a:endParaRPr sz="3100">
              <a:latin typeface="Consolas"/>
              <a:cs typeface="Consolas"/>
            </a:endParaRPr>
          </a:p>
          <a:p>
            <a:pPr marL="17145" marR="5080" indent="2540">
              <a:lnSpc>
                <a:spcPts val="2200"/>
              </a:lnSpc>
              <a:spcBef>
                <a:spcPts val="470"/>
              </a:spcBef>
              <a:tabLst>
                <a:tab pos="423545" algn="l"/>
              </a:tabLst>
            </a:pPr>
            <a:r>
              <a:rPr dirty="0" sz="2000" spc="-25">
                <a:latin typeface="Consolas"/>
                <a:cs typeface="Consolas"/>
              </a:rPr>
              <a:t>Multi</a:t>
            </a:r>
            <a:r>
              <a:rPr dirty="0" sz="2000" spc="-240">
                <a:latin typeface="Consolas"/>
                <a:cs typeface="Consolas"/>
              </a:rPr>
              <a:t> </a:t>
            </a:r>
            <a:r>
              <a:rPr dirty="0" sz="2000">
                <a:latin typeface="Consolas"/>
                <a:cs typeface="Consolas"/>
              </a:rPr>
              <a:t>le</a:t>
            </a:r>
            <a:r>
              <a:rPr dirty="0" sz="2000" spc="-140">
                <a:latin typeface="Consolas"/>
                <a:cs typeface="Consolas"/>
              </a:rPr>
              <a:t> </a:t>
            </a:r>
            <a:r>
              <a:rPr dirty="0" sz="2000" spc="-45">
                <a:latin typeface="Consolas"/>
                <a:cs typeface="Consolas"/>
              </a:rPr>
              <a:t>exam</a:t>
            </a:r>
            <a:r>
              <a:rPr dirty="0" sz="2000" spc="-229">
                <a:latin typeface="Consolas"/>
                <a:cs typeface="Consolas"/>
              </a:rPr>
              <a:t> </a:t>
            </a:r>
            <a:r>
              <a:rPr dirty="0" sz="2000">
                <a:latin typeface="Consolas"/>
                <a:cs typeface="Consolas"/>
              </a:rPr>
              <a:t>les</a:t>
            </a:r>
            <a:r>
              <a:rPr dirty="0" sz="2000" spc="-140">
                <a:latin typeface="Consolas"/>
                <a:cs typeface="Consolas"/>
              </a:rPr>
              <a:t> </a:t>
            </a:r>
            <a:r>
              <a:rPr dirty="0" sz="2000" spc="-195">
                <a:latin typeface="Cambria"/>
                <a:cs typeface="Cambria"/>
              </a:rPr>
              <a:t>p</a:t>
            </a:r>
            <a:r>
              <a:rPr dirty="0" sz="2000" spc="-180">
                <a:latin typeface="Cambria"/>
                <a:cs typeface="Cambria"/>
              </a:rPr>
              <a:t> </a:t>
            </a:r>
            <a:r>
              <a:rPr dirty="0" sz="2000" spc="-10">
                <a:latin typeface="Cambria"/>
                <a:cs typeface="Cambria"/>
              </a:rPr>
              <a:t>rovided </a:t>
            </a:r>
            <a:r>
              <a:rPr dirty="0" sz="2000" spc="-25">
                <a:latin typeface="Arial"/>
                <a:cs typeface="Arial"/>
              </a:rPr>
              <a:t>to</a:t>
            </a:r>
            <a:r>
              <a:rPr dirty="0" sz="2000">
                <a:latin typeface="Arial"/>
                <a:cs typeface="Arial"/>
              </a:rPr>
              <a:t>	teach</a:t>
            </a:r>
            <a:r>
              <a:rPr dirty="0" sz="2000" spc="75">
                <a:latin typeface="Arial"/>
                <a:cs typeface="Arial"/>
              </a:rPr>
              <a:t>  </a:t>
            </a:r>
            <a:r>
              <a:rPr dirty="0" sz="2000" spc="185">
                <a:latin typeface="Arial"/>
                <a:cs typeface="Arial"/>
              </a:rPr>
              <a:t>style</a:t>
            </a:r>
            <a:r>
              <a:rPr dirty="0" sz="2000" spc="20">
                <a:latin typeface="Arial"/>
                <a:cs typeface="Arial"/>
              </a:rPr>
              <a:t>  </a:t>
            </a:r>
            <a:r>
              <a:rPr dirty="0" sz="2000" spc="-25">
                <a:latin typeface="Arial"/>
                <a:cs typeface="Arial"/>
              </a:rPr>
              <a:t>and </a:t>
            </a:r>
            <a:r>
              <a:rPr dirty="0" sz="1950" spc="-20">
                <a:latin typeface="Consolas"/>
                <a:cs typeface="Consolas"/>
              </a:rPr>
              <a:t>structure</a:t>
            </a:r>
            <a:r>
              <a:rPr dirty="0" sz="1950" spc="-175">
                <a:latin typeface="Consolas"/>
                <a:cs typeface="Consolas"/>
              </a:rPr>
              <a:t> </a:t>
            </a:r>
            <a:r>
              <a:rPr dirty="0" sz="1950" spc="-10">
                <a:latin typeface="Consolas"/>
                <a:cs typeface="Consolas"/>
              </a:rPr>
              <a:t>dynamically.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2295716" y="7884583"/>
            <a:ext cx="2485390" cy="812800"/>
          </a:xfrm>
          <a:prstGeom prst="rect">
            <a:avLst/>
          </a:prstGeom>
          <a:ln w="29633">
            <a:solidFill>
              <a:srgbClr val="DB571C"/>
            </a:solidFill>
          </a:ln>
        </p:spPr>
        <p:txBody>
          <a:bodyPr wrap="square" lIns="0" tIns="97155" rIns="0" bIns="0" rtlCol="0" vert="horz">
            <a:spAutoFit/>
          </a:bodyPr>
          <a:lstStyle/>
          <a:p>
            <a:pPr algn="ctr" marL="80645">
              <a:lnSpc>
                <a:spcPts val="2105"/>
              </a:lnSpc>
              <a:spcBef>
                <a:spcPts val="765"/>
              </a:spcBef>
            </a:pPr>
            <a:r>
              <a:rPr dirty="0" sz="1800" spc="110">
                <a:latin typeface="Calibri"/>
                <a:cs typeface="Calibri"/>
              </a:rPr>
              <a:t>PREDICTED</a:t>
            </a:r>
            <a:endParaRPr sz="1800">
              <a:latin typeface="Calibri"/>
              <a:cs typeface="Calibri"/>
            </a:endParaRPr>
          </a:p>
          <a:p>
            <a:pPr algn="ctr" marL="73025">
              <a:lnSpc>
                <a:spcPts val="2165"/>
              </a:lnSpc>
            </a:pPr>
            <a:r>
              <a:rPr dirty="0" sz="1850" spc="-95">
                <a:latin typeface="Arial"/>
                <a:cs typeface="Arial"/>
              </a:rPr>
              <a:t>OUTPUT</a:t>
            </a:r>
            <a:endParaRPr sz="1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" y="9446683"/>
            <a:ext cx="17047845" cy="0"/>
          </a:xfrm>
          <a:custGeom>
            <a:avLst/>
            <a:gdLst/>
            <a:ahLst/>
            <a:cxnLst/>
            <a:rect l="l" t="t" r="r" b="b"/>
            <a:pathLst>
              <a:path w="17047845" h="0">
                <a:moveTo>
                  <a:pt x="0" y="0"/>
                </a:moveTo>
                <a:lnTo>
                  <a:pt x="17047634" y="0"/>
                </a:lnTo>
              </a:path>
            </a:pathLst>
          </a:custGeom>
          <a:ln w="4233">
            <a:solidFill>
              <a:srgbClr val="64646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00500" y="2552700"/>
            <a:ext cx="520700" cy="4508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90500" y="2552700"/>
            <a:ext cx="520700" cy="4508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92100" y="9474200"/>
            <a:ext cx="12700" cy="1270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724900" y="9474200"/>
            <a:ext cx="25400" cy="139700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7551" rIns="0" bIns="0" rtlCol="0" vert="horz">
            <a:spAutoFit/>
          </a:bodyPr>
          <a:lstStyle/>
          <a:p>
            <a:pPr marL="362585">
              <a:lnSpc>
                <a:spcPts val="7855"/>
              </a:lnSpc>
              <a:spcBef>
                <a:spcPts val="105"/>
              </a:spcBef>
            </a:pPr>
            <a:r>
              <a:rPr dirty="0" sz="6800" spc="355">
                <a:latin typeface="Calibri"/>
                <a:cs typeface="Calibri"/>
              </a:rPr>
              <a:t>PATTERN</a:t>
            </a:r>
            <a:r>
              <a:rPr dirty="0" sz="6800" spc="-645">
                <a:latin typeface="Calibri"/>
                <a:cs typeface="Calibri"/>
              </a:rPr>
              <a:t> </a:t>
            </a:r>
            <a:r>
              <a:rPr dirty="0" sz="6800" spc="-320">
                <a:latin typeface="Calibri"/>
                <a:cs typeface="Calibri"/>
              </a:rPr>
              <a:t>1:</a:t>
            </a:r>
            <a:r>
              <a:rPr dirty="0" sz="6800" spc="-540">
                <a:latin typeface="Calibri"/>
                <a:cs typeface="Calibri"/>
              </a:rPr>
              <a:t> </a:t>
            </a:r>
            <a:r>
              <a:rPr dirty="0" sz="6800" spc="260">
                <a:latin typeface="Calibri"/>
                <a:cs typeface="Calibri"/>
              </a:rPr>
              <a:t>CHAIN-</a:t>
            </a:r>
            <a:r>
              <a:rPr dirty="0" sz="6800" spc="250">
                <a:latin typeface="Calibri"/>
                <a:cs typeface="Calibri"/>
              </a:rPr>
              <a:t>OF-</a:t>
            </a:r>
            <a:r>
              <a:rPr dirty="0" sz="6800" spc="305">
                <a:latin typeface="Calibri"/>
                <a:cs typeface="Calibri"/>
              </a:rPr>
              <a:t>THOUGHT</a:t>
            </a:r>
            <a:endParaRPr sz="6800">
              <a:latin typeface="Calibri"/>
              <a:cs typeface="Calibri"/>
            </a:endParaRPr>
          </a:p>
          <a:p>
            <a:pPr marL="419734">
              <a:lnSpc>
                <a:spcPts val="4315"/>
              </a:lnSpc>
            </a:pPr>
            <a:r>
              <a:rPr dirty="0" sz="3850" spc="-140"/>
              <a:t>Forcing</a:t>
            </a:r>
            <a:r>
              <a:rPr dirty="0" sz="3850" spc="-165"/>
              <a:t> Reasoning</a:t>
            </a:r>
            <a:r>
              <a:rPr dirty="0" sz="3850" spc="-25"/>
              <a:t> </a:t>
            </a:r>
            <a:r>
              <a:rPr dirty="0" sz="3850" spc="-10"/>
              <a:t>to</a:t>
            </a:r>
            <a:r>
              <a:rPr dirty="0" sz="3850" spc="-445"/>
              <a:t> </a:t>
            </a:r>
            <a:r>
              <a:rPr dirty="0" sz="3850" spc="-165"/>
              <a:t>Reduce</a:t>
            </a:r>
            <a:r>
              <a:rPr dirty="0" sz="3850" spc="-180"/>
              <a:t> </a:t>
            </a:r>
            <a:r>
              <a:rPr dirty="0" sz="3850" spc="-20"/>
              <a:t>Error</a:t>
            </a:r>
            <a:endParaRPr sz="3850"/>
          </a:p>
        </p:txBody>
      </p:sp>
      <p:sp>
        <p:nvSpPr>
          <p:cNvPr id="8" name="object 8"/>
          <p:cNvSpPr txBox="1"/>
          <p:nvPr/>
        </p:nvSpPr>
        <p:spPr>
          <a:xfrm>
            <a:off x="2293170" y="4361391"/>
            <a:ext cx="1620520" cy="793750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 marR="5080" indent="268605">
              <a:lnSpc>
                <a:spcPts val="2800"/>
              </a:lnSpc>
              <a:spcBef>
                <a:spcPts val="565"/>
              </a:spcBef>
            </a:pPr>
            <a:r>
              <a:rPr dirty="0" sz="2700" spc="-75">
                <a:latin typeface="Arial"/>
                <a:cs typeface="Arial"/>
              </a:rPr>
              <a:t>Standard </a:t>
            </a:r>
            <a:r>
              <a:rPr dirty="0" sz="2700" spc="-90">
                <a:latin typeface="Arial"/>
                <a:cs typeface="Arial"/>
              </a:rPr>
              <a:t>Generation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24624" y="2588330"/>
            <a:ext cx="5967730" cy="154051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711065" algn="l"/>
              </a:tabLst>
            </a:pPr>
            <a:r>
              <a:rPr dirty="0" sz="2550" spc="-10">
                <a:latin typeface="Calibri"/>
                <a:cs typeface="Calibri"/>
              </a:rPr>
              <a:t>Ouest1on</a:t>
            </a:r>
            <a:r>
              <a:rPr dirty="0" sz="2550">
                <a:latin typeface="Calibri"/>
                <a:cs typeface="Calibri"/>
              </a:rPr>
              <a:t>	</a:t>
            </a:r>
            <a:r>
              <a:rPr dirty="0" sz="2550" spc="-35">
                <a:latin typeface="Calibri"/>
                <a:cs typeface="Calibri"/>
              </a:rPr>
              <a:t>Ouest1on</a:t>
            </a:r>
            <a:endParaRPr sz="25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550">
              <a:latin typeface="Calibri"/>
              <a:cs typeface="Calibri"/>
            </a:endParaRPr>
          </a:p>
          <a:p>
            <a:pPr algn="ctr" marL="4653915">
              <a:lnSpc>
                <a:spcPts val="2530"/>
              </a:lnSpc>
            </a:pPr>
            <a:r>
              <a:rPr dirty="0" sz="2300">
                <a:latin typeface="Arial"/>
                <a:cs typeface="Arial"/>
              </a:rPr>
              <a:t>Step</a:t>
            </a:r>
            <a:r>
              <a:rPr dirty="0" sz="2300" spc="45">
                <a:latin typeface="Arial"/>
                <a:cs typeface="Arial"/>
              </a:rPr>
              <a:t>  </a:t>
            </a:r>
            <a:r>
              <a:rPr dirty="0" sz="2300" spc="-50">
                <a:latin typeface="Arial"/>
                <a:cs typeface="Arial"/>
              </a:rPr>
              <a:t>1</a:t>
            </a:r>
            <a:endParaRPr sz="2300">
              <a:latin typeface="Arial"/>
              <a:cs typeface="Arial"/>
            </a:endParaRPr>
          </a:p>
          <a:p>
            <a:pPr algn="ctr" marL="4635500">
              <a:lnSpc>
                <a:spcPts val="2530"/>
              </a:lnSpc>
            </a:pPr>
            <a:r>
              <a:rPr dirty="0" sz="2300" spc="-10">
                <a:latin typeface="Consolas"/>
                <a:cs typeface="Consolas"/>
              </a:rPr>
              <a:t>Analysis</a:t>
            </a:r>
            <a:endParaRPr sz="23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213570" y="6531327"/>
            <a:ext cx="2334895" cy="6616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R="47625">
              <a:lnSpc>
                <a:spcPts val="2370"/>
              </a:lnSpc>
              <a:spcBef>
                <a:spcPts val="120"/>
              </a:spcBef>
            </a:pPr>
            <a:r>
              <a:rPr dirty="0" sz="2200">
                <a:latin typeface="Arial"/>
                <a:cs typeface="Arial"/>
              </a:rPr>
              <a:t>Nrong</a:t>
            </a:r>
            <a:r>
              <a:rPr dirty="0" sz="2200" spc="185">
                <a:latin typeface="Arial"/>
                <a:cs typeface="Arial"/>
              </a:rPr>
              <a:t>  </a:t>
            </a:r>
            <a:r>
              <a:rPr dirty="0" sz="2200" spc="-10">
                <a:latin typeface="Arial"/>
                <a:cs typeface="Arial"/>
              </a:rPr>
              <a:t>Answer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ts val="2610"/>
              </a:lnSpc>
            </a:pPr>
            <a:r>
              <a:rPr dirty="0" sz="2400" spc="60">
                <a:latin typeface="Arial"/>
                <a:cs typeface="Arial"/>
              </a:rPr>
              <a:t>(Ha1lucinat1on)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140860" y="4521200"/>
            <a:ext cx="1736725" cy="690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735">
              <a:lnSpc>
                <a:spcPts val="2675"/>
              </a:lnSpc>
              <a:spcBef>
                <a:spcPts val="100"/>
              </a:spcBef>
            </a:pPr>
            <a:r>
              <a:rPr dirty="0" sz="2500">
                <a:latin typeface="Arial"/>
                <a:cs typeface="Arial"/>
              </a:rPr>
              <a:t>Step</a:t>
            </a:r>
            <a:r>
              <a:rPr dirty="0" sz="2500" spc="390">
                <a:latin typeface="Arial"/>
                <a:cs typeface="Arial"/>
              </a:rPr>
              <a:t> </a:t>
            </a:r>
            <a:r>
              <a:rPr dirty="0" sz="2500" spc="-50">
                <a:latin typeface="Arial"/>
                <a:cs typeface="Arial"/>
              </a:rPr>
              <a:t>2</a:t>
            </a:r>
            <a:endParaRPr sz="2500">
              <a:latin typeface="Arial"/>
              <a:cs typeface="Arial"/>
            </a:endParaRPr>
          </a:p>
          <a:p>
            <a:pPr algn="ctr">
              <a:lnSpc>
                <a:spcPts val="2555"/>
              </a:lnSpc>
            </a:pPr>
            <a:r>
              <a:rPr dirty="0" sz="2400" spc="-204">
                <a:latin typeface="Courier New"/>
                <a:cs typeface="Courier New"/>
              </a:rPr>
              <a:t>Calculation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095914" y="5624688"/>
            <a:ext cx="1882775" cy="67754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 marR="5080" indent="466725">
              <a:lnSpc>
                <a:spcPts val="2300"/>
              </a:lnSpc>
              <a:spcBef>
                <a:spcPts val="620"/>
              </a:spcBef>
            </a:pPr>
            <a:r>
              <a:rPr dirty="0" sz="2350" spc="-20">
                <a:latin typeface="Consolas"/>
                <a:cs typeface="Consolas"/>
              </a:rPr>
              <a:t>Step</a:t>
            </a:r>
            <a:r>
              <a:rPr dirty="0" sz="2350" spc="-280">
                <a:latin typeface="Consolas"/>
                <a:cs typeface="Consolas"/>
              </a:rPr>
              <a:t> </a:t>
            </a:r>
            <a:r>
              <a:rPr dirty="0" sz="2350">
                <a:latin typeface="Consolas"/>
                <a:cs typeface="Consolas"/>
              </a:rPr>
              <a:t>3 </a:t>
            </a:r>
            <a:r>
              <a:rPr dirty="0" sz="2350" spc="-80">
                <a:latin typeface="Consolas"/>
                <a:cs typeface="Consolas"/>
              </a:rPr>
              <a:t>Verification</a:t>
            </a:r>
            <a:endParaRPr sz="235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942689" y="6772627"/>
            <a:ext cx="218821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220">
                <a:latin typeface="Arial"/>
                <a:cs typeface="Arial"/>
              </a:rPr>
              <a:t>Co</a:t>
            </a:r>
            <a:r>
              <a:rPr dirty="0" sz="2200" spc="-360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r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235">
                <a:latin typeface="Arial"/>
                <a:cs typeface="Arial"/>
              </a:rPr>
              <a:t>rect</a:t>
            </a:r>
            <a:r>
              <a:rPr dirty="0" sz="2200" spc="105">
                <a:latin typeface="Arial"/>
                <a:cs typeface="Arial"/>
              </a:rPr>
              <a:t>  </a:t>
            </a:r>
            <a:r>
              <a:rPr dirty="0" sz="2200" spc="-30">
                <a:latin typeface="Arial"/>
                <a:cs typeface="Arial"/>
              </a:rPr>
              <a:t>Answer</a:t>
            </a:r>
            <a:endParaRPr sz="22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507415" y="4559652"/>
            <a:ext cx="255397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65">
                <a:solidFill>
                  <a:srgbClr val="B3673F"/>
                </a:solidFill>
                <a:latin typeface="Arial"/>
                <a:cs typeface="Arial"/>
              </a:rPr>
              <a:t>Cnain-</a:t>
            </a:r>
            <a:r>
              <a:rPr dirty="0" sz="2850" spc="-135">
                <a:solidFill>
                  <a:srgbClr val="B3673F"/>
                </a:solidFill>
                <a:latin typeface="Arial"/>
                <a:cs typeface="Arial"/>
              </a:rPr>
              <a:t>of-Thought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81895" y="7804150"/>
            <a:ext cx="56451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25">
                <a:latin typeface="Consolas"/>
                <a:cs typeface="Consolas"/>
              </a:rPr>
              <a:t>pop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09436" y="7804150"/>
            <a:ext cx="7779384" cy="1293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216535">
              <a:lnSpc>
                <a:spcPct val="100000"/>
              </a:lnSpc>
              <a:spcBef>
                <a:spcPts val="100"/>
              </a:spcBef>
              <a:tabLst>
                <a:tab pos="4622165" algn="l"/>
              </a:tabLst>
            </a:pPr>
            <a:r>
              <a:rPr dirty="0" sz="2500" spc="-50">
                <a:latin typeface="Consolas"/>
                <a:cs typeface="Consolas"/>
              </a:rPr>
              <a:t>p</a:t>
            </a:r>
            <a:r>
              <a:rPr dirty="0" sz="2500">
                <a:latin typeface="Consolas"/>
                <a:cs typeface="Consolas"/>
              </a:rPr>
              <a:t>	</a:t>
            </a:r>
            <a:r>
              <a:rPr dirty="0" sz="2500" spc="-50">
                <a:latin typeface="Consolas"/>
                <a:cs typeface="Consolas"/>
              </a:rPr>
              <a:t>p</a:t>
            </a:r>
            <a:endParaRPr sz="2500">
              <a:latin typeface="Consolas"/>
              <a:cs typeface="Consolas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endParaRPr sz="250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</a:pPr>
            <a:r>
              <a:rPr dirty="0" sz="2900" spc="-175">
                <a:latin typeface="Arial"/>
                <a:cs typeface="Arial"/>
              </a:rPr>
              <a:t>Externalizing</a:t>
            </a:r>
            <a:r>
              <a:rPr dirty="0" sz="2900" spc="-105">
                <a:latin typeface="Arial"/>
                <a:cs typeface="Arial"/>
              </a:rPr>
              <a:t> </a:t>
            </a:r>
            <a:r>
              <a:rPr dirty="0" sz="2900" spc="-130">
                <a:latin typeface="Arial"/>
                <a:cs typeface="Arial"/>
              </a:rPr>
              <a:t>the</a:t>
            </a:r>
            <a:r>
              <a:rPr dirty="0" sz="2900" spc="-260">
                <a:latin typeface="Arial"/>
                <a:cs typeface="Arial"/>
              </a:rPr>
              <a:t> </a:t>
            </a:r>
            <a:r>
              <a:rPr dirty="0" sz="2900" spc="-175">
                <a:latin typeface="Arial"/>
                <a:cs typeface="Arial"/>
              </a:rPr>
              <a:t>thought</a:t>
            </a:r>
            <a:r>
              <a:rPr dirty="0" sz="2900" spc="-60">
                <a:latin typeface="Arial"/>
                <a:cs typeface="Arial"/>
              </a:rPr>
              <a:t> </a:t>
            </a:r>
            <a:r>
              <a:rPr dirty="0" sz="2900" spc="-180">
                <a:latin typeface="Arial"/>
                <a:cs typeface="Arial"/>
              </a:rPr>
              <a:t>process</a:t>
            </a:r>
            <a:r>
              <a:rPr dirty="0" sz="2900" spc="-150">
                <a:latin typeface="Arial"/>
                <a:cs typeface="Arial"/>
              </a:rPr>
              <a:t> </a:t>
            </a:r>
            <a:r>
              <a:rPr dirty="0" sz="2900" spc="-200">
                <a:latin typeface="Arial"/>
                <a:cs typeface="Arial"/>
              </a:rPr>
              <a:t>reduces</a:t>
            </a:r>
            <a:r>
              <a:rPr dirty="0" sz="2900" spc="-95">
                <a:latin typeface="Arial"/>
                <a:cs typeface="Arial"/>
              </a:rPr>
              <a:t> </a:t>
            </a:r>
            <a:r>
              <a:rPr dirty="0" sz="2900" spc="-150">
                <a:latin typeface="Arial"/>
                <a:cs typeface="Arial"/>
              </a:rPr>
              <a:t>logic</a:t>
            </a:r>
            <a:r>
              <a:rPr dirty="0" sz="2900" spc="-170">
                <a:latin typeface="Arial"/>
                <a:cs typeface="Arial"/>
              </a:rPr>
              <a:t> </a:t>
            </a:r>
            <a:r>
              <a:rPr dirty="0" sz="2900" spc="-100">
                <a:latin typeface="Arial"/>
                <a:cs typeface="Arial"/>
              </a:rPr>
              <a:t>errors.</a:t>
            </a:r>
            <a:endParaRPr sz="29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057021" y="7804150"/>
            <a:ext cx="187960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-50">
                <a:latin typeface="Consolas"/>
                <a:cs typeface="Consolas"/>
              </a:rPr>
              <a:t>g</a:t>
            </a:r>
            <a:endParaRPr sz="2500">
              <a:latin typeface="Consolas"/>
              <a:cs typeface="Consola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4366799" y="8779227"/>
            <a:ext cx="245935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70">
                <a:latin typeface="Arial"/>
                <a:cs typeface="Arial"/>
              </a:rPr>
              <a:t>Revision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 spc="260">
                <a:latin typeface="Arial"/>
                <a:cs typeface="Arial"/>
              </a:rPr>
              <a:t>03//</a:t>
            </a:r>
            <a:r>
              <a:rPr dirty="0" sz="2200" spc="-120">
                <a:latin typeface="Arial"/>
                <a:cs typeface="Arial"/>
              </a:rPr>
              <a:t> </a:t>
            </a:r>
            <a:r>
              <a:rPr dirty="0" sz="2200" spc="-145">
                <a:latin typeface="Arial"/>
                <a:cs typeface="Arial"/>
              </a:rPr>
              <a:t>Rev.</a:t>
            </a:r>
            <a:r>
              <a:rPr dirty="0" sz="2200" spc="-280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106483" y="9422341"/>
            <a:ext cx="1228725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>
                <a:latin typeface="Arial"/>
                <a:cs typeface="Arial"/>
              </a:rPr>
              <a:t>G</a:t>
            </a:r>
            <a:r>
              <a:rPr dirty="0" sz="1450" spc="320">
                <a:latin typeface="Arial"/>
                <a:cs typeface="Arial"/>
              </a:rPr>
              <a:t> </a:t>
            </a:r>
            <a:r>
              <a:rPr dirty="0" sz="1450" spc="-65">
                <a:latin typeface="Arial"/>
                <a:cs typeface="Arial"/>
              </a:rPr>
              <a:t>NotebookLM</a:t>
            </a:r>
            <a:endParaRPr sz="1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7000" y="101600"/>
            <a:ext cx="17221200" cy="95250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2442" rIns="0" bIns="0" rtlCol="0" vert="horz">
            <a:spAutoFit/>
          </a:bodyPr>
          <a:lstStyle/>
          <a:p>
            <a:pPr marL="341630">
              <a:lnSpc>
                <a:spcPct val="100000"/>
              </a:lnSpc>
              <a:spcBef>
                <a:spcPts val="120"/>
              </a:spcBef>
            </a:pPr>
            <a:r>
              <a:rPr dirty="0" sz="7550" spc="-50">
                <a:latin typeface="Calibri"/>
                <a:cs typeface="Calibri"/>
              </a:rPr>
              <a:t>PATTERN</a:t>
            </a:r>
            <a:r>
              <a:rPr dirty="0" sz="7550" spc="-615">
                <a:latin typeface="Calibri"/>
                <a:cs typeface="Calibri"/>
              </a:rPr>
              <a:t> </a:t>
            </a:r>
            <a:r>
              <a:rPr dirty="0" sz="7550" spc="-70">
                <a:latin typeface="Calibri"/>
                <a:cs typeface="Calibri"/>
              </a:rPr>
              <a:t>2:</a:t>
            </a:r>
            <a:r>
              <a:rPr dirty="0" sz="7550" spc="-960">
                <a:latin typeface="Calibri"/>
                <a:cs typeface="Calibri"/>
              </a:rPr>
              <a:t> </a:t>
            </a:r>
            <a:r>
              <a:rPr dirty="0" sz="7550" spc="-50">
                <a:latin typeface="Calibri"/>
                <a:cs typeface="Calibri"/>
              </a:rPr>
              <a:t>CRITIOUE</a:t>
            </a:r>
            <a:r>
              <a:rPr dirty="0" sz="7550" spc="-509">
                <a:latin typeface="Calibri"/>
                <a:cs typeface="Calibri"/>
              </a:rPr>
              <a:t> </a:t>
            </a:r>
            <a:r>
              <a:rPr dirty="0" sz="7550" spc="-415">
                <a:latin typeface="Calibri"/>
                <a:cs typeface="Calibri"/>
              </a:rPr>
              <a:t>&amp;</a:t>
            </a:r>
            <a:r>
              <a:rPr dirty="0" sz="7550" spc="-969">
                <a:latin typeface="Calibri"/>
                <a:cs typeface="Calibri"/>
              </a:rPr>
              <a:t> </a:t>
            </a:r>
            <a:r>
              <a:rPr dirty="0" sz="7550" spc="55">
                <a:latin typeface="Calibri"/>
                <a:cs typeface="Calibri"/>
              </a:rPr>
              <a:t>REFINE</a:t>
            </a:r>
            <a:endParaRPr sz="755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9683" y="4234038"/>
            <a:ext cx="3265804" cy="196215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415" marR="5080" indent="-635">
              <a:lnSpc>
                <a:spcPct val="86900"/>
              </a:lnSpc>
              <a:spcBef>
                <a:spcPts val="480"/>
              </a:spcBef>
            </a:pPr>
            <a:r>
              <a:rPr dirty="0" sz="2350" spc="-30">
                <a:solidFill>
                  <a:srgbClr val="A3603B"/>
                </a:solidFill>
                <a:latin typeface="Consolas"/>
                <a:cs typeface="Consolas"/>
              </a:rPr>
              <a:t>SIDE</a:t>
            </a:r>
            <a:r>
              <a:rPr dirty="0" sz="2350" spc="-295">
                <a:solidFill>
                  <a:srgbClr val="A3603B"/>
                </a:solidFill>
                <a:latin typeface="Consolas"/>
                <a:cs typeface="Consolas"/>
              </a:rPr>
              <a:t> </a:t>
            </a:r>
            <a:r>
              <a:rPr dirty="0" sz="2350">
                <a:solidFill>
                  <a:srgbClr val="BC5E33"/>
                </a:solidFill>
                <a:latin typeface="Consolas"/>
                <a:cs typeface="Consolas"/>
              </a:rPr>
              <a:t>NOTE</a:t>
            </a:r>
            <a:r>
              <a:rPr dirty="0" sz="2350" spc="-280">
                <a:solidFill>
                  <a:srgbClr val="BC5E33"/>
                </a:solidFill>
                <a:latin typeface="Consolas"/>
                <a:cs typeface="Consolas"/>
              </a:rPr>
              <a:t> </a:t>
            </a:r>
            <a:r>
              <a:rPr dirty="0" sz="2350" spc="-204">
                <a:solidFill>
                  <a:srgbClr val="99603F"/>
                </a:solidFill>
                <a:latin typeface="Consolas"/>
                <a:cs typeface="Consolas"/>
              </a:rPr>
              <a:t>//</a:t>
            </a:r>
            <a:r>
              <a:rPr dirty="0" sz="2350" spc="-114">
                <a:solidFill>
                  <a:srgbClr val="99603F"/>
                </a:solidFill>
                <a:latin typeface="Consolas"/>
                <a:cs typeface="Consolas"/>
              </a:rPr>
              <a:t> </a:t>
            </a:r>
            <a:r>
              <a:rPr dirty="0" sz="2350" spc="-20">
                <a:latin typeface="Consolas"/>
                <a:cs typeface="Consolas"/>
              </a:rPr>
              <a:t>LLMs</a:t>
            </a:r>
            <a:r>
              <a:rPr dirty="0" sz="2350" spc="-295">
                <a:latin typeface="Consolas"/>
                <a:cs typeface="Consolas"/>
              </a:rPr>
              <a:t> </a:t>
            </a:r>
            <a:r>
              <a:rPr dirty="0" sz="2350" spc="-25">
                <a:latin typeface="Consolas"/>
                <a:cs typeface="Consolas"/>
              </a:rPr>
              <a:t>are </a:t>
            </a:r>
            <a:r>
              <a:rPr dirty="0" sz="2350" spc="-65">
                <a:latin typeface="Consolas"/>
                <a:cs typeface="Consolas"/>
              </a:rPr>
              <a:t>often</a:t>
            </a:r>
            <a:r>
              <a:rPr dirty="0" sz="2350" spc="-260">
                <a:latin typeface="Consolas"/>
                <a:cs typeface="Consolas"/>
              </a:rPr>
              <a:t> </a:t>
            </a:r>
            <a:r>
              <a:rPr dirty="0" sz="2350" spc="-50">
                <a:latin typeface="Consolas"/>
                <a:cs typeface="Consolas"/>
              </a:rPr>
              <a:t>better</a:t>
            </a:r>
            <a:r>
              <a:rPr dirty="0" sz="2350" spc="-250">
                <a:latin typeface="Consolas"/>
                <a:cs typeface="Consolas"/>
              </a:rPr>
              <a:t> </a:t>
            </a:r>
            <a:r>
              <a:rPr dirty="0" sz="2350" spc="-25">
                <a:latin typeface="Consolas"/>
                <a:cs typeface="Consolas"/>
              </a:rPr>
              <a:t>at </a:t>
            </a:r>
            <a:r>
              <a:rPr dirty="0" sz="2400" spc="-265">
                <a:latin typeface="Courier New"/>
                <a:cs typeface="Courier New"/>
              </a:rPr>
              <a:t>verification</a:t>
            </a:r>
            <a:r>
              <a:rPr dirty="0" sz="2400" spc="-10">
                <a:latin typeface="Courier New"/>
                <a:cs typeface="Courier New"/>
              </a:rPr>
              <a:t> </a:t>
            </a:r>
            <a:r>
              <a:rPr dirty="0" sz="2400" spc="-20">
                <a:latin typeface="Courier New"/>
                <a:cs typeface="Courier New"/>
              </a:rPr>
              <a:t>than </a:t>
            </a:r>
            <a:r>
              <a:rPr dirty="0" sz="2400" spc="-254">
                <a:latin typeface="Courier New"/>
                <a:cs typeface="Courier New"/>
              </a:rPr>
              <a:t>initial</a:t>
            </a:r>
            <a:r>
              <a:rPr dirty="0" sz="2400" spc="-95">
                <a:latin typeface="Courier New"/>
                <a:cs typeface="Courier New"/>
              </a:rPr>
              <a:t> </a:t>
            </a:r>
            <a:r>
              <a:rPr dirty="0" sz="2400" spc="-275">
                <a:latin typeface="Courier New"/>
                <a:cs typeface="Courier New"/>
              </a:rPr>
              <a:t>generation.</a:t>
            </a:r>
            <a:endParaRPr sz="2400">
              <a:latin typeface="Courier New"/>
              <a:cs typeface="Courier New"/>
            </a:endParaRPr>
          </a:p>
          <a:p>
            <a:pPr marL="12700" marR="648335" indent="8890">
              <a:lnSpc>
                <a:spcPts val="2450"/>
              </a:lnSpc>
              <a:spcBef>
                <a:spcPts val="60"/>
              </a:spcBef>
            </a:pPr>
            <a:r>
              <a:rPr dirty="0" sz="2400" spc="-225">
                <a:latin typeface="Courier New"/>
                <a:cs typeface="Courier New"/>
              </a:rPr>
              <a:t>Use</a:t>
            </a:r>
            <a:r>
              <a:rPr dirty="0" sz="2400" spc="-380">
                <a:latin typeface="Courier New"/>
                <a:cs typeface="Courier New"/>
              </a:rPr>
              <a:t> </a:t>
            </a:r>
            <a:r>
              <a:rPr dirty="0" sz="2400" spc="-240">
                <a:latin typeface="Courier New"/>
                <a:cs typeface="Courier New"/>
              </a:rPr>
              <a:t>them</a:t>
            </a:r>
            <a:r>
              <a:rPr dirty="0" sz="2400" spc="-170">
                <a:latin typeface="Courier New"/>
                <a:cs typeface="Courier New"/>
              </a:rPr>
              <a:t> </a:t>
            </a:r>
            <a:r>
              <a:rPr dirty="0" sz="2400" spc="-175">
                <a:latin typeface="Courier New"/>
                <a:cs typeface="Courier New"/>
              </a:rPr>
              <a:t>to</a:t>
            </a:r>
            <a:r>
              <a:rPr dirty="0" sz="2400" spc="-395">
                <a:latin typeface="Courier New"/>
                <a:cs typeface="Courier New"/>
              </a:rPr>
              <a:t> </a:t>
            </a:r>
            <a:r>
              <a:rPr dirty="0" sz="2400" spc="-240">
                <a:latin typeface="Courier New"/>
                <a:cs typeface="Courier New"/>
              </a:rPr>
              <a:t>check </a:t>
            </a:r>
            <a:r>
              <a:rPr dirty="0" sz="2400" spc="-265">
                <a:latin typeface="Courier New"/>
                <a:cs typeface="Courier New"/>
              </a:rPr>
              <a:t>their</a:t>
            </a:r>
            <a:r>
              <a:rPr dirty="0" sz="2400" spc="-35">
                <a:latin typeface="Courier New"/>
                <a:cs typeface="Courier New"/>
              </a:rPr>
              <a:t> </a:t>
            </a:r>
            <a:r>
              <a:rPr dirty="0" sz="2400" spc="-254">
                <a:latin typeface="Courier New"/>
                <a:cs typeface="Courier New"/>
              </a:rPr>
              <a:t>own</a:t>
            </a:r>
            <a:r>
              <a:rPr dirty="0" sz="2400" spc="-229">
                <a:latin typeface="Courier New"/>
                <a:cs typeface="Courier New"/>
              </a:rPr>
              <a:t> </a:t>
            </a:r>
            <a:r>
              <a:rPr dirty="0" sz="2400" spc="-60">
                <a:latin typeface="Courier New"/>
                <a:cs typeface="Courier New"/>
              </a:rPr>
              <a:t>work.</a:t>
            </a:r>
            <a:endParaRPr sz="24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25836" y="2108200"/>
            <a:ext cx="1992630" cy="5969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750" spc="-95">
                <a:latin typeface="Calibri"/>
                <a:cs typeface="Calibri"/>
              </a:rPr>
              <a:t>GENERATE</a:t>
            </a:r>
            <a:endParaRPr sz="375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0249" y="2652888"/>
            <a:ext cx="2197735" cy="65976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ctr">
              <a:lnSpc>
                <a:spcPts val="2610"/>
              </a:lnSpc>
              <a:spcBef>
                <a:spcPts val="110"/>
              </a:spcBef>
              <a:tabLst>
                <a:tab pos="1153795" algn="l"/>
              </a:tabLst>
            </a:pPr>
            <a:r>
              <a:rPr dirty="0" sz="2350">
                <a:latin typeface="Calibri"/>
                <a:cs typeface="Calibri"/>
              </a:rPr>
              <a:t>Ask</a:t>
            </a:r>
            <a:r>
              <a:rPr dirty="0" sz="2350" spc="70">
                <a:latin typeface="Calibri"/>
                <a:cs typeface="Calibri"/>
              </a:rPr>
              <a:t>  </a:t>
            </a:r>
            <a:r>
              <a:rPr dirty="0" sz="2350" spc="-25">
                <a:latin typeface="Calibri"/>
                <a:cs typeface="Calibri"/>
              </a:rPr>
              <a:t>for</a:t>
            </a:r>
            <a:r>
              <a:rPr dirty="0" sz="2350">
                <a:latin typeface="Calibri"/>
                <a:cs typeface="Calibri"/>
              </a:rPr>
              <a:t>	</a:t>
            </a:r>
            <a:r>
              <a:rPr dirty="0" sz="2350" spc="180">
                <a:latin typeface="Calibri"/>
                <a:cs typeface="Calibri"/>
              </a:rPr>
              <a:t>in1tia1</a:t>
            </a:r>
            <a:endParaRPr sz="2350">
              <a:latin typeface="Calibri"/>
              <a:cs typeface="Calibri"/>
            </a:endParaRPr>
          </a:p>
          <a:p>
            <a:pPr algn="ctr" marR="18415">
              <a:lnSpc>
                <a:spcPts val="2370"/>
              </a:lnSpc>
            </a:pPr>
            <a:r>
              <a:rPr dirty="0" sz="2150" spc="-10">
                <a:latin typeface="Calibri"/>
                <a:cs typeface="Calibri"/>
              </a:rPr>
              <a:t>answer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36460" y="7268280"/>
            <a:ext cx="1378585" cy="607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-45">
                <a:latin typeface="Calibri"/>
                <a:cs typeface="Calibri"/>
              </a:rPr>
              <a:t>REFINE</a:t>
            </a:r>
            <a:endParaRPr sz="38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12502" y="7826727"/>
            <a:ext cx="204470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60">
                <a:latin typeface="Consolas"/>
                <a:cs typeface="Consolas"/>
              </a:rPr>
              <a:t>Generate</a:t>
            </a:r>
            <a:r>
              <a:rPr dirty="0" sz="2200" spc="-245">
                <a:latin typeface="Consolas"/>
                <a:cs typeface="Consolas"/>
              </a:rPr>
              <a:t> </a:t>
            </a:r>
            <a:r>
              <a:rPr dirty="0" sz="2200" spc="-70">
                <a:latin typeface="Consolas"/>
                <a:cs typeface="Consolas"/>
              </a:rPr>
              <a:t>final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220502" y="8118827"/>
            <a:ext cx="1023619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90">
                <a:latin typeface="Consolas"/>
                <a:cs typeface="Consolas"/>
              </a:rPr>
              <a:t>version</a:t>
            </a:r>
            <a:endParaRPr sz="220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51457" y="4462638"/>
            <a:ext cx="2622550" cy="118681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434340">
              <a:lnSpc>
                <a:spcPts val="4235"/>
              </a:lnSpc>
              <a:spcBef>
                <a:spcPts val="110"/>
              </a:spcBef>
            </a:pPr>
            <a:r>
              <a:rPr dirty="0" sz="3600">
                <a:latin typeface="Calibri"/>
                <a:cs typeface="Calibri"/>
              </a:rPr>
              <a:t>CRITIQUE</a:t>
            </a:r>
            <a:r>
              <a:rPr dirty="0" sz="3600" spc="805">
                <a:latin typeface="Calibri"/>
                <a:cs typeface="Calibri"/>
              </a:rPr>
              <a:t> </a:t>
            </a:r>
            <a:r>
              <a:rPr dirty="0" sz="3600" spc="-50">
                <a:solidFill>
                  <a:srgbClr val="333333"/>
                </a:solidFill>
                <a:latin typeface="Calibri"/>
                <a:cs typeface="Calibri"/>
              </a:rPr>
              <a:t>“</a:t>
            </a:r>
            <a:endParaRPr sz="3600">
              <a:latin typeface="Calibri"/>
              <a:cs typeface="Calibri"/>
            </a:endParaRPr>
          </a:p>
          <a:p>
            <a:pPr algn="ctr">
              <a:lnSpc>
                <a:spcPts val="2495"/>
              </a:lnSpc>
              <a:tabLst>
                <a:tab pos="1022985" algn="l"/>
              </a:tabLst>
            </a:pPr>
            <a:r>
              <a:rPr dirty="0" sz="2300" spc="-10">
                <a:latin typeface="Calibri"/>
                <a:cs typeface="Calibri"/>
              </a:rPr>
              <a:t>Rev:few</a:t>
            </a:r>
            <a:r>
              <a:rPr dirty="0" sz="2300">
                <a:latin typeface="Calibri"/>
                <a:cs typeface="Calibri"/>
              </a:rPr>
              <a:t>	</a:t>
            </a:r>
            <a:r>
              <a:rPr dirty="0" sz="2300" spc="265">
                <a:latin typeface="Calibri"/>
                <a:cs typeface="Calibri"/>
              </a:rPr>
              <a:t>this</a:t>
            </a:r>
            <a:r>
              <a:rPr dirty="0" sz="2300" spc="95">
                <a:latin typeface="Calibri"/>
                <a:cs typeface="Calibri"/>
              </a:rPr>
              <a:t>  </a:t>
            </a:r>
            <a:r>
              <a:rPr dirty="0" sz="2300" spc="-10">
                <a:latin typeface="Calibri"/>
                <a:cs typeface="Calibri"/>
              </a:rPr>
              <a:t>answer</a:t>
            </a:r>
            <a:endParaRPr sz="2300">
              <a:latin typeface="Calibri"/>
              <a:cs typeface="Calibri"/>
            </a:endParaRPr>
          </a:p>
          <a:p>
            <a:pPr algn="ctr">
              <a:lnSpc>
                <a:spcPts val="2400"/>
              </a:lnSpc>
            </a:pPr>
            <a:r>
              <a:rPr dirty="0" sz="2150">
                <a:latin typeface="Consolas"/>
                <a:cs typeface="Consolas"/>
              </a:rPr>
              <a:t>for</a:t>
            </a:r>
            <a:r>
              <a:rPr dirty="0" sz="2150" spc="-235">
                <a:latin typeface="Consolas"/>
                <a:cs typeface="Consolas"/>
              </a:rPr>
              <a:t> </a:t>
            </a:r>
            <a:r>
              <a:rPr dirty="0" sz="2150" spc="-10">
                <a:latin typeface="Consolas"/>
                <a:cs typeface="Consolas"/>
              </a:rPr>
              <a:t>accuracy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33845" y="7501819"/>
            <a:ext cx="2230120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650" spc="-45">
                <a:latin typeface="Calibri"/>
                <a:cs typeface="Calibri"/>
              </a:rPr>
              <a:t>Final</a:t>
            </a:r>
            <a:r>
              <a:rPr dirty="0" sz="3650" spc="-165">
                <a:latin typeface="Calibri"/>
                <a:cs typeface="Calibri"/>
              </a:rPr>
              <a:t> </a:t>
            </a:r>
            <a:r>
              <a:rPr dirty="0" sz="3650" spc="-114">
                <a:latin typeface="Calibri"/>
                <a:cs typeface="Calibri"/>
              </a:rPr>
              <a:t>Output</a:t>
            </a:r>
            <a:endParaRPr sz="365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365402" y="8779227"/>
            <a:ext cx="242506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75">
                <a:latin typeface="Calibri"/>
                <a:cs typeface="Calibri"/>
              </a:rPr>
              <a:t>Revision</a:t>
            </a:r>
            <a:r>
              <a:rPr dirty="0" sz="2200" spc="-15">
                <a:latin typeface="Calibri"/>
                <a:cs typeface="Calibri"/>
              </a:rPr>
              <a:t> </a:t>
            </a:r>
            <a:r>
              <a:rPr dirty="0" sz="2200" spc="190">
                <a:latin typeface="Calibri"/>
                <a:cs typeface="Calibri"/>
              </a:rPr>
              <a:t>04//</a:t>
            </a:r>
            <a:r>
              <a:rPr dirty="0" sz="2200" spc="-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Rev.1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5800" y="8534400"/>
            <a:ext cx="393700" cy="1905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36600" y="5715000"/>
            <a:ext cx="4089400" cy="1828800"/>
            <a:chOff x="736600" y="5715000"/>
            <a:chExt cx="4089400" cy="18288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6600" y="5829300"/>
              <a:ext cx="4089400" cy="1714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50900" y="5715000"/>
              <a:ext cx="2705100" cy="1016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96600" y="4432300"/>
            <a:ext cx="1536700" cy="11049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534900" y="4584700"/>
            <a:ext cx="406400" cy="5969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13200" y="3416300"/>
            <a:ext cx="419100" cy="2032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607300" y="3378200"/>
            <a:ext cx="1092200" cy="228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823700" y="3390900"/>
            <a:ext cx="1092200" cy="215900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3202516" y="8039100"/>
            <a:ext cx="0" cy="1113790"/>
          </a:xfrm>
          <a:custGeom>
            <a:avLst/>
            <a:gdLst/>
            <a:ahLst/>
            <a:cxnLst/>
            <a:rect l="l" t="t" r="r" b="b"/>
            <a:pathLst>
              <a:path w="0" h="1113790">
                <a:moveTo>
                  <a:pt x="0" y="1113366"/>
                </a:moveTo>
                <a:lnTo>
                  <a:pt x="0" y="0"/>
                </a:lnTo>
              </a:path>
            </a:pathLst>
          </a:custGeom>
          <a:ln w="21166">
            <a:solidFill>
              <a:srgbClr val="DB5B1C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3191932" y="8039100"/>
            <a:ext cx="10181590" cy="1113790"/>
            <a:chOff x="3191932" y="8039100"/>
            <a:chExt cx="10181590" cy="1113790"/>
          </a:xfrm>
        </p:grpSpPr>
        <p:sp>
          <p:nvSpPr>
            <p:cNvPr id="13" name="object 13"/>
            <p:cNvSpPr/>
            <p:nvPr/>
          </p:nvSpPr>
          <p:spPr>
            <a:xfrm>
              <a:off x="13362512" y="8039100"/>
              <a:ext cx="0" cy="1113790"/>
            </a:xfrm>
            <a:custGeom>
              <a:avLst/>
              <a:gdLst/>
              <a:ahLst/>
              <a:cxnLst/>
              <a:rect l="l" t="t" r="r" b="b"/>
              <a:pathLst>
                <a:path w="0" h="1113790">
                  <a:moveTo>
                    <a:pt x="0" y="1113366"/>
                  </a:moveTo>
                  <a:lnTo>
                    <a:pt x="0" y="0"/>
                  </a:lnTo>
                </a:path>
              </a:pathLst>
            </a:custGeom>
            <a:ln w="21166">
              <a:solidFill>
                <a:srgbClr val="DB5B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191932" y="8049683"/>
              <a:ext cx="10181590" cy="0"/>
            </a:xfrm>
            <a:custGeom>
              <a:avLst/>
              <a:gdLst/>
              <a:ahLst/>
              <a:cxnLst/>
              <a:rect l="l" t="t" r="r" b="b"/>
              <a:pathLst>
                <a:path w="10181590" h="0">
                  <a:moveTo>
                    <a:pt x="0" y="0"/>
                  </a:moveTo>
                  <a:lnTo>
                    <a:pt x="10181167" y="0"/>
                  </a:lnTo>
                </a:path>
              </a:pathLst>
            </a:custGeom>
            <a:ln w="21166">
              <a:solidFill>
                <a:srgbClr val="DB5B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3191932" y="9141883"/>
              <a:ext cx="10181590" cy="0"/>
            </a:xfrm>
            <a:custGeom>
              <a:avLst/>
              <a:gdLst/>
              <a:ahLst/>
              <a:cxnLst/>
              <a:rect l="l" t="t" r="r" b="b"/>
              <a:pathLst>
                <a:path w="10181590" h="0">
                  <a:moveTo>
                    <a:pt x="0" y="0"/>
                  </a:moveTo>
                  <a:lnTo>
                    <a:pt x="10181167" y="0"/>
                  </a:lnTo>
                </a:path>
              </a:pathLst>
            </a:custGeom>
            <a:ln w="21166">
              <a:solidFill>
                <a:srgbClr val="DB5B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/>
          <p:nvPr/>
        </p:nvSpPr>
        <p:spPr>
          <a:xfrm>
            <a:off x="294216" y="97367"/>
            <a:ext cx="0" cy="9504045"/>
          </a:xfrm>
          <a:custGeom>
            <a:avLst/>
            <a:gdLst/>
            <a:ahLst/>
            <a:cxnLst/>
            <a:rect l="l" t="t" r="r" b="b"/>
            <a:pathLst>
              <a:path w="0" h="9504045">
                <a:moveTo>
                  <a:pt x="0" y="95038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7172516" y="97367"/>
            <a:ext cx="0" cy="9516745"/>
          </a:xfrm>
          <a:custGeom>
            <a:avLst/>
            <a:gdLst/>
            <a:ahLst/>
            <a:cxnLst/>
            <a:rect l="l" t="t" r="r" b="b"/>
            <a:pathLst>
              <a:path w="0" h="9516745">
                <a:moveTo>
                  <a:pt x="0" y="95165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38716" y="5863166"/>
            <a:ext cx="0" cy="1503045"/>
          </a:xfrm>
          <a:custGeom>
            <a:avLst/>
            <a:gdLst/>
            <a:ahLst/>
            <a:cxnLst/>
            <a:rect l="l" t="t" r="r" b="b"/>
            <a:pathLst>
              <a:path w="0" h="1503045">
                <a:moveTo>
                  <a:pt x="0" y="15028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9" name="object 19"/>
          <p:cNvGrpSpPr/>
          <p:nvPr/>
        </p:nvGrpSpPr>
        <p:grpSpPr>
          <a:xfrm>
            <a:off x="876300" y="5952066"/>
            <a:ext cx="42545" cy="1376045"/>
            <a:chOff x="876300" y="5952066"/>
            <a:chExt cx="42545" cy="1376045"/>
          </a:xfrm>
        </p:grpSpPr>
        <p:sp>
          <p:nvSpPr>
            <p:cNvPr id="20" name="object 20"/>
            <p:cNvSpPr/>
            <p:nvPr/>
          </p:nvSpPr>
          <p:spPr>
            <a:xfrm>
              <a:off x="878416" y="5990166"/>
              <a:ext cx="0" cy="1299845"/>
            </a:xfrm>
            <a:custGeom>
              <a:avLst/>
              <a:gdLst/>
              <a:ahLst/>
              <a:cxnLst/>
              <a:rect l="l" t="t" r="r" b="b"/>
              <a:pathLst>
                <a:path w="0" h="1299845">
                  <a:moveTo>
                    <a:pt x="0" y="1299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916516" y="5952066"/>
              <a:ext cx="0" cy="1376045"/>
            </a:xfrm>
            <a:custGeom>
              <a:avLst/>
              <a:gdLst/>
              <a:ahLst/>
              <a:cxnLst/>
              <a:rect l="l" t="t" r="r" b="b"/>
              <a:pathLst>
                <a:path w="0" h="1376045">
                  <a:moveTo>
                    <a:pt x="0" y="1375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/>
          <p:nvPr/>
        </p:nvSpPr>
        <p:spPr>
          <a:xfrm>
            <a:off x="2211916" y="7476066"/>
            <a:ext cx="0" cy="1096645"/>
          </a:xfrm>
          <a:custGeom>
            <a:avLst/>
            <a:gdLst/>
            <a:ahLst/>
            <a:cxnLst/>
            <a:rect l="l" t="t" r="r" b="b"/>
            <a:pathLst>
              <a:path w="0" h="1096645">
                <a:moveTo>
                  <a:pt x="0" y="10964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23" name="object 23"/>
          <p:cNvGrpSpPr/>
          <p:nvPr/>
        </p:nvGrpSpPr>
        <p:grpSpPr>
          <a:xfrm>
            <a:off x="3213100" y="8034866"/>
            <a:ext cx="55244" cy="1045844"/>
            <a:chOff x="3213100" y="8034866"/>
            <a:chExt cx="55244" cy="1045844"/>
          </a:xfrm>
        </p:grpSpPr>
        <p:sp>
          <p:nvSpPr>
            <p:cNvPr id="24" name="object 24"/>
            <p:cNvSpPr/>
            <p:nvPr/>
          </p:nvSpPr>
          <p:spPr>
            <a:xfrm>
              <a:off x="3215216" y="8034866"/>
              <a:ext cx="0" cy="1020444"/>
            </a:xfrm>
            <a:custGeom>
              <a:avLst/>
              <a:gdLst/>
              <a:ahLst/>
              <a:cxnLst/>
              <a:rect l="l" t="t" r="r" b="b"/>
              <a:pathLst>
                <a:path w="0" h="1020445">
                  <a:moveTo>
                    <a:pt x="0" y="1020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240616" y="8034866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266016" y="8034866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w="0" h="1045845">
                  <a:moveTo>
                    <a:pt x="0" y="1045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7" name="object 27"/>
          <p:cNvGrpSpPr/>
          <p:nvPr/>
        </p:nvGrpSpPr>
        <p:grpSpPr>
          <a:xfrm>
            <a:off x="3479800" y="5913966"/>
            <a:ext cx="80645" cy="1426845"/>
            <a:chOff x="3479800" y="5913966"/>
            <a:chExt cx="80645" cy="1426845"/>
          </a:xfrm>
        </p:grpSpPr>
        <p:sp>
          <p:nvSpPr>
            <p:cNvPr id="28" name="object 28"/>
            <p:cNvSpPr/>
            <p:nvPr/>
          </p:nvSpPr>
          <p:spPr>
            <a:xfrm>
              <a:off x="3481916" y="5913966"/>
              <a:ext cx="0" cy="1426845"/>
            </a:xfrm>
            <a:custGeom>
              <a:avLst/>
              <a:gdLst/>
              <a:ahLst/>
              <a:cxnLst/>
              <a:rect l="l" t="t" r="r" b="b"/>
              <a:pathLst>
                <a:path w="0" h="1426845">
                  <a:moveTo>
                    <a:pt x="0" y="1426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3520016" y="5964766"/>
              <a:ext cx="0" cy="1350645"/>
            </a:xfrm>
            <a:custGeom>
              <a:avLst/>
              <a:gdLst/>
              <a:ahLst/>
              <a:cxnLst/>
              <a:rect l="l" t="t" r="r" b="b"/>
              <a:pathLst>
                <a:path w="0" h="1350645">
                  <a:moveTo>
                    <a:pt x="0" y="1350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545416" y="5990166"/>
              <a:ext cx="0" cy="1299845"/>
            </a:xfrm>
            <a:custGeom>
              <a:avLst/>
              <a:gdLst/>
              <a:ahLst/>
              <a:cxnLst/>
              <a:rect l="l" t="t" r="r" b="b"/>
              <a:pathLst>
                <a:path w="0" h="1299845">
                  <a:moveTo>
                    <a:pt x="0" y="1299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3558116" y="6015566"/>
              <a:ext cx="0" cy="1249045"/>
            </a:xfrm>
            <a:custGeom>
              <a:avLst/>
              <a:gdLst/>
              <a:ahLst/>
              <a:cxnLst/>
              <a:rect l="l" t="t" r="r" b="b"/>
              <a:pathLst>
                <a:path w="0" h="1249045">
                  <a:moveTo>
                    <a:pt x="0" y="1248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/>
          <p:nvPr/>
        </p:nvSpPr>
        <p:spPr>
          <a:xfrm>
            <a:off x="3621616" y="2916767"/>
            <a:ext cx="0" cy="1134745"/>
          </a:xfrm>
          <a:custGeom>
            <a:avLst/>
            <a:gdLst/>
            <a:ahLst/>
            <a:cxnLst/>
            <a:rect l="l" t="t" r="r" b="b"/>
            <a:pathLst>
              <a:path w="0" h="1134745">
                <a:moveTo>
                  <a:pt x="0" y="11345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3721100" y="2942167"/>
            <a:ext cx="296545" cy="1096645"/>
            <a:chOff x="3721100" y="2942167"/>
            <a:chExt cx="296545" cy="1096645"/>
          </a:xfrm>
        </p:grpSpPr>
        <p:sp>
          <p:nvSpPr>
            <p:cNvPr id="34" name="object 34"/>
            <p:cNvSpPr/>
            <p:nvPr/>
          </p:nvSpPr>
          <p:spPr>
            <a:xfrm>
              <a:off x="3723216" y="2942167"/>
              <a:ext cx="0" cy="1096645"/>
            </a:xfrm>
            <a:custGeom>
              <a:avLst/>
              <a:gdLst/>
              <a:ahLst/>
              <a:cxnLst/>
              <a:rect l="l" t="t" r="r" b="b"/>
              <a:pathLst>
                <a:path w="0" h="1096645">
                  <a:moveTo>
                    <a:pt x="0" y="1096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761316" y="2967567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3786716" y="2992967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w="0" h="982345">
                  <a:moveTo>
                    <a:pt x="0" y="982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3799416" y="3005667"/>
              <a:ext cx="0" cy="956944"/>
            </a:xfrm>
            <a:custGeom>
              <a:avLst/>
              <a:gdLst/>
              <a:ahLst/>
              <a:cxnLst/>
              <a:rect l="l" t="t" r="r" b="b"/>
              <a:pathLst>
                <a:path w="0" h="956945">
                  <a:moveTo>
                    <a:pt x="0" y="956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824816" y="3018367"/>
              <a:ext cx="0" cy="931544"/>
            </a:xfrm>
            <a:custGeom>
              <a:avLst/>
              <a:gdLst/>
              <a:ahLst/>
              <a:cxnLst/>
              <a:rect l="l" t="t" r="r" b="b"/>
              <a:pathLst>
                <a:path w="0" h="931545">
                  <a:moveTo>
                    <a:pt x="0" y="93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3850216" y="3031067"/>
              <a:ext cx="0" cy="906144"/>
            </a:xfrm>
            <a:custGeom>
              <a:avLst/>
              <a:gdLst/>
              <a:ahLst/>
              <a:cxnLst/>
              <a:rect l="l" t="t" r="r" b="b"/>
              <a:pathLst>
                <a:path w="0" h="906145">
                  <a:moveTo>
                    <a:pt x="0" y="905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875616" y="3056467"/>
              <a:ext cx="0" cy="855344"/>
            </a:xfrm>
            <a:custGeom>
              <a:avLst/>
              <a:gdLst/>
              <a:ahLst/>
              <a:cxnLst/>
              <a:rect l="l" t="t" r="r" b="b"/>
              <a:pathLst>
                <a:path w="0" h="855345">
                  <a:moveTo>
                    <a:pt x="0" y="855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901016" y="3069167"/>
              <a:ext cx="0" cy="829944"/>
            </a:xfrm>
            <a:custGeom>
              <a:avLst/>
              <a:gdLst/>
              <a:ahLst/>
              <a:cxnLst/>
              <a:rect l="l" t="t" r="r" b="b"/>
              <a:pathLst>
                <a:path w="0" h="829945">
                  <a:moveTo>
                    <a:pt x="0" y="829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3926416" y="3094567"/>
              <a:ext cx="0" cy="791845"/>
            </a:xfrm>
            <a:custGeom>
              <a:avLst/>
              <a:gdLst/>
              <a:ahLst/>
              <a:cxnLst/>
              <a:rect l="l" t="t" r="r" b="b"/>
              <a:pathLst>
                <a:path w="0" h="791845">
                  <a:moveTo>
                    <a:pt x="0" y="791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3939116" y="3107267"/>
              <a:ext cx="0" cy="753745"/>
            </a:xfrm>
            <a:custGeom>
              <a:avLst/>
              <a:gdLst/>
              <a:ahLst/>
              <a:cxnLst/>
              <a:rect l="l" t="t" r="r" b="b"/>
              <a:pathLst>
                <a:path w="0" h="753745">
                  <a:moveTo>
                    <a:pt x="0" y="753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3964516" y="3119967"/>
              <a:ext cx="0" cy="728345"/>
            </a:xfrm>
            <a:custGeom>
              <a:avLst/>
              <a:gdLst/>
              <a:ahLst/>
              <a:cxnLst/>
              <a:rect l="l" t="t" r="r" b="b"/>
              <a:pathLst>
                <a:path w="0" h="728345">
                  <a:moveTo>
                    <a:pt x="0" y="728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3989916" y="31326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4015316" y="3145367"/>
              <a:ext cx="0" cy="664845"/>
            </a:xfrm>
            <a:custGeom>
              <a:avLst/>
              <a:gdLst/>
              <a:ahLst/>
              <a:cxnLst/>
              <a:rect l="l" t="t" r="r" b="b"/>
              <a:pathLst>
                <a:path w="0" h="664845">
                  <a:moveTo>
                    <a:pt x="0" y="664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4660900" y="2967567"/>
            <a:ext cx="55244" cy="1033144"/>
            <a:chOff x="4660900" y="2967567"/>
            <a:chExt cx="55244" cy="1033144"/>
          </a:xfrm>
        </p:grpSpPr>
        <p:sp>
          <p:nvSpPr>
            <p:cNvPr id="48" name="object 48"/>
            <p:cNvSpPr/>
            <p:nvPr/>
          </p:nvSpPr>
          <p:spPr>
            <a:xfrm>
              <a:off x="4663016" y="3005667"/>
              <a:ext cx="0" cy="931544"/>
            </a:xfrm>
            <a:custGeom>
              <a:avLst/>
              <a:gdLst/>
              <a:ahLst/>
              <a:cxnLst/>
              <a:rect l="l" t="t" r="r" b="b"/>
              <a:pathLst>
                <a:path w="0" h="931545">
                  <a:moveTo>
                    <a:pt x="0" y="93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4675716" y="2992967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688416" y="2992967"/>
              <a:ext cx="0" cy="982344"/>
            </a:xfrm>
            <a:custGeom>
              <a:avLst/>
              <a:gdLst/>
              <a:ahLst/>
              <a:cxnLst/>
              <a:rect l="l" t="t" r="r" b="b"/>
              <a:pathLst>
                <a:path w="0" h="982345">
                  <a:moveTo>
                    <a:pt x="0" y="982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4701116" y="2967567"/>
              <a:ext cx="0" cy="1020444"/>
            </a:xfrm>
            <a:custGeom>
              <a:avLst/>
              <a:gdLst/>
              <a:ahLst/>
              <a:cxnLst/>
              <a:rect l="l" t="t" r="r" b="b"/>
              <a:pathLst>
                <a:path w="0" h="1020445">
                  <a:moveTo>
                    <a:pt x="0" y="1020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4713816" y="2967567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53" name="object 53"/>
          <p:cNvGrpSpPr/>
          <p:nvPr/>
        </p:nvGrpSpPr>
        <p:grpSpPr>
          <a:xfrm>
            <a:off x="7518400" y="2929467"/>
            <a:ext cx="93345" cy="1096645"/>
            <a:chOff x="7518400" y="2929467"/>
            <a:chExt cx="93345" cy="1096645"/>
          </a:xfrm>
        </p:grpSpPr>
        <p:sp>
          <p:nvSpPr>
            <p:cNvPr id="54" name="object 54"/>
            <p:cNvSpPr/>
            <p:nvPr/>
          </p:nvSpPr>
          <p:spPr>
            <a:xfrm>
              <a:off x="7520516" y="2929467"/>
              <a:ext cx="0" cy="1096645"/>
            </a:xfrm>
            <a:custGeom>
              <a:avLst/>
              <a:gdLst/>
              <a:ahLst/>
              <a:cxnLst/>
              <a:rect l="l" t="t" r="r" b="b"/>
              <a:pathLst>
                <a:path w="0" h="1096645">
                  <a:moveTo>
                    <a:pt x="0" y="1096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7533216" y="2954867"/>
              <a:ext cx="0" cy="1058545"/>
            </a:xfrm>
            <a:custGeom>
              <a:avLst/>
              <a:gdLst/>
              <a:ahLst/>
              <a:cxnLst/>
              <a:rect l="l" t="t" r="r" b="b"/>
              <a:pathLst>
                <a:path w="0" h="1058545">
                  <a:moveTo>
                    <a:pt x="0" y="1058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558616" y="2980267"/>
              <a:ext cx="0" cy="1020444"/>
            </a:xfrm>
            <a:custGeom>
              <a:avLst/>
              <a:gdLst/>
              <a:ahLst/>
              <a:cxnLst/>
              <a:rect l="l" t="t" r="r" b="b"/>
              <a:pathLst>
                <a:path w="0" h="1020445">
                  <a:moveTo>
                    <a:pt x="0" y="1020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584016" y="2992967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w="0" h="995045">
                  <a:moveTo>
                    <a:pt x="0" y="994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7609416" y="3031067"/>
              <a:ext cx="0" cy="931544"/>
            </a:xfrm>
            <a:custGeom>
              <a:avLst/>
              <a:gdLst/>
              <a:ahLst/>
              <a:cxnLst/>
              <a:rect l="l" t="t" r="r" b="b"/>
              <a:pathLst>
                <a:path w="0" h="931545">
                  <a:moveTo>
                    <a:pt x="0" y="93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/>
          <p:nvPr/>
        </p:nvSpPr>
        <p:spPr>
          <a:xfrm>
            <a:off x="8015816" y="5875866"/>
            <a:ext cx="0" cy="1515745"/>
          </a:xfrm>
          <a:custGeom>
            <a:avLst/>
            <a:gdLst/>
            <a:ahLst/>
            <a:cxnLst/>
            <a:rect l="l" t="t" r="r" b="b"/>
            <a:pathLst>
              <a:path w="0" h="1515745">
                <a:moveTo>
                  <a:pt x="0" y="15155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0" name="object 60"/>
          <p:cNvGrpSpPr/>
          <p:nvPr/>
        </p:nvGrpSpPr>
        <p:grpSpPr>
          <a:xfrm>
            <a:off x="8737600" y="2967567"/>
            <a:ext cx="55244" cy="1033144"/>
            <a:chOff x="8737600" y="2967567"/>
            <a:chExt cx="55244" cy="1033144"/>
          </a:xfrm>
        </p:grpSpPr>
        <p:sp>
          <p:nvSpPr>
            <p:cNvPr id="61" name="object 61"/>
            <p:cNvSpPr/>
            <p:nvPr/>
          </p:nvSpPr>
          <p:spPr>
            <a:xfrm>
              <a:off x="8739716" y="3005667"/>
              <a:ext cx="0" cy="931544"/>
            </a:xfrm>
            <a:custGeom>
              <a:avLst/>
              <a:gdLst/>
              <a:ahLst/>
              <a:cxnLst/>
              <a:rect l="l" t="t" r="r" b="b"/>
              <a:pathLst>
                <a:path w="0" h="931545">
                  <a:moveTo>
                    <a:pt x="0" y="93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8752416" y="3005667"/>
              <a:ext cx="0" cy="956944"/>
            </a:xfrm>
            <a:custGeom>
              <a:avLst/>
              <a:gdLst/>
              <a:ahLst/>
              <a:cxnLst/>
              <a:rect l="l" t="t" r="r" b="b"/>
              <a:pathLst>
                <a:path w="0" h="956945">
                  <a:moveTo>
                    <a:pt x="0" y="956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8777816" y="2980267"/>
              <a:ext cx="0" cy="1020444"/>
            </a:xfrm>
            <a:custGeom>
              <a:avLst/>
              <a:gdLst/>
              <a:ahLst/>
              <a:cxnLst/>
              <a:rect l="l" t="t" r="r" b="b"/>
              <a:pathLst>
                <a:path w="0" h="1020445">
                  <a:moveTo>
                    <a:pt x="0" y="1020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8790516" y="2967567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5" name="object 65"/>
          <p:cNvGrpSpPr/>
          <p:nvPr/>
        </p:nvGrpSpPr>
        <p:grpSpPr>
          <a:xfrm>
            <a:off x="9182100" y="5863166"/>
            <a:ext cx="55244" cy="1541145"/>
            <a:chOff x="9182100" y="5863166"/>
            <a:chExt cx="55244" cy="1541145"/>
          </a:xfrm>
        </p:grpSpPr>
        <p:sp>
          <p:nvSpPr>
            <p:cNvPr id="66" name="object 66"/>
            <p:cNvSpPr/>
            <p:nvPr/>
          </p:nvSpPr>
          <p:spPr>
            <a:xfrm>
              <a:off x="9184216" y="5863166"/>
              <a:ext cx="0" cy="1541145"/>
            </a:xfrm>
            <a:custGeom>
              <a:avLst/>
              <a:gdLst/>
              <a:ahLst/>
              <a:cxnLst/>
              <a:rect l="l" t="t" r="r" b="b"/>
              <a:pathLst>
                <a:path w="0" h="1541145">
                  <a:moveTo>
                    <a:pt x="0" y="1540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9222316" y="5901266"/>
              <a:ext cx="0" cy="1490345"/>
            </a:xfrm>
            <a:custGeom>
              <a:avLst/>
              <a:gdLst/>
              <a:ahLst/>
              <a:cxnLst/>
              <a:rect l="l" t="t" r="r" b="b"/>
              <a:pathLst>
                <a:path w="0" h="1490345">
                  <a:moveTo>
                    <a:pt x="0" y="1490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8" name="object 68"/>
            <p:cNvSpPr/>
            <p:nvPr/>
          </p:nvSpPr>
          <p:spPr>
            <a:xfrm>
              <a:off x="9235016" y="5952066"/>
              <a:ext cx="0" cy="1388745"/>
            </a:xfrm>
            <a:custGeom>
              <a:avLst/>
              <a:gdLst/>
              <a:ahLst/>
              <a:cxnLst/>
              <a:rect l="l" t="t" r="r" b="b"/>
              <a:pathLst>
                <a:path w="0" h="1388745">
                  <a:moveTo>
                    <a:pt x="0" y="1388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9" name="object 69"/>
          <p:cNvGrpSpPr/>
          <p:nvPr/>
        </p:nvGrpSpPr>
        <p:grpSpPr>
          <a:xfrm>
            <a:off x="10642600" y="4478866"/>
            <a:ext cx="55244" cy="1122045"/>
            <a:chOff x="10642600" y="4478866"/>
            <a:chExt cx="55244" cy="1122045"/>
          </a:xfrm>
        </p:grpSpPr>
        <p:sp>
          <p:nvSpPr>
            <p:cNvPr id="70" name="object 70"/>
            <p:cNvSpPr/>
            <p:nvPr/>
          </p:nvSpPr>
          <p:spPr>
            <a:xfrm>
              <a:off x="10644716" y="4542366"/>
              <a:ext cx="0" cy="956944"/>
            </a:xfrm>
            <a:custGeom>
              <a:avLst/>
              <a:gdLst/>
              <a:ahLst/>
              <a:cxnLst/>
              <a:rect l="l" t="t" r="r" b="b"/>
              <a:pathLst>
                <a:path w="0" h="956945">
                  <a:moveTo>
                    <a:pt x="0" y="956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0657416" y="4478866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w="0" h="1045845">
                  <a:moveTo>
                    <a:pt x="0" y="1045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0670116" y="4491566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w="0" h="1045845">
                  <a:moveTo>
                    <a:pt x="0" y="1045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0695516" y="4491566"/>
              <a:ext cx="0" cy="1109345"/>
            </a:xfrm>
            <a:custGeom>
              <a:avLst/>
              <a:gdLst/>
              <a:ahLst/>
              <a:cxnLst/>
              <a:rect l="l" t="t" r="r" b="b"/>
              <a:pathLst>
                <a:path w="0" h="1109345">
                  <a:moveTo>
                    <a:pt x="0" y="11091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/>
          <p:nvPr/>
        </p:nvSpPr>
        <p:spPr>
          <a:xfrm>
            <a:off x="10746316" y="4491566"/>
            <a:ext cx="0" cy="1172845"/>
          </a:xfrm>
          <a:custGeom>
            <a:avLst/>
            <a:gdLst/>
            <a:ahLst/>
            <a:cxnLst/>
            <a:rect l="l" t="t" r="r" b="b"/>
            <a:pathLst>
              <a:path w="0" h="1172845">
                <a:moveTo>
                  <a:pt x="0" y="11726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10797116" y="4491566"/>
            <a:ext cx="0" cy="1198245"/>
          </a:xfrm>
          <a:custGeom>
            <a:avLst/>
            <a:gdLst/>
            <a:ahLst/>
            <a:cxnLst/>
            <a:rect l="l" t="t" r="r" b="b"/>
            <a:pathLst>
              <a:path w="0" h="1198245">
                <a:moveTo>
                  <a:pt x="0" y="11980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6" name="object 76"/>
          <p:cNvGrpSpPr/>
          <p:nvPr/>
        </p:nvGrpSpPr>
        <p:grpSpPr>
          <a:xfrm>
            <a:off x="10871200" y="4478866"/>
            <a:ext cx="29845" cy="1160145"/>
            <a:chOff x="10871200" y="4478866"/>
            <a:chExt cx="29845" cy="1160145"/>
          </a:xfrm>
        </p:grpSpPr>
        <p:sp>
          <p:nvSpPr>
            <p:cNvPr id="77" name="object 77"/>
            <p:cNvSpPr/>
            <p:nvPr/>
          </p:nvSpPr>
          <p:spPr>
            <a:xfrm>
              <a:off x="10873316" y="4478866"/>
              <a:ext cx="0" cy="1160145"/>
            </a:xfrm>
            <a:custGeom>
              <a:avLst/>
              <a:gdLst/>
              <a:ahLst/>
              <a:cxnLst/>
              <a:rect l="l" t="t" r="r" b="b"/>
              <a:pathLst>
                <a:path w="0" h="1160145">
                  <a:moveTo>
                    <a:pt x="0" y="1159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10898716" y="4580466"/>
              <a:ext cx="0" cy="956944"/>
            </a:xfrm>
            <a:custGeom>
              <a:avLst/>
              <a:gdLst/>
              <a:ahLst/>
              <a:cxnLst/>
              <a:rect l="l" t="t" r="r" b="b"/>
              <a:pathLst>
                <a:path w="0" h="956945">
                  <a:moveTo>
                    <a:pt x="0" y="956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9" name="object 79"/>
          <p:cNvSpPr/>
          <p:nvPr/>
        </p:nvSpPr>
        <p:spPr>
          <a:xfrm>
            <a:off x="11482916" y="4453466"/>
            <a:ext cx="0" cy="868044"/>
          </a:xfrm>
          <a:custGeom>
            <a:avLst/>
            <a:gdLst/>
            <a:ahLst/>
            <a:cxnLst/>
            <a:rect l="l" t="t" r="r" b="b"/>
            <a:pathLst>
              <a:path w="0" h="868045">
                <a:moveTo>
                  <a:pt x="0" y="8678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0" name="object 80"/>
          <p:cNvGrpSpPr/>
          <p:nvPr/>
        </p:nvGrpSpPr>
        <p:grpSpPr>
          <a:xfrm>
            <a:off x="11734800" y="2942167"/>
            <a:ext cx="93345" cy="1071245"/>
            <a:chOff x="11734800" y="2942167"/>
            <a:chExt cx="93345" cy="1071245"/>
          </a:xfrm>
        </p:grpSpPr>
        <p:sp>
          <p:nvSpPr>
            <p:cNvPr id="81" name="object 81"/>
            <p:cNvSpPr/>
            <p:nvPr/>
          </p:nvSpPr>
          <p:spPr>
            <a:xfrm>
              <a:off x="11736916" y="2942167"/>
              <a:ext cx="0" cy="1071245"/>
            </a:xfrm>
            <a:custGeom>
              <a:avLst/>
              <a:gdLst/>
              <a:ahLst/>
              <a:cxnLst/>
              <a:rect l="l" t="t" r="r" b="b"/>
              <a:pathLst>
                <a:path w="0" h="1071245">
                  <a:moveTo>
                    <a:pt x="0" y="1071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1749616" y="2967567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1775016" y="2992967"/>
              <a:ext cx="0" cy="1007744"/>
            </a:xfrm>
            <a:custGeom>
              <a:avLst/>
              <a:gdLst/>
              <a:ahLst/>
              <a:cxnLst/>
              <a:rect l="l" t="t" r="r" b="b"/>
              <a:pathLst>
                <a:path w="0" h="1007745">
                  <a:moveTo>
                    <a:pt x="0" y="1007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11800416" y="3005667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1825816" y="3031067"/>
              <a:ext cx="0" cy="918844"/>
            </a:xfrm>
            <a:custGeom>
              <a:avLst/>
              <a:gdLst/>
              <a:ahLst/>
              <a:cxnLst/>
              <a:rect l="l" t="t" r="r" b="b"/>
              <a:pathLst>
                <a:path w="0" h="918845">
                  <a:moveTo>
                    <a:pt x="0" y="918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6" name="object 86"/>
          <p:cNvSpPr/>
          <p:nvPr/>
        </p:nvSpPr>
        <p:spPr>
          <a:xfrm>
            <a:off x="12422716" y="5888566"/>
            <a:ext cx="0" cy="1503045"/>
          </a:xfrm>
          <a:custGeom>
            <a:avLst/>
            <a:gdLst/>
            <a:ahLst/>
            <a:cxnLst/>
            <a:rect l="l" t="t" r="r" b="b"/>
            <a:pathLst>
              <a:path w="0" h="1503045">
                <a:moveTo>
                  <a:pt x="0" y="15028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7" name="object 87"/>
          <p:cNvGrpSpPr/>
          <p:nvPr/>
        </p:nvGrpSpPr>
        <p:grpSpPr>
          <a:xfrm>
            <a:off x="12458700" y="4504266"/>
            <a:ext cx="80645" cy="741045"/>
            <a:chOff x="12458700" y="4504266"/>
            <a:chExt cx="80645" cy="741045"/>
          </a:xfrm>
        </p:grpSpPr>
        <p:sp>
          <p:nvSpPr>
            <p:cNvPr id="88" name="object 88"/>
            <p:cNvSpPr/>
            <p:nvPr/>
          </p:nvSpPr>
          <p:spPr>
            <a:xfrm>
              <a:off x="12460816" y="4504266"/>
              <a:ext cx="0" cy="741045"/>
            </a:xfrm>
            <a:custGeom>
              <a:avLst/>
              <a:gdLst/>
              <a:ahLst/>
              <a:cxnLst/>
              <a:rect l="l" t="t" r="r" b="b"/>
              <a:pathLst>
                <a:path w="0" h="741045">
                  <a:moveTo>
                    <a:pt x="0" y="740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9" name="object 89"/>
            <p:cNvSpPr/>
            <p:nvPr/>
          </p:nvSpPr>
          <p:spPr>
            <a:xfrm>
              <a:off x="12486216" y="4529666"/>
              <a:ext cx="0" cy="702945"/>
            </a:xfrm>
            <a:custGeom>
              <a:avLst/>
              <a:gdLst/>
              <a:ahLst/>
              <a:cxnLst/>
              <a:rect l="l" t="t" r="r" b="b"/>
              <a:pathLst>
                <a:path w="0" h="702945">
                  <a:moveTo>
                    <a:pt x="0" y="7027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0" name="object 90"/>
            <p:cNvSpPr/>
            <p:nvPr/>
          </p:nvSpPr>
          <p:spPr>
            <a:xfrm>
              <a:off x="12511616" y="4542366"/>
              <a:ext cx="0" cy="664845"/>
            </a:xfrm>
            <a:custGeom>
              <a:avLst/>
              <a:gdLst/>
              <a:ahLst/>
              <a:cxnLst/>
              <a:rect l="l" t="t" r="r" b="b"/>
              <a:pathLst>
                <a:path w="0" h="664845">
                  <a:moveTo>
                    <a:pt x="0" y="664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1" name="object 91"/>
            <p:cNvSpPr/>
            <p:nvPr/>
          </p:nvSpPr>
          <p:spPr>
            <a:xfrm>
              <a:off x="12537016" y="4555066"/>
              <a:ext cx="0" cy="639445"/>
            </a:xfrm>
            <a:custGeom>
              <a:avLst/>
              <a:gdLst/>
              <a:ahLst/>
              <a:cxnLst/>
              <a:rect l="l" t="t" r="r" b="b"/>
              <a:pathLst>
                <a:path w="0" h="639445">
                  <a:moveTo>
                    <a:pt x="0" y="639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2" name="object 92"/>
          <p:cNvGrpSpPr/>
          <p:nvPr/>
        </p:nvGrpSpPr>
        <p:grpSpPr>
          <a:xfrm>
            <a:off x="12941300" y="2954867"/>
            <a:ext cx="55244" cy="1045844"/>
            <a:chOff x="12941300" y="2954867"/>
            <a:chExt cx="55244" cy="1045844"/>
          </a:xfrm>
        </p:grpSpPr>
        <p:sp>
          <p:nvSpPr>
            <p:cNvPr id="93" name="object 93"/>
            <p:cNvSpPr/>
            <p:nvPr/>
          </p:nvSpPr>
          <p:spPr>
            <a:xfrm>
              <a:off x="12943416" y="3005667"/>
              <a:ext cx="0" cy="931544"/>
            </a:xfrm>
            <a:custGeom>
              <a:avLst/>
              <a:gdLst/>
              <a:ahLst/>
              <a:cxnLst/>
              <a:rect l="l" t="t" r="r" b="b"/>
              <a:pathLst>
                <a:path w="0" h="931545">
                  <a:moveTo>
                    <a:pt x="0" y="931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2956116" y="2992967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5" name="object 95"/>
            <p:cNvSpPr/>
            <p:nvPr/>
          </p:nvSpPr>
          <p:spPr>
            <a:xfrm>
              <a:off x="12968816" y="2980267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w="0" h="995045">
                  <a:moveTo>
                    <a:pt x="0" y="994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6" name="object 96"/>
            <p:cNvSpPr/>
            <p:nvPr/>
          </p:nvSpPr>
          <p:spPr>
            <a:xfrm>
              <a:off x="12981516" y="2967567"/>
              <a:ext cx="0" cy="1020444"/>
            </a:xfrm>
            <a:custGeom>
              <a:avLst/>
              <a:gdLst/>
              <a:ahLst/>
              <a:cxnLst/>
              <a:rect l="l" t="t" r="r" b="b"/>
              <a:pathLst>
                <a:path w="0" h="1020445">
                  <a:moveTo>
                    <a:pt x="0" y="10202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7" name="object 97"/>
            <p:cNvSpPr/>
            <p:nvPr/>
          </p:nvSpPr>
          <p:spPr>
            <a:xfrm>
              <a:off x="12994216" y="2954867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w="0" h="1045845">
                  <a:moveTo>
                    <a:pt x="0" y="1045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8" name="object 98"/>
          <p:cNvGrpSpPr/>
          <p:nvPr/>
        </p:nvGrpSpPr>
        <p:grpSpPr>
          <a:xfrm>
            <a:off x="13385800" y="8034866"/>
            <a:ext cx="42545" cy="1045844"/>
            <a:chOff x="13385800" y="8034866"/>
            <a:chExt cx="42545" cy="1045844"/>
          </a:xfrm>
        </p:grpSpPr>
        <p:sp>
          <p:nvSpPr>
            <p:cNvPr id="99" name="object 99"/>
            <p:cNvSpPr/>
            <p:nvPr/>
          </p:nvSpPr>
          <p:spPr>
            <a:xfrm>
              <a:off x="13387916" y="8034866"/>
              <a:ext cx="0" cy="1045844"/>
            </a:xfrm>
            <a:custGeom>
              <a:avLst/>
              <a:gdLst/>
              <a:ahLst/>
              <a:cxnLst/>
              <a:rect l="l" t="t" r="r" b="b"/>
              <a:pathLst>
                <a:path w="0" h="1045845">
                  <a:moveTo>
                    <a:pt x="0" y="10456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0" name="object 100"/>
            <p:cNvSpPr/>
            <p:nvPr/>
          </p:nvSpPr>
          <p:spPr>
            <a:xfrm>
              <a:off x="13426016" y="8072966"/>
              <a:ext cx="0" cy="969644"/>
            </a:xfrm>
            <a:custGeom>
              <a:avLst/>
              <a:gdLst/>
              <a:ahLst/>
              <a:cxnLst/>
              <a:rect l="l" t="t" r="r" b="b"/>
              <a:pathLst>
                <a:path w="0" h="969645">
                  <a:moveTo>
                    <a:pt x="0" y="9694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1" name="object 101"/>
          <p:cNvGrpSpPr/>
          <p:nvPr/>
        </p:nvGrpSpPr>
        <p:grpSpPr>
          <a:xfrm>
            <a:off x="13576300" y="5863166"/>
            <a:ext cx="67945" cy="1541145"/>
            <a:chOff x="13576300" y="5863166"/>
            <a:chExt cx="67945" cy="1541145"/>
          </a:xfrm>
        </p:grpSpPr>
        <p:sp>
          <p:nvSpPr>
            <p:cNvPr id="102" name="object 102"/>
            <p:cNvSpPr/>
            <p:nvPr/>
          </p:nvSpPr>
          <p:spPr>
            <a:xfrm>
              <a:off x="13578416" y="5863166"/>
              <a:ext cx="0" cy="1541145"/>
            </a:xfrm>
            <a:custGeom>
              <a:avLst/>
              <a:gdLst/>
              <a:ahLst/>
              <a:cxnLst/>
              <a:rect l="l" t="t" r="r" b="b"/>
              <a:pathLst>
                <a:path w="0" h="1541145">
                  <a:moveTo>
                    <a:pt x="0" y="1540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3" name="object 103"/>
            <p:cNvSpPr/>
            <p:nvPr/>
          </p:nvSpPr>
          <p:spPr>
            <a:xfrm>
              <a:off x="13616516" y="5888566"/>
              <a:ext cx="0" cy="1515745"/>
            </a:xfrm>
            <a:custGeom>
              <a:avLst/>
              <a:gdLst/>
              <a:ahLst/>
              <a:cxnLst/>
              <a:rect l="l" t="t" r="r" b="b"/>
              <a:pathLst>
                <a:path w="0" h="1515745">
                  <a:moveTo>
                    <a:pt x="0" y="15155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4" name="object 104"/>
            <p:cNvSpPr/>
            <p:nvPr/>
          </p:nvSpPr>
          <p:spPr>
            <a:xfrm>
              <a:off x="13641916" y="5926666"/>
              <a:ext cx="0" cy="1439545"/>
            </a:xfrm>
            <a:custGeom>
              <a:avLst/>
              <a:gdLst/>
              <a:ahLst/>
              <a:cxnLst/>
              <a:rect l="l" t="t" r="r" b="b"/>
              <a:pathLst>
                <a:path w="0" h="1439545">
                  <a:moveTo>
                    <a:pt x="0" y="14393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5" name="object 105"/>
          <p:cNvSpPr/>
          <p:nvPr/>
        </p:nvSpPr>
        <p:spPr>
          <a:xfrm>
            <a:off x="14264216" y="8695266"/>
            <a:ext cx="0" cy="741045"/>
          </a:xfrm>
          <a:custGeom>
            <a:avLst/>
            <a:gdLst/>
            <a:ahLst/>
            <a:cxnLst/>
            <a:rect l="l" t="t" r="r" b="b"/>
            <a:pathLst>
              <a:path w="0" h="741045">
                <a:moveTo>
                  <a:pt x="0" y="740833"/>
                </a:moveTo>
                <a:lnTo>
                  <a:pt x="0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6" name="object 106"/>
          <p:cNvGrpSpPr/>
          <p:nvPr/>
        </p:nvGrpSpPr>
        <p:grpSpPr>
          <a:xfrm>
            <a:off x="15951200" y="2942167"/>
            <a:ext cx="80645" cy="1071245"/>
            <a:chOff x="15951200" y="2942167"/>
            <a:chExt cx="80645" cy="1071245"/>
          </a:xfrm>
        </p:grpSpPr>
        <p:sp>
          <p:nvSpPr>
            <p:cNvPr id="107" name="object 107"/>
            <p:cNvSpPr/>
            <p:nvPr/>
          </p:nvSpPr>
          <p:spPr>
            <a:xfrm>
              <a:off x="15953316" y="2942167"/>
              <a:ext cx="0" cy="1071245"/>
            </a:xfrm>
            <a:custGeom>
              <a:avLst/>
              <a:gdLst/>
              <a:ahLst/>
              <a:cxnLst/>
              <a:rect l="l" t="t" r="r" b="b"/>
              <a:pathLst>
                <a:path w="0" h="1071245">
                  <a:moveTo>
                    <a:pt x="0" y="1071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8" name="object 108"/>
            <p:cNvSpPr/>
            <p:nvPr/>
          </p:nvSpPr>
          <p:spPr>
            <a:xfrm>
              <a:off x="15966016" y="2967567"/>
              <a:ext cx="0" cy="1033144"/>
            </a:xfrm>
            <a:custGeom>
              <a:avLst/>
              <a:gdLst/>
              <a:ahLst/>
              <a:cxnLst/>
              <a:rect l="l" t="t" r="r" b="b"/>
              <a:pathLst>
                <a:path w="0" h="1033145">
                  <a:moveTo>
                    <a:pt x="0" y="10329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9" name="object 109"/>
            <p:cNvSpPr/>
            <p:nvPr/>
          </p:nvSpPr>
          <p:spPr>
            <a:xfrm>
              <a:off x="16004116" y="2992967"/>
              <a:ext cx="0" cy="995044"/>
            </a:xfrm>
            <a:custGeom>
              <a:avLst/>
              <a:gdLst/>
              <a:ahLst/>
              <a:cxnLst/>
              <a:rect l="l" t="t" r="r" b="b"/>
              <a:pathLst>
                <a:path w="0" h="995045">
                  <a:moveTo>
                    <a:pt x="0" y="9948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0" name="object 110"/>
            <p:cNvSpPr/>
            <p:nvPr/>
          </p:nvSpPr>
          <p:spPr>
            <a:xfrm>
              <a:off x="16029516" y="3018367"/>
              <a:ext cx="0" cy="944244"/>
            </a:xfrm>
            <a:custGeom>
              <a:avLst/>
              <a:gdLst/>
              <a:ahLst/>
              <a:cxnLst/>
              <a:rect l="l" t="t" r="r" b="b"/>
              <a:pathLst>
                <a:path w="0" h="944245">
                  <a:moveTo>
                    <a:pt x="0" y="944033"/>
                  </a:moveTo>
                  <a:lnTo>
                    <a:pt x="0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1" name="object 111"/>
          <p:cNvSpPr/>
          <p:nvPr/>
        </p:nvSpPr>
        <p:spPr>
          <a:xfrm>
            <a:off x="139700" y="9446683"/>
            <a:ext cx="17212945" cy="0"/>
          </a:xfrm>
          <a:custGeom>
            <a:avLst/>
            <a:gdLst/>
            <a:ahLst/>
            <a:cxnLst/>
            <a:rect l="l" t="t" r="r" b="b"/>
            <a:pathLst>
              <a:path w="17212945" h="0">
                <a:moveTo>
                  <a:pt x="0" y="0"/>
                </a:moveTo>
                <a:lnTo>
                  <a:pt x="17212734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14274800" y="8722783"/>
            <a:ext cx="2912745" cy="0"/>
          </a:xfrm>
          <a:custGeom>
            <a:avLst/>
            <a:gdLst/>
            <a:ahLst/>
            <a:cxnLst/>
            <a:rect l="l" t="t" r="r" b="b"/>
            <a:pathLst>
              <a:path w="2912744" h="0">
                <a:moveTo>
                  <a:pt x="0" y="0"/>
                </a:moveTo>
                <a:lnTo>
                  <a:pt x="29125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152400" y="264583"/>
            <a:ext cx="17200245" cy="0"/>
          </a:xfrm>
          <a:custGeom>
            <a:avLst/>
            <a:gdLst/>
            <a:ahLst/>
            <a:cxnLst/>
            <a:rect l="l" t="t" r="r" b="b"/>
            <a:pathLst>
              <a:path w="17200245" h="0">
                <a:moveTo>
                  <a:pt x="0" y="0"/>
                </a:moveTo>
                <a:lnTo>
                  <a:pt x="17200034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3251200" y="9052983"/>
            <a:ext cx="10088245" cy="0"/>
          </a:xfrm>
          <a:custGeom>
            <a:avLst/>
            <a:gdLst/>
            <a:ahLst/>
            <a:cxnLst/>
            <a:rect l="l" t="t" r="r" b="b"/>
            <a:pathLst>
              <a:path w="10088244" h="0">
                <a:moveTo>
                  <a:pt x="0" y="0"/>
                </a:moveTo>
                <a:lnTo>
                  <a:pt x="100880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15" name="object 115"/>
          <p:cNvGrpSpPr/>
          <p:nvPr/>
        </p:nvGrpSpPr>
        <p:grpSpPr>
          <a:xfrm>
            <a:off x="3251200" y="8034866"/>
            <a:ext cx="10088245" cy="42545"/>
            <a:chOff x="3251200" y="8034866"/>
            <a:chExt cx="10088245" cy="42545"/>
          </a:xfrm>
        </p:grpSpPr>
        <p:sp>
          <p:nvSpPr>
            <p:cNvPr id="116" name="object 116"/>
            <p:cNvSpPr/>
            <p:nvPr/>
          </p:nvSpPr>
          <p:spPr>
            <a:xfrm>
              <a:off x="3251200" y="8075083"/>
              <a:ext cx="10088245" cy="0"/>
            </a:xfrm>
            <a:custGeom>
              <a:avLst/>
              <a:gdLst/>
              <a:ahLst/>
              <a:cxnLst/>
              <a:rect l="l" t="t" r="r" b="b"/>
              <a:pathLst>
                <a:path w="10088244" h="0">
                  <a:moveTo>
                    <a:pt x="0" y="0"/>
                  </a:moveTo>
                  <a:lnTo>
                    <a:pt x="100880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7" name="object 117"/>
            <p:cNvSpPr/>
            <p:nvPr/>
          </p:nvSpPr>
          <p:spPr>
            <a:xfrm>
              <a:off x="3251200" y="8036983"/>
              <a:ext cx="10088245" cy="0"/>
            </a:xfrm>
            <a:custGeom>
              <a:avLst/>
              <a:gdLst/>
              <a:ahLst/>
              <a:cxnLst/>
              <a:rect l="l" t="t" r="r" b="b"/>
              <a:pathLst>
                <a:path w="10088244" h="0">
                  <a:moveTo>
                    <a:pt x="0" y="0"/>
                  </a:moveTo>
                  <a:lnTo>
                    <a:pt x="100880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8" name="object 118"/>
          <p:cNvSpPr/>
          <p:nvPr/>
        </p:nvSpPr>
        <p:spPr>
          <a:xfrm>
            <a:off x="876300" y="7541683"/>
            <a:ext cx="2646045" cy="0"/>
          </a:xfrm>
          <a:custGeom>
            <a:avLst/>
            <a:gdLst/>
            <a:ahLst/>
            <a:cxnLst/>
            <a:rect l="l" t="t" r="r" b="b"/>
            <a:pathLst>
              <a:path w="2646045" h="0">
                <a:moveTo>
                  <a:pt x="0" y="0"/>
                </a:moveTo>
                <a:lnTo>
                  <a:pt x="26458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952500" y="5941483"/>
            <a:ext cx="2544445" cy="0"/>
          </a:xfrm>
          <a:custGeom>
            <a:avLst/>
            <a:gdLst/>
            <a:ahLst/>
            <a:cxnLst/>
            <a:rect l="l" t="t" r="r" b="b"/>
            <a:pathLst>
              <a:path w="2544445" h="0">
                <a:moveTo>
                  <a:pt x="0" y="0"/>
                </a:moveTo>
                <a:lnTo>
                  <a:pt x="25442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0" name="object 120"/>
          <p:cNvGrpSpPr/>
          <p:nvPr/>
        </p:nvGrpSpPr>
        <p:grpSpPr>
          <a:xfrm>
            <a:off x="876300" y="3716866"/>
            <a:ext cx="3293745" cy="42545"/>
            <a:chOff x="876300" y="3716866"/>
            <a:chExt cx="3293745" cy="42545"/>
          </a:xfrm>
        </p:grpSpPr>
        <p:sp>
          <p:nvSpPr>
            <p:cNvPr id="121" name="object 121"/>
            <p:cNvSpPr/>
            <p:nvPr/>
          </p:nvSpPr>
          <p:spPr>
            <a:xfrm>
              <a:off x="889000" y="3757083"/>
              <a:ext cx="3217545" cy="0"/>
            </a:xfrm>
            <a:custGeom>
              <a:avLst/>
              <a:gdLst/>
              <a:ahLst/>
              <a:cxnLst/>
              <a:rect l="l" t="t" r="r" b="b"/>
              <a:pathLst>
                <a:path w="3217545" h="0">
                  <a:moveTo>
                    <a:pt x="0" y="0"/>
                  </a:moveTo>
                  <a:lnTo>
                    <a:pt x="32173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2" name="object 122"/>
            <p:cNvSpPr/>
            <p:nvPr/>
          </p:nvSpPr>
          <p:spPr>
            <a:xfrm>
              <a:off x="876300" y="3718983"/>
              <a:ext cx="3293745" cy="0"/>
            </a:xfrm>
            <a:custGeom>
              <a:avLst/>
              <a:gdLst/>
              <a:ahLst/>
              <a:cxnLst/>
              <a:rect l="l" t="t" r="r" b="b"/>
              <a:pathLst>
                <a:path w="3293745" h="0">
                  <a:moveTo>
                    <a:pt x="0" y="0"/>
                  </a:moveTo>
                  <a:lnTo>
                    <a:pt x="32935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3" name="object 123"/>
          <p:cNvSpPr/>
          <p:nvPr/>
        </p:nvSpPr>
        <p:spPr>
          <a:xfrm>
            <a:off x="876300" y="3668183"/>
            <a:ext cx="3357245" cy="0"/>
          </a:xfrm>
          <a:custGeom>
            <a:avLst/>
            <a:gdLst/>
            <a:ahLst/>
            <a:cxnLst/>
            <a:rect l="l" t="t" r="r" b="b"/>
            <a:pathLst>
              <a:path w="3357245" h="0">
                <a:moveTo>
                  <a:pt x="0" y="0"/>
                </a:moveTo>
                <a:lnTo>
                  <a:pt x="33570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876300" y="3617383"/>
            <a:ext cx="3433445" cy="0"/>
          </a:xfrm>
          <a:custGeom>
            <a:avLst/>
            <a:gdLst/>
            <a:ahLst/>
            <a:cxnLst/>
            <a:rect l="l" t="t" r="r" b="b"/>
            <a:pathLst>
              <a:path w="3433445" h="0">
                <a:moveTo>
                  <a:pt x="0" y="0"/>
                </a:moveTo>
                <a:lnTo>
                  <a:pt x="34332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25" name="object 125"/>
          <p:cNvGrpSpPr/>
          <p:nvPr/>
        </p:nvGrpSpPr>
        <p:grpSpPr>
          <a:xfrm>
            <a:off x="876300" y="3361266"/>
            <a:ext cx="3522345" cy="42545"/>
            <a:chOff x="876300" y="3361266"/>
            <a:chExt cx="3522345" cy="42545"/>
          </a:xfrm>
        </p:grpSpPr>
        <p:sp>
          <p:nvSpPr>
            <p:cNvPr id="126" name="object 126"/>
            <p:cNvSpPr/>
            <p:nvPr/>
          </p:nvSpPr>
          <p:spPr>
            <a:xfrm>
              <a:off x="1295400" y="3401483"/>
              <a:ext cx="3103245" cy="0"/>
            </a:xfrm>
            <a:custGeom>
              <a:avLst/>
              <a:gdLst/>
              <a:ahLst/>
              <a:cxnLst/>
              <a:rect l="l" t="t" r="r" b="b"/>
              <a:pathLst>
                <a:path w="3103245" h="0">
                  <a:moveTo>
                    <a:pt x="0" y="0"/>
                  </a:moveTo>
                  <a:lnTo>
                    <a:pt x="31030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7" name="object 127"/>
            <p:cNvSpPr/>
            <p:nvPr/>
          </p:nvSpPr>
          <p:spPr>
            <a:xfrm>
              <a:off x="876300" y="3363383"/>
              <a:ext cx="3446145" cy="0"/>
            </a:xfrm>
            <a:custGeom>
              <a:avLst/>
              <a:gdLst/>
              <a:ahLst/>
              <a:cxnLst/>
              <a:rect l="l" t="t" r="r" b="b"/>
              <a:pathLst>
                <a:path w="3446145" h="0">
                  <a:moveTo>
                    <a:pt x="0" y="0"/>
                  </a:moveTo>
                  <a:lnTo>
                    <a:pt x="3445933" y="0"/>
                  </a:lnTo>
                </a:path>
              </a:pathLst>
            </a:custGeom>
            <a:ln w="4233">
              <a:solidFill>
                <a:srgbClr val="8744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8" name="object 128"/>
          <p:cNvSpPr/>
          <p:nvPr/>
        </p:nvSpPr>
        <p:spPr>
          <a:xfrm>
            <a:off x="876300" y="3312583"/>
            <a:ext cx="3395345" cy="0"/>
          </a:xfrm>
          <a:custGeom>
            <a:avLst/>
            <a:gdLst/>
            <a:ahLst/>
            <a:cxnLst/>
            <a:rect l="l" t="t" r="r" b="b"/>
            <a:pathLst>
              <a:path w="3395345" h="0">
                <a:moveTo>
                  <a:pt x="0" y="0"/>
                </a:moveTo>
                <a:lnTo>
                  <a:pt x="33951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876300" y="3261783"/>
            <a:ext cx="3319145" cy="0"/>
          </a:xfrm>
          <a:custGeom>
            <a:avLst/>
            <a:gdLst/>
            <a:ahLst/>
            <a:cxnLst/>
            <a:rect l="l" t="t" r="r" b="b"/>
            <a:pathLst>
              <a:path w="3319145" h="0">
                <a:moveTo>
                  <a:pt x="0" y="0"/>
                </a:moveTo>
                <a:lnTo>
                  <a:pt x="33189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876300" y="3210983"/>
            <a:ext cx="3242945" cy="0"/>
          </a:xfrm>
          <a:custGeom>
            <a:avLst/>
            <a:gdLst/>
            <a:ahLst/>
            <a:cxnLst/>
            <a:rect l="l" t="t" r="r" b="b"/>
            <a:pathLst>
              <a:path w="3242945" h="0">
                <a:moveTo>
                  <a:pt x="0" y="0"/>
                </a:moveTo>
                <a:lnTo>
                  <a:pt x="32427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4787900" y="2906183"/>
            <a:ext cx="2722245" cy="0"/>
          </a:xfrm>
          <a:custGeom>
            <a:avLst/>
            <a:gdLst/>
            <a:ahLst/>
            <a:cxnLst/>
            <a:rect l="l" t="t" r="r" b="b"/>
            <a:pathLst>
              <a:path w="2722245" h="0">
                <a:moveTo>
                  <a:pt x="0" y="0"/>
                </a:moveTo>
                <a:lnTo>
                  <a:pt x="2722033" y="0"/>
                </a:lnTo>
              </a:path>
            </a:pathLst>
          </a:custGeom>
          <a:ln w="4233">
            <a:solidFill>
              <a:srgbClr val="8744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222500" y="8557683"/>
            <a:ext cx="956944" cy="0"/>
          </a:xfrm>
          <a:custGeom>
            <a:avLst/>
            <a:gdLst/>
            <a:ahLst/>
            <a:cxnLst/>
            <a:rect l="l" t="t" r="r" b="b"/>
            <a:pathLst>
              <a:path w="956944" h="0">
                <a:moveTo>
                  <a:pt x="0" y="0"/>
                </a:moveTo>
                <a:lnTo>
                  <a:pt x="956733" y="0"/>
                </a:lnTo>
              </a:path>
            </a:pathLst>
          </a:custGeom>
          <a:ln w="29633">
            <a:solidFill>
              <a:srgbClr val="0303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2420600" y="7414683"/>
            <a:ext cx="1160145" cy="0"/>
          </a:xfrm>
          <a:custGeom>
            <a:avLst/>
            <a:gdLst/>
            <a:ahLst/>
            <a:cxnLst/>
            <a:rect l="l" t="t" r="r" b="b"/>
            <a:pathLst>
              <a:path w="1160144" h="0">
                <a:moveTo>
                  <a:pt x="0" y="0"/>
                </a:moveTo>
                <a:lnTo>
                  <a:pt x="1159933" y="0"/>
                </a:lnTo>
              </a:path>
            </a:pathLst>
          </a:custGeom>
          <a:ln w="29633">
            <a:solidFill>
              <a:srgbClr val="08080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4" name="object 134"/>
          <p:cNvGrpSpPr/>
          <p:nvPr/>
        </p:nvGrpSpPr>
        <p:grpSpPr>
          <a:xfrm>
            <a:off x="4813300" y="2815167"/>
            <a:ext cx="2633345" cy="67945"/>
            <a:chOff x="4813300" y="2815167"/>
            <a:chExt cx="2633345" cy="67945"/>
          </a:xfrm>
        </p:grpSpPr>
        <p:sp>
          <p:nvSpPr>
            <p:cNvPr id="135" name="object 135"/>
            <p:cNvSpPr/>
            <p:nvPr/>
          </p:nvSpPr>
          <p:spPr>
            <a:xfrm>
              <a:off x="4813300" y="2868083"/>
              <a:ext cx="2633345" cy="0"/>
            </a:xfrm>
            <a:custGeom>
              <a:avLst/>
              <a:gdLst/>
              <a:ahLst/>
              <a:cxnLst/>
              <a:rect l="l" t="t" r="r" b="b"/>
              <a:pathLst>
                <a:path w="2633345" h="0">
                  <a:moveTo>
                    <a:pt x="0" y="0"/>
                  </a:moveTo>
                  <a:lnTo>
                    <a:pt x="2633133" y="0"/>
                  </a:lnTo>
                </a:path>
              </a:pathLst>
            </a:custGeom>
            <a:ln w="29633">
              <a:solidFill>
                <a:srgbClr val="D85B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6" name="object 136"/>
            <p:cNvSpPr/>
            <p:nvPr/>
          </p:nvSpPr>
          <p:spPr>
            <a:xfrm>
              <a:off x="4838700" y="2842683"/>
              <a:ext cx="2595245" cy="0"/>
            </a:xfrm>
            <a:custGeom>
              <a:avLst/>
              <a:gdLst/>
              <a:ahLst/>
              <a:cxnLst/>
              <a:rect l="l" t="t" r="r" b="b"/>
              <a:pathLst>
                <a:path w="2595245" h="0">
                  <a:moveTo>
                    <a:pt x="0" y="0"/>
                  </a:moveTo>
                  <a:lnTo>
                    <a:pt x="2595033" y="0"/>
                  </a:lnTo>
                </a:path>
              </a:pathLst>
            </a:custGeom>
            <a:ln w="29633">
              <a:solidFill>
                <a:srgbClr val="D85B1C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7" name="object 137"/>
            <p:cNvSpPr/>
            <p:nvPr/>
          </p:nvSpPr>
          <p:spPr>
            <a:xfrm>
              <a:off x="4864100" y="2829983"/>
              <a:ext cx="2544445" cy="0"/>
            </a:xfrm>
            <a:custGeom>
              <a:avLst/>
              <a:gdLst/>
              <a:ahLst/>
              <a:cxnLst/>
              <a:rect l="l" t="t" r="r" b="b"/>
              <a:pathLst>
                <a:path w="2544445" h="0">
                  <a:moveTo>
                    <a:pt x="0" y="0"/>
                  </a:moveTo>
                  <a:lnTo>
                    <a:pt x="2544233" y="0"/>
                  </a:lnTo>
                </a:path>
              </a:pathLst>
            </a:custGeom>
            <a:ln w="29633">
              <a:solidFill>
                <a:srgbClr val="D85B1C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8" name="object 13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07300" y="6159500"/>
            <a:ext cx="114300" cy="139700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915400" y="5969000"/>
            <a:ext cx="215900" cy="190500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375900" y="5092700"/>
            <a:ext cx="241300" cy="406400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2484100" y="7137400"/>
            <a:ext cx="190500" cy="241300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992100" y="2825750"/>
            <a:ext cx="2965450" cy="349250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763000" y="3841750"/>
            <a:ext cx="2978150" cy="336550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4376400" y="9201150"/>
            <a:ext cx="2711450" cy="171450"/>
          </a:xfrm>
          <a:prstGeom prst="rect">
            <a:avLst/>
          </a:prstGeom>
        </p:spPr>
      </p:pic>
      <p:pic>
        <p:nvPicPr>
          <p:cNvPr id="145" name="object 14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63600" y="3378200"/>
            <a:ext cx="2844800" cy="228600"/>
          </a:xfrm>
          <a:prstGeom prst="rect">
            <a:avLst/>
          </a:prstGeom>
        </p:spPr>
      </p:pic>
      <p:pic>
        <p:nvPicPr>
          <p:cNvPr id="146" name="object 14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013700" y="5854700"/>
            <a:ext cx="1422400" cy="190500"/>
          </a:xfrm>
          <a:prstGeom prst="rect">
            <a:avLst/>
          </a:prstGeom>
        </p:spPr>
      </p:pic>
      <p:grpSp>
        <p:nvGrpSpPr>
          <p:cNvPr id="147" name="object 147"/>
          <p:cNvGrpSpPr/>
          <p:nvPr/>
        </p:nvGrpSpPr>
        <p:grpSpPr>
          <a:xfrm>
            <a:off x="8013700" y="7010400"/>
            <a:ext cx="1422400" cy="444500"/>
            <a:chOff x="8013700" y="7010400"/>
            <a:chExt cx="1422400" cy="444500"/>
          </a:xfrm>
        </p:grpSpPr>
        <p:pic>
          <p:nvPicPr>
            <p:cNvPr id="148" name="object 14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32900" y="7010400"/>
              <a:ext cx="203200" cy="127000"/>
            </a:xfrm>
            <a:prstGeom prst="rect">
              <a:avLst/>
            </a:prstGeom>
          </p:spPr>
        </p:pic>
        <p:pic>
          <p:nvPicPr>
            <p:cNvPr id="149" name="object 1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013700" y="7137400"/>
              <a:ext cx="1422400" cy="317500"/>
            </a:xfrm>
            <a:prstGeom prst="rect">
              <a:avLst/>
            </a:prstGeom>
          </p:spPr>
        </p:pic>
      </p:grpSp>
      <p:pic>
        <p:nvPicPr>
          <p:cNvPr id="150" name="object 15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788400" y="2825750"/>
            <a:ext cx="2952750" cy="361950"/>
          </a:xfrm>
          <a:prstGeom prst="rect">
            <a:avLst/>
          </a:prstGeom>
        </p:spPr>
      </p:pic>
      <p:pic>
        <p:nvPicPr>
          <p:cNvPr id="151" name="object 151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966700" y="3829050"/>
            <a:ext cx="2990850" cy="349250"/>
          </a:xfrm>
          <a:prstGeom prst="rect">
            <a:avLst/>
          </a:prstGeom>
        </p:spPr>
      </p:pic>
      <p:pic>
        <p:nvPicPr>
          <p:cNvPr id="152" name="object 152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686300" y="3841750"/>
            <a:ext cx="2838450" cy="336550"/>
          </a:xfrm>
          <a:prstGeom prst="rect">
            <a:avLst/>
          </a:prstGeom>
        </p:spPr>
      </p:pic>
      <p:sp>
        <p:nvSpPr>
          <p:cNvPr id="153" name="object 153" descr="$PPTXTitle"/>
          <p:cNvSpPr txBox="1">
            <a:spLocks noGrp="1"/>
          </p:cNvSpPr>
          <p:nvPr>
            <p:ph type="title"/>
          </p:nvPr>
        </p:nvSpPr>
        <p:spPr>
          <a:xfrm>
            <a:off x="788449" y="471663"/>
            <a:ext cx="13061315" cy="10521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6700" spc="-475"/>
              <a:t>BEYONDWORDS:</a:t>
            </a:r>
            <a:r>
              <a:rPr dirty="0" sz="6700" spc="-220"/>
              <a:t> </a:t>
            </a:r>
            <a:r>
              <a:rPr dirty="0" sz="6700" spc="-490"/>
              <a:t>PROMPT</a:t>
            </a:r>
            <a:r>
              <a:rPr dirty="0" sz="6700" spc="-370"/>
              <a:t> </a:t>
            </a:r>
            <a:r>
              <a:rPr dirty="0" sz="6700" spc="-445"/>
              <a:t>TUNING</a:t>
            </a:r>
            <a:endParaRPr sz="6700"/>
          </a:p>
        </p:txBody>
      </p:sp>
      <p:sp>
        <p:nvSpPr>
          <p:cNvPr id="154" name="object 154"/>
          <p:cNvSpPr txBox="1"/>
          <p:nvPr/>
        </p:nvSpPr>
        <p:spPr>
          <a:xfrm>
            <a:off x="827219" y="1426280"/>
            <a:ext cx="8932545" cy="130492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800" spc="-175">
                <a:latin typeface="Arial"/>
                <a:cs typeface="Arial"/>
              </a:rPr>
              <a:t>Moving</a:t>
            </a:r>
            <a:r>
              <a:rPr dirty="0" sz="3800" spc="-80">
                <a:latin typeface="Arial"/>
                <a:cs typeface="Arial"/>
              </a:rPr>
              <a:t> </a:t>
            </a:r>
            <a:r>
              <a:rPr dirty="0" sz="3800" spc="-120">
                <a:latin typeface="Arial"/>
                <a:cs typeface="Arial"/>
              </a:rPr>
              <a:t>from</a:t>
            </a:r>
            <a:r>
              <a:rPr dirty="0" sz="3800" spc="-300">
                <a:latin typeface="Arial"/>
                <a:cs typeface="Arial"/>
              </a:rPr>
              <a:t> </a:t>
            </a:r>
            <a:r>
              <a:rPr dirty="0" sz="3800" spc="-100">
                <a:latin typeface="Arial"/>
                <a:cs typeface="Arial"/>
              </a:rPr>
              <a:t>art</a:t>
            </a:r>
            <a:r>
              <a:rPr dirty="0" sz="3800" spc="-220">
                <a:latin typeface="Arial"/>
                <a:cs typeface="Arial"/>
              </a:rPr>
              <a:t> </a:t>
            </a:r>
            <a:r>
              <a:rPr dirty="0" sz="3800" spc="-25">
                <a:latin typeface="Arial"/>
                <a:cs typeface="Arial"/>
              </a:rPr>
              <a:t>to</a:t>
            </a:r>
            <a:r>
              <a:rPr dirty="0" sz="3800" spc="-465">
                <a:latin typeface="Arial"/>
                <a:cs typeface="Arial"/>
              </a:rPr>
              <a:t> </a:t>
            </a:r>
            <a:r>
              <a:rPr dirty="0" sz="3800" spc="-165">
                <a:latin typeface="Arial"/>
                <a:cs typeface="Arial"/>
              </a:rPr>
              <a:t>mathematical</a:t>
            </a:r>
            <a:r>
              <a:rPr dirty="0" sz="3800" spc="-65">
                <a:latin typeface="Arial"/>
                <a:cs typeface="Arial"/>
              </a:rPr>
              <a:t> </a:t>
            </a:r>
            <a:r>
              <a:rPr dirty="0" sz="3800" spc="-114">
                <a:latin typeface="Arial"/>
                <a:cs typeface="Arial"/>
              </a:rPr>
              <a:t>optimization.</a:t>
            </a:r>
            <a:endParaRPr sz="3800">
              <a:latin typeface="Arial"/>
              <a:cs typeface="Arial"/>
            </a:endParaRPr>
          </a:p>
          <a:p>
            <a:pPr marL="78740">
              <a:lnSpc>
                <a:spcPct val="100000"/>
              </a:lnSpc>
              <a:spcBef>
                <a:spcPts val="2190"/>
              </a:spcBef>
            </a:pPr>
            <a:r>
              <a:rPr dirty="0" sz="2750" spc="-105">
                <a:latin typeface="Consolas"/>
                <a:cs typeface="Consolas"/>
              </a:rPr>
              <a:t>MANUAL</a:t>
            </a:r>
            <a:r>
              <a:rPr dirty="0" sz="2750" spc="-265">
                <a:latin typeface="Consolas"/>
                <a:cs typeface="Consolas"/>
              </a:rPr>
              <a:t> </a:t>
            </a:r>
            <a:r>
              <a:rPr dirty="0" sz="2750" spc="-10">
                <a:latin typeface="Consolas"/>
                <a:cs typeface="Consolas"/>
              </a:rPr>
              <a:t>ENGINEERING</a:t>
            </a:r>
            <a:endParaRPr sz="2750">
              <a:latin typeface="Consolas"/>
              <a:cs typeface="Consolas"/>
            </a:endParaRPr>
          </a:p>
        </p:txBody>
      </p:sp>
      <p:sp>
        <p:nvSpPr>
          <p:cNvPr id="155" name="object 155"/>
          <p:cNvSpPr txBox="1"/>
          <p:nvPr/>
        </p:nvSpPr>
        <p:spPr>
          <a:xfrm>
            <a:off x="856700" y="5118452"/>
            <a:ext cx="3743960" cy="459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50" spc="-165">
                <a:latin typeface="Consolas"/>
                <a:cs typeface="Consolas"/>
              </a:rPr>
              <a:t>SOFT</a:t>
            </a:r>
            <a:r>
              <a:rPr dirty="0" sz="2850" spc="-265">
                <a:latin typeface="Consolas"/>
                <a:cs typeface="Consolas"/>
              </a:rPr>
              <a:t> </a:t>
            </a:r>
            <a:r>
              <a:rPr dirty="0" sz="2850" spc="-135">
                <a:latin typeface="Consolas"/>
                <a:cs typeface="Consolas"/>
              </a:rPr>
              <a:t>PROMPTS</a:t>
            </a:r>
            <a:r>
              <a:rPr dirty="0" sz="2850" spc="-215">
                <a:latin typeface="Consolas"/>
                <a:cs typeface="Consolas"/>
              </a:rPr>
              <a:t> </a:t>
            </a:r>
            <a:r>
              <a:rPr dirty="0" sz="2850" spc="-409">
                <a:latin typeface="Consolas"/>
                <a:cs typeface="Consolas"/>
              </a:rPr>
              <a:t>/</a:t>
            </a:r>
            <a:r>
              <a:rPr dirty="0" sz="2850" spc="-185">
                <a:latin typeface="Consolas"/>
                <a:cs typeface="Consolas"/>
              </a:rPr>
              <a:t> </a:t>
            </a:r>
            <a:r>
              <a:rPr dirty="0" sz="2850" spc="-140">
                <a:latin typeface="Consolas"/>
                <a:cs typeface="Consolas"/>
              </a:rPr>
              <a:t>TUNING</a:t>
            </a:r>
            <a:endParaRPr sz="2850">
              <a:latin typeface="Consolas"/>
              <a:cs typeface="Consolas"/>
            </a:endParaRPr>
          </a:p>
        </p:txBody>
      </p:sp>
      <p:sp>
        <p:nvSpPr>
          <p:cNvPr id="156" name="object 156"/>
          <p:cNvSpPr txBox="1"/>
          <p:nvPr/>
        </p:nvSpPr>
        <p:spPr>
          <a:xfrm>
            <a:off x="1252555" y="6396213"/>
            <a:ext cx="182753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80">
                <a:latin typeface="Arial"/>
                <a:cs typeface="Arial"/>
              </a:rPr>
              <a:t>Summarize</a:t>
            </a:r>
            <a:endParaRPr sz="2950">
              <a:latin typeface="Arial"/>
              <a:cs typeface="Arial"/>
            </a:endParaRPr>
          </a:p>
        </p:txBody>
      </p:sp>
      <p:sp>
        <p:nvSpPr>
          <p:cNvPr id="157" name="object 157"/>
          <p:cNvSpPr txBox="1"/>
          <p:nvPr/>
        </p:nvSpPr>
        <p:spPr>
          <a:xfrm>
            <a:off x="5176855" y="3233913"/>
            <a:ext cx="182753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80">
                <a:latin typeface="Arial"/>
                <a:cs typeface="Arial"/>
              </a:rPr>
              <a:t>Summarize</a:t>
            </a:r>
            <a:endParaRPr sz="2950">
              <a:latin typeface="Arial"/>
              <a:cs typeface="Arial"/>
            </a:endParaRPr>
          </a:p>
        </p:txBody>
      </p:sp>
      <p:sp>
        <p:nvSpPr>
          <p:cNvPr id="158" name="object 158"/>
          <p:cNvSpPr txBox="1"/>
          <p:nvPr/>
        </p:nvSpPr>
        <p:spPr>
          <a:xfrm>
            <a:off x="4895520" y="5771444"/>
            <a:ext cx="1653539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05"/>
              </a:spcBef>
              <a:tabLst>
                <a:tab pos="891540" algn="l"/>
              </a:tabLst>
            </a:pPr>
            <a:r>
              <a:rPr dirty="0" sz="1800" spc="75">
                <a:latin typeface="Calibri"/>
                <a:cs typeface="Calibri"/>
              </a:rPr>
              <a:t>(e.231,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10">
                <a:latin typeface="Calibri"/>
                <a:cs typeface="Calibri"/>
              </a:rPr>
              <a:t>—</a:t>
            </a:r>
            <a:r>
              <a:rPr dirty="0" sz="1800" spc="-30">
                <a:latin typeface="Calibri"/>
                <a:cs typeface="Calibri"/>
              </a:rPr>
              <a:t>1.402,</a:t>
            </a:r>
            <a:endParaRPr sz="1800">
              <a:latin typeface="Calibri"/>
              <a:cs typeface="Calibri"/>
            </a:endParaRPr>
          </a:p>
          <a:p>
            <a:pPr marL="15875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Arial"/>
                <a:cs typeface="Arial"/>
              </a:rPr>
              <a:t>[-</a:t>
            </a:r>
            <a:r>
              <a:rPr dirty="0" sz="1800" spc="60">
                <a:latin typeface="Arial"/>
                <a:cs typeface="Arial"/>
              </a:rPr>
              <a:t>6.554,</a:t>
            </a:r>
            <a:r>
              <a:rPr dirty="0" sz="1800" spc="105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1.128,</a:t>
            </a:r>
            <a:endParaRPr sz="18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140"/>
              </a:spcBef>
              <a:tabLst>
                <a:tab pos="1013460" algn="l"/>
              </a:tabLst>
            </a:pPr>
            <a:r>
              <a:rPr dirty="0" sz="1800" spc="-120">
                <a:latin typeface="Arial"/>
                <a:cs typeface="Arial"/>
              </a:rPr>
              <a:t>[—</a:t>
            </a:r>
            <a:r>
              <a:rPr dirty="0" sz="1800" spc="-10">
                <a:latin typeface="Arial"/>
                <a:cs typeface="Arial"/>
              </a:rPr>
              <a:t>0.384,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6.717,</a:t>
            </a:r>
            <a:endParaRPr sz="180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  <a:spcBef>
                <a:spcPts val="140"/>
              </a:spcBef>
            </a:pPr>
            <a:r>
              <a:rPr dirty="0" sz="1800" spc="120">
                <a:latin typeface="Arial"/>
                <a:cs typeface="Arial"/>
              </a:rPr>
              <a:t>(-</a:t>
            </a:r>
            <a:r>
              <a:rPr dirty="0" sz="1800" spc="155">
                <a:latin typeface="Arial"/>
                <a:cs typeface="Arial"/>
              </a:rPr>
              <a:t>0.</a:t>
            </a:r>
            <a:r>
              <a:rPr dirty="0" sz="1800" spc="-3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554,</a:t>
            </a:r>
            <a:r>
              <a:rPr dirty="0" sz="1800" spc="26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1.128,</a:t>
            </a:r>
            <a:endParaRPr sz="1800">
              <a:latin typeface="Arial"/>
              <a:cs typeface="Arial"/>
            </a:endParaRPr>
          </a:p>
          <a:p>
            <a:pPr marL="15875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Arial"/>
                <a:cs typeface="Arial"/>
              </a:rPr>
              <a:t>[-</a:t>
            </a:r>
            <a:r>
              <a:rPr dirty="0" sz="1800" spc="70">
                <a:latin typeface="Arial"/>
                <a:cs typeface="Arial"/>
              </a:rPr>
              <a:t>0.333,</a:t>
            </a:r>
            <a:r>
              <a:rPr dirty="0" sz="1800" spc="140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6.266,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  <a:tabLst>
                <a:tab pos="911225" algn="l"/>
              </a:tabLst>
            </a:pPr>
            <a:r>
              <a:rPr dirty="0" sz="1700">
                <a:latin typeface="Cambria"/>
                <a:cs typeface="Cambria"/>
              </a:rPr>
              <a:t>(8.</a:t>
            </a:r>
            <a:r>
              <a:rPr dirty="0" sz="1700" spc="229"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23J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-50">
                <a:latin typeface="Cambria"/>
                <a:cs typeface="Cambria"/>
              </a:rPr>
              <a:t>,</a:t>
            </a:r>
            <a:r>
              <a:rPr dirty="0" sz="1700">
                <a:latin typeface="Cambria"/>
                <a:cs typeface="Cambria"/>
              </a:rPr>
              <a:t>	</a:t>
            </a:r>
            <a:r>
              <a:rPr dirty="0" sz="1700" spc="-840">
                <a:latin typeface="Cambria"/>
                <a:cs typeface="Cambria"/>
              </a:rPr>
              <a:t>—</a:t>
            </a:r>
            <a:r>
              <a:rPr dirty="0" sz="1700" spc="-459">
                <a:latin typeface="Cambria"/>
                <a:cs typeface="Cambria"/>
              </a:rPr>
              <a:t>1</a:t>
            </a:r>
            <a:r>
              <a:rPr dirty="0" sz="1700" spc="160">
                <a:latin typeface="Cambria"/>
                <a:cs typeface="Cambria"/>
              </a:rPr>
              <a:t> </a:t>
            </a:r>
            <a:r>
              <a:rPr dirty="0" sz="1700" spc="-175">
                <a:latin typeface="Cambria"/>
                <a:cs typeface="Cambria"/>
              </a:rPr>
              <a:t>.</a:t>
            </a:r>
            <a:r>
              <a:rPr dirty="0" sz="1700" spc="70">
                <a:latin typeface="Cambria"/>
                <a:cs typeface="Cambria"/>
              </a:rPr>
              <a:t> </a:t>
            </a:r>
            <a:r>
              <a:rPr dirty="0" sz="1700" spc="-20">
                <a:latin typeface="Cambria"/>
                <a:cs typeface="Cambria"/>
              </a:rPr>
              <a:t>402,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59" name="object 159"/>
          <p:cNvSpPr txBox="1"/>
          <p:nvPr/>
        </p:nvSpPr>
        <p:spPr>
          <a:xfrm>
            <a:off x="6669967" y="5771444"/>
            <a:ext cx="689610" cy="17341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3495">
              <a:lnSpc>
                <a:spcPts val="2155"/>
              </a:lnSpc>
              <a:spcBef>
                <a:spcPts val="105"/>
              </a:spcBef>
            </a:pPr>
            <a:r>
              <a:rPr dirty="0" sz="1800" spc="50">
                <a:latin typeface="Calibri"/>
                <a:cs typeface="Calibri"/>
              </a:rPr>
              <a:t>6.992]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215"/>
              </a:lnSpc>
            </a:pPr>
            <a:r>
              <a:rPr dirty="0" sz="1850">
                <a:latin typeface="Consolas"/>
                <a:cs typeface="Consolas"/>
              </a:rPr>
              <a:t>0</a:t>
            </a:r>
            <a:r>
              <a:rPr dirty="0" sz="1850" spc="-240">
                <a:latin typeface="Consolas"/>
                <a:cs typeface="Consolas"/>
              </a:rPr>
              <a:t> </a:t>
            </a:r>
            <a:r>
              <a:rPr dirty="0" sz="1850" spc="-145">
                <a:latin typeface="Consolas"/>
                <a:cs typeface="Consolas"/>
              </a:rPr>
              <a:t>0031</a:t>
            </a:r>
            <a:endParaRPr sz="1850">
              <a:latin typeface="Consolas"/>
              <a:cs typeface="Consolas"/>
            </a:endParaRPr>
          </a:p>
          <a:p>
            <a:pPr marL="25400">
              <a:lnSpc>
                <a:spcPct val="100000"/>
              </a:lnSpc>
              <a:spcBef>
                <a:spcPts val="80"/>
              </a:spcBef>
            </a:pPr>
            <a:r>
              <a:rPr dirty="0" sz="1850" spc="-155">
                <a:latin typeface="Consolas"/>
                <a:cs typeface="Consolas"/>
              </a:rPr>
              <a:t>0.093]</a:t>
            </a:r>
            <a:endParaRPr sz="1850">
              <a:latin typeface="Consolas"/>
              <a:cs typeface="Consolas"/>
            </a:endParaRPr>
          </a:p>
          <a:p>
            <a:pPr marL="13970">
              <a:lnSpc>
                <a:spcPct val="100000"/>
              </a:lnSpc>
              <a:spcBef>
                <a:spcPts val="229"/>
              </a:spcBef>
            </a:pPr>
            <a:r>
              <a:rPr dirty="0" sz="1700">
                <a:latin typeface="Arial"/>
                <a:cs typeface="Arial"/>
              </a:rPr>
              <a:t>6.863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]</a:t>
            </a:r>
            <a:endParaRPr sz="1700">
              <a:latin typeface="Arial"/>
              <a:cs typeface="Arial"/>
            </a:endParaRPr>
          </a:p>
          <a:p>
            <a:pPr marL="26670">
              <a:lnSpc>
                <a:spcPct val="100000"/>
              </a:lnSpc>
              <a:spcBef>
                <a:spcPts val="60"/>
              </a:spcBef>
            </a:pPr>
            <a:r>
              <a:rPr dirty="0" sz="1800" spc="-10">
                <a:latin typeface="Arial"/>
                <a:cs typeface="Arial"/>
              </a:rPr>
              <a:t>6.893]</a:t>
            </a:r>
            <a:endParaRPr sz="1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40"/>
              </a:spcBef>
            </a:pPr>
            <a:r>
              <a:rPr dirty="0" sz="1700">
                <a:latin typeface="Cambria"/>
                <a:cs typeface="Cambria"/>
              </a:rPr>
              <a:t>8.</a:t>
            </a:r>
            <a:r>
              <a:rPr dirty="0" sz="1700" spc="45">
                <a:latin typeface="Cambria"/>
                <a:cs typeface="Cambria"/>
              </a:rPr>
              <a:t> </a:t>
            </a:r>
            <a:r>
              <a:rPr dirty="0" sz="1700" spc="-65">
                <a:latin typeface="Cambria"/>
                <a:cs typeface="Cambria"/>
              </a:rPr>
              <a:t>992</a:t>
            </a:r>
            <a:r>
              <a:rPr dirty="0" sz="1700" spc="-75">
                <a:latin typeface="Cambria"/>
                <a:cs typeface="Cambria"/>
              </a:rPr>
              <a:t> </a:t>
            </a:r>
            <a:r>
              <a:rPr dirty="0" sz="1700" spc="-50">
                <a:latin typeface="Cambria"/>
                <a:cs typeface="Cambria"/>
              </a:rPr>
              <a:t>]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9619950" y="3207455"/>
            <a:ext cx="127635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200" spc="-90">
                <a:latin typeface="Arial"/>
                <a:cs typeface="Arial"/>
              </a:rPr>
              <a:t>Explain</a:t>
            </a:r>
            <a:endParaRPr sz="3200">
              <a:latin typeface="Arial"/>
              <a:cs typeface="Arial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13824038" y="3233913"/>
            <a:ext cx="1252220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70">
                <a:latin typeface="Arial"/>
                <a:cs typeface="Arial"/>
              </a:rPr>
              <a:t>Context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13039852" y="4605513"/>
            <a:ext cx="3303904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160">
                <a:latin typeface="Arial"/>
                <a:cs typeface="Arial"/>
              </a:rPr>
              <a:t>Machine</a:t>
            </a:r>
            <a:r>
              <a:rPr dirty="0" sz="2950" spc="-10">
                <a:latin typeface="Arial"/>
                <a:cs typeface="Arial"/>
              </a:rPr>
              <a:t> </a:t>
            </a:r>
            <a:r>
              <a:rPr dirty="0" sz="2950" spc="-120">
                <a:latin typeface="Arial"/>
                <a:cs typeface="Arial"/>
              </a:rPr>
              <a:t>Optimization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3" name="object 163"/>
          <p:cNvSpPr txBox="1"/>
          <p:nvPr/>
        </p:nvSpPr>
        <p:spPr>
          <a:xfrm>
            <a:off x="9522707" y="5780263"/>
            <a:ext cx="2425700" cy="2901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890905" algn="l"/>
              </a:tabLst>
            </a:pPr>
            <a:r>
              <a:rPr dirty="0" sz="1700" spc="-65">
                <a:latin typeface="Arial"/>
                <a:cs typeface="Arial"/>
              </a:rPr>
              <a:t>[</a:t>
            </a:r>
            <a:r>
              <a:rPr dirty="0" sz="1700" spc="-260">
                <a:latin typeface="Arial"/>
                <a:cs typeface="Arial"/>
              </a:rPr>
              <a:t> </a:t>
            </a:r>
            <a:r>
              <a:rPr dirty="0" sz="1700" spc="-10">
                <a:latin typeface="Arial"/>
                <a:cs typeface="Arial"/>
              </a:rPr>
              <a:t>1.742,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175">
                <a:latin typeface="Arial"/>
                <a:cs typeface="Arial"/>
              </a:rPr>
              <a:t>—</a:t>
            </a:r>
            <a:r>
              <a:rPr dirty="0" sz="1700" spc="-25">
                <a:latin typeface="Arial"/>
                <a:cs typeface="Arial"/>
              </a:rPr>
              <a:t>6.883,</a:t>
            </a:r>
            <a:r>
              <a:rPr dirty="0" sz="1700" spc="31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2.</a:t>
            </a:r>
            <a:r>
              <a:rPr dirty="0" sz="1700" spc="-25">
                <a:latin typeface="Arial"/>
                <a:cs typeface="Arial"/>
              </a:rPr>
              <a:t> </a:t>
            </a:r>
            <a:r>
              <a:rPr dirty="0" sz="1700" spc="-135">
                <a:latin typeface="Arial"/>
                <a:cs typeface="Arial"/>
              </a:rPr>
              <a:t>561</a:t>
            </a:r>
            <a:r>
              <a:rPr dirty="0" sz="1700" spc="-225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]</a:t>
            </a:r>
            <a:endParaRPr sz="17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3262419" y="5780263"/>
            <a:ext cx="3157220" cy="571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90170">
              <a:lnSpc>
                <a:spcPct val="100000"/>
              </a:lnSpc>
              <a:spcBef>
                <a:spcPts val="135"/>
              </a:spcBef>
              <a:tabLst>
                <a:tab pos="730250" algn="l"/>
                <a:tab pos="1715135" algn="l"/>
              </a:tabLst>
            </a:pPr>
            <a:r>
              <a:rPr dirty="0" sz="1700" spc="-20">
                <a:latin typeface="Arial"/>
                <a:cs typeface="Arial"/>
              </a:rPr>
              <a:t>...,</a:t>
            </a:r>
            <a:r>
              <a:rPr dirty="0" sz="1700">
                <a:latin typeface="Arial"/>
                <a:cs typeface="Arial"/>
              </a:rPr>
              <a:t>	</a:t>
            </a:r>
            <a:r>
              <a:rPr dirty="0" sz="1700" spc="-60">
                <a:latin typeface="Arial"/>
                <a:cs typeface="Arial"/>
              </a:rPr>
              <a:t>[</a:t>
            </a:r>
            <a:r>
              <a:rPr dirty="0" sz="1700" spc="-65">
                <a:latin typeface="Arial"/>
                <a:cs typeface="Arial"/>
              </a:rPr>
              <a:t> </a:t>
            </a:r>
            <a:r>
              <a:rPr dirty="0" sz="1700" spc="-250">
                <a:latin typeface="Arial"/>
                <a:cs typeface="Arial"/>
              </a:rPr>
              <a:t>—</a:t>
            </a:r>
            <a:r>
              <a:rPr dirty="0" sz="1700" spc="-10">
                <a:latin typeface="Arial"/>
                <a:cs typeface="Arial"/>
              </a:rPr>
              <a:t>8.113,</a:t>
            </a:r>
            <a:r>
              <a:rPr dirty="0" sz="1700">
                <a:latin typeface="Arial"/>
                <a:cs typeface="Arial"/>
              </a:rPr>
              <a:t>	6.567,</a:t>
            </a:r>
            <a:r>
              <a:rPr dirty="0" sz="1700" spc="175">
                <a:latin typeface="Arial"/>
                <a:cs typeface="Arial"/>
              </a:rPr>
              <a:t>  </a:t>
            </a:r>
            <a:r>
              <a:rPr dirty="0" sz="1700">
                <a:latin typeface="Arial"/>
                <a:cs typeface="Arial"/>
              </a:rPr>
              <a:t>1.882</a:t>
            </a:r>
            <a:r>
              <a:rPr dirty="0" sz="1700" spc="-60">
                <a:latin typeface="Arial"/>
                <a:cs typeface="Arial"/>
              </a:rPr>
              <a:t> </a:t>
            </a:r>
            <a:r>
              <a:rPr dirty="0" sz="1700" spc="-50">
                <a:latin typeface="Arial"/>
                <a:cs typeface="Arial"/>
              </a:rPr>
              <a:t>]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  <a:tabLst>
                <a:tab pos="377190" algn="l"/>
                <a:tab pos="1602105" algn="l"/>
              </a:tabLst>
            </a:pPr>
            <a:r>
              <a:rPr dirty="0" sz="1800" spc="-50">
                <a:solidFill>
                  <a:srgbClr val="6D6D6D"/>
                </a:solidFill>
                <a:latin typeface="Arial"/>
                <a:cs typeface="Arial"/>
              </a:rPr>
              <a:t>”</a:t>
            </a:r>
            <a:r>
              <a:rPr dirty="0" sz="1800">
                <a:solidFill>
                  <a:srgbClr val="6D6D6D"/>
                </a:solidFill>
                <a:latin typeface="Arial"/>
                <a:cs typeface="Arial"/>
              </a:rPr>
              <a:t>	</a:t>
            </a:r>
            <a:r>
              <a:rPr dirty="0" sz="1800" spc="-815">
                <a:solidFill>
                  <a:srgbClr val="CC622B"/>
                </a:solidFill>
                <a:latin typeface="Arial"/>
                <a:cs typeface="Arial"/>
              </a:rPr>
              <a:t>—</a:t>
            </a:r>
            <a:r>
              <a:rPr dirty="0" sz="1800" spc="-370">
                <a:solidFill>
                  <a:srgbClr val="CC622B"/>
                </a:solidFill>
                <a:latin typeface="Arial"/>
                <a:cs typeface="Arial"/>
              </a:rPr>
              <a:t>a•</a:t>
            </a:r>
            <a:r>
              <a:rPr dirty="0" sz="1800" spc="380">
                <a:solidFill>
                  <a:srgbClr val="CC622B"/>
                </a:solidFill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[2.339,</a:t>
            </a:r>
            <a:r>
              <a:rPr dirty="0" sz="1800">
                <a:latin typeface="Arial"/>
                <a:cs typeface="Arial"/>
              </a:rPr>
              <a:t>	</a:t>
            </a:r>
            <a:r>
              <a:rPr dirty="0" sz="1800" spc="-35">
                <a:latin typeface="Arial"/>
                <a:cs typeface="Arial"/>
              </a:rPr>
              <a:t>-</a:t>
            </a:r>
            <a:r>
              <a:rPr dirty="0" sz="1800">
                <a:latin typeface="Arial"/>
                <a:cs typeface="Arial"/>
              </a:rPr>
              <a:t>1.BB9,</a:t>
            </a:r>
            <a:r>
              <a:rPr dirty="0" sz="1800" spc="475">
                <a:latin typeface="Arial"/>
                <a:cs typeface="Arial"/>
              </a:rPr>
              <a:t> </a:t>
            </a:r>
            <a:r>
              <a:rPr dirty="0" sz="1800" spc="55">
                <a:latin typeface="Arial"/>
                <a:cs typeface="Arial"/>
              </a:rPr>
              <a:t>0.</a:t>
            </a:r>
            <a:r>
              <a:rPr dirty="0" sz="1800" spc="-275">
                <a:latin typeface="Arial"/>
                <a:cs typeface="Arial"/>
              </a:rPr>
              <a:t> </a:t>
            </a:r>
            <a:r>
              <a:rPr dirty="0" sz="1800" spc="-80">
                <a:latin typeface="Arial"/>
                <a:cs typeface="Arial"/>
              </a:rPr>
              <a:t>44S]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9522107" y="6050844"/>
            <a:ext cx="153289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latin typeface="Arial"/>
                <a:cs typeface="Arial"/>
              </a:rPr>
              <a:t>[6.</a:t>
            </a:r>
            <a:r>
              <a:rPr dirty="0" sz="1800" spc="-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991,</a:t>
            </a:r>
            <a:r>
              <a:rPr dirty="0" sz="1800" spc="3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6.222,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6" name="object 166"/>
          <p:cNvSpPr txBox="1"/>
          <p:nvPr/>
        </p:nvSpPr>
        <p:spPr>
          <a:xfrm>
            <a:off x="8038024" y="6237111"/>
            <a:ext cx="3063240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29914" sz="3900" spc="-75">
                <a:latin typeface="Arial"/>
                <a:cs typeface="Arial"/>
              </a:rPr>
              <a:t>Explain</a:t>
            </a:r>
            <a:r>
              <a:rPr dirty="0" baseline="-29914" sz="3900" spc="-112">
                <a:latin typeface="Arial"/>
                <a:cs typeface="Arial"/>
              </a:rPr>
              <a:t> </a:t>
            </a:r>
            <a:r>
              <a:rPr dirty="0" sz="1850" spc="-65">
                <a:solidFill>
                  <a:srgbClr val="CA622A"/>
                </a:solidFill>
                <a:latin typeface="Consolas"/>
                <a:cs typeface="Consolas"/>
              </a:rPr>
              <a:t>-</a:t>
            </a:r>
            <a:r>
              <a:rPr dirty="0" sz="1850" spc="-60">
                <a:solidFill>
                  <a:srgbClr val="CA622A"/>
                </a:solidFill>
                <a:latin typeface="Consolas"/>
                <a:cs typeface="Consolas"/>
              </a:rPr>
              <a:t>*</a:t>
            </a:r>
            <a:r>
              <a:rPr dirty="0" sz="1850" spc="-365">
                <a:solidFill>
                  <a:srgbClr val="CA622A"/>
                </a:solidFill>
                <a:latin typeface="Consolas"/>
                <a:cs typeface="Consolas"/>
              </a:rPr>
              <a:t> </a:t>
            </a:r>
            <a:r>
              <a:rPr dirty="0" sz="1850" spc="-175">
                <a:latin typeface="Consolas"/>
                <a:cs typeface="Consolas"/>
              </a:rPr>
              <a:t>{0.791.</a:t>
            </a:r>
            <a:r>
              <a:rPr dirty="0" sz="1850" spc="-80">
                <a:latin typeface="Consolas"/>
                <a:cs typeface="Consolas"/>
              </a:rPr>
              <a:t> </a:t>
            </a:r>
            <a:r>
              <a:rPr dirty="0" sz="1850" spc="-90">
                <a:latin typeface="Consolas"/>
                <a:cs typeface="Consolas"/>
              </a:rPr>
              <a:t>0.883,</a:t>
            </a:r>
            <a:endParaRPr sz="1850">
              <a:latin typeface="Consolas"/>
              <a:cs typeface="Consolas"/>
            </a:endParaRPr>
          </a:p>
        </p:txBody>
      </p:sp>
      <p:sp>
        <p:nvSpPr>
          <p:cNvPr id="167" name="object 167"/>
          <p:cNvSpPr txBox="1"/>
          <p:nvPr/>
        </p:nvSpPr>
        <p:spPr>
          <a:xfrm>
            <a:off x="9522107" y="6635044"/>
            <a:ext cx="1532890" cy="5803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Arial"/>
                <a:cs typeface="Arial"/>
              </a:rPr>
              <a:t>[0.</a:t>
            </a:r>
            <a:r>
              <a:rPr dirty="0" sz="1800" spc="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991,</a:t>
            </a:r>
            <a:r>
              <a:rPr dirty="0" sz="1800" spc="3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6.222,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Arial"/>
                <a:cs typeface="Arial"/>
              </a:rPr>
              <a:t>[1.782,</a:t>
            </a:r>
            <a:r>
              <a:rPr dirty="0" sz="1800" spc="150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8.222,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8" name="object 168"/>
          <p:cNvSpPr txBox="1"/>
          <p:nvPr/>
        </p:nvSpPr>
        <p:spPr>
          <a:xfrm>
            <a:off x="11181591" y="6050844"/>
            <a:ext cx="784225" cy="1164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Arial"/>
                <a:cs typeface="Arial"/>
              </a:rPr>
              <a:t>-</a:t>
            </a:r>
            <a:r>
              <a:rPr dirty="0" sz="1800" spc="-10">
                <a:latin typeface="Arial"/>
                <a:cs typeface="Arial"/>
              </a:rPr>
              <a:t>1.447]</a:t>
            </a:r>
            <a:endParaRPr sz="1800">
              <a:latin typeface="Arial"/>
              <a:cs typeface="Arial"/>
            </a:endParaRPr>
          </a:p>
          <a:p>
            <a:pPr marL="104139">
              <a:lnSpc>
                <a:spcPct val="100000"/>
              </a:lnSpc>
              <a:spcBef>
                <a:spcPts val="90"/>
              </a:spcBef>
            </a:pPr>
            <a:r>
              <a:rPr dirty="0" sz="1850" spc="-135">
                <a:latin typeface="Consolas"/>
                <a:cs typeface="Consolas"/>
              </a:rPr>
              <a:t>2.5B1]</a:t>
            </a:r>
            <a:endParaRPr sz="1850">
              <a:latin typeface="Consolas"/>
              <a:cs typeface="Consolas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800">
                <a:latin typeface="Arial"/>
                <a:cs typeface="Arial"/>
              </a:rPr>
              <a:t>-</a:t>
            </a:r>
            <a:r>
              <a:rPr dirty="0" sz="1800" spc="-10">
                <a:latin typeface="Arial"/>
                <a:cs typeface="Arial"/>
              </a:rPr>
              <a:t>1.447]</a:t>
            </a:r>
            <a:endParaRPr sz="1800">
              <a:latin typeface="Arial"/>
              <a:cs typeface="Arial"/>
            </a:endParaRPr>
          </a:p>
          <a:p>
            <a:pPr marL="25400">
              <a:lnSpc>
                <a:spcPct val="100000"/>
              </a:lnSpc>
              <a:spcBef>
                <a:spcPts val="40"/>
              </a:spcBef>
            </a:pPr>
            <a:r>
              <a:rPr dirty="0" sz="1800">
                <a:latin typeface="Arial"/>
                <a:cs typeface="Arial"/>
              </a:rPr>
              <a:t>-</a:t>
            </a:r>
            <a:r>
              <a:rPr dirty="0" sz="1800" spc="-10">
                <a:latin typeface="Arial"/>
                <a:cs typeface="Arial"/>
              </a:rPr>
              <a:t>1.447]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9" name="object 169"/>
          <p:cNvSpPr txBox="1"/>
          <p:nvPr/>
        </p:nvSpPr>
        <p:spPr>
          <a:xfrm>
            <a:off x="9522107" y="7206544"/>
            <a:ext cx="243967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Arial"/>
                <a:cs typeface="Arial"/>
              </a:rPr>
              <a:t>[1.742,</a:t>
            </a:r>
            <a:r>
              <a:rPr dirty="0" sz="1800" spc="55">
                <a:latin typeface="Arial"/>
                <a:cs typeface="Arial"/>
              </a:rPr>
              <a:t>  </a:t>
            </a:r>
            <a:r>
              <a:rPr dirty="0" sz="1800" spc="-275">
                <a:latin typeface="Arial"/>
                <a:cs typeface="Arial"/>
              </a:rPr>
              <a:t>—</a:t>
            </a:r>
            <a:r>
              <a:rPr dirty="0" sz="1800" spc="-70">
                <a:latin typeface="Arial"/>
                <a:cs typeface="Arial"/>
              </a:rPr>
              <a:t>6.883,</a:t>
            </a:r>
            <a:r>
              <a:rPr dirty="0" sz="1800" spc="40">
                <a:latin typeface="Arial"/>
                <a:cs typeface="Arial"/>
              </a:rPr>
              <a:t>  </a:t>
            </a:r>
            <a:r>
              <a:rPr dirty="0" sz="1800" spc="-40">
                <a:latin typeface="Arial"/>
                <a:cs typeface="Arial"/>
              </a:rPr>
              <a:t>2.581</a:t>
            </a:r>
            <a:r>
              <a:rPr dirty="0" sz="1800" spc="-160">
                <a:latin typeface="Arial"/>
                <a:cs typeface="Arial"/>
              </a:rPr>
              <a:t> </a:t>
            </a:r>
            <a:r>
              <a:rPr dirty="0" sz="1800" spc="-50">
                <a:latin typeface="Arial"/>
                <a:cs typeface="Arial"/>
              </a:rPr>
              <a:t>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12416983" y="6245930"/>
            <a:ext cx="4016375" cy="4171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2447290" algn="l"/>
              </a:tabLst>
            </a:pPr>
            <a:r>
              <a:rPr dirty="0" baseline="-30501" sz="3825" spc="-44">
                <a:latin typeface="Arial"/>
                <a:cs typeface="Arial"/>
              </a:rPr>
              <a:t>Context</a:t>
            </a:r>
            <a:r>
              <a:rPr dirty="0" baseline="-30501" sz="3825" spc="-202">
                <a:latin typeface="Arial"/>
                <a:cs typeface="Arial"/>
              </a:rPr>
              <a:t> </a:t>
            </a:r>
            <a:r>
              <a:rPr dirty="0" sz="1700" spc="-430">
                <a:solidFill>
                  <a:srgbClr val="C35924"/>
                </a:solidFill>
                <a:latin typeface="Cambria"/>
                <a:cs typeface="Cambria"/>
              </a:rPr>
              <a:t>—</a:t>
            </a:r>
            <a:r>
              <a:rPr dirty="0" sz="1700">
                <a:solidFill>
                  <a:srgbClr val="C35924"/>
                </a:solidFill>
                <a:latin typeface="Cambria"/>
                <a:cs typeface="Cambria"/>
              </a:rPr>
              <a:t>+</a:t>
            </a:r>
            <a:r>
              <a:rPr dirty="0" sz="1700" spc="270">
                <a:solidFill>
                  <a:srgbClr val="C35924"/>
                </a:solidFill>
                <a:latin typeface="Cambria"/>
                <a:cs typeface="Cambria"/>
              </a:rPr>
              <a:t> </a:t>
            </a:r>
            <a:r>
              <a:rPr dirty="0" sz="1700">
                <a:latin typeface="Cambria"/>
                <a:cs typeface="Cambria"/>
              </a:rPr>
              <a:t>[2</a:t>
            </a:r>
            <a:r>
              <a:rPr dirty="0" sz="1700" spc="-95">
                <a:latin typeface="Cambria"/>
                <a:cs typeface="Cambria"/>
              </a:rPr>
              <a:t> </a:t>
            </a:r>
            <a:r>
              <a:rPr dirty="0" sz="1700" spc="45">
                <a:latin typeface="Cambria"/>
                <a:cs typeface="Cambria"/>
              </a:rPr>
              <a:t>.339,</a:t>
            </a:r>
            <a:r>
              <a:rPr dirty="0" sz="1700">
                <a:latin typeface="Cambria"/>
                <a:cs typeface="Cambria"/>
              </a:rPr>
              <a:t>	</a:t>
            </a:r>
            <a:r>
              <a:rPr dirty="0" sz="1800" spc="-10">
                <a:latin typeface="Arial"/>
                <a:cs typeface="Arial"/>
              </a:rPr>
              <a:t>-</a:t>
            </a:r>
            <a:r>
              <a:rPr dirty="0" sz="1800">
                <a:latin typeface="Arial"/>
                <a:cs typeface="Arial"/>
              </a:rPr>
              <a:t>1.B09,</a:t>
            </a:r>
            <a:r>
              <a:rPr dirty="0" sz="1800" spc="75">
                <a:latin typeface="Arial"/>
                <a:cs typeface="Arial"/>
              </a:rPr>
              <a:t>  </a:t>
            </a:r>
            <a:r>
              <a:rPr dirty="0" sz="1800" spc="-10">
                <a:latin typeface="Arial"/>
                <a:cs typeface="Arial"/>
              </a:rPr>
              <a:t>6.853]</a:t>
            </a:r>
            <a:endParaRPr sz="18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3415215" y="8139641"/>
            <a:ext cx="9095105" cy="80010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marL="25400" marR="5080" indent="-13335">
              <a:lnSpc>
                <a:spcPts val="2850"/>
              </a:lnSpc>
              <a:spcBef>
                <a:spcPts val="525"/>
              </a:spcBef>
            </a:pPr>
            <a:r>
              <a:rPr dirty="0" sz="2700" spc="-114">
                <a:latin typeface="Arial"/>
                <a:cs typeface="Arial"/>
              </a:rPr>
              <a:t>Prompt</a:t>
            </a:r>
            <a:r>
              <a:rPr dirty="0" sz="2700" spc="-75">
                <a:latin typeface="Arial"/>
                <a:cs typeface="Arial"/>
              </a:rPr>
              <a:t> </a:t>
            </a:r>
            <a:r>
              <a:rPr dirty="0" sz="2700" spc="-175">
                <a:latin typeface="Arial"/>
                <a:cs typeface="Arial"/>
              </a:rPr>
              <a:t>Tuning</a:t>
            </a:r>
            <a:r>
              <a:rPr dirty="0" sz="2700" spc="-55">
                <a:latin typeface="Arial"/>
                <a:cs typeface="Arial"/>
              </a:rPr>
              <a:t> </a:t>
            </a:r>
            <a:r>
              <a:rPr dirty="0" sz="2700" spc="-65">
                <a:latin typeface="Arial"/>
                <a:cs typeface="Arial"/>
              </a:rPr>
              <a:t>is</a:t>
            </a:r>
            <a:r>
              <a:rPr dirty="0" sz="2700" spc="-254">
                <a:latin typeface="Arial"/>
                <a:cs typeface="Arial"/>
              </a:rPr>
              <a:t> </a:t>
            </a:r>
            <a:r>
              <a:rPr dirty="0" sz="2700" spc="-95">
                <a:latin typeface="Arial"/>
                <a:cs typeface="Arial"/>
              </a:rPr>
              <a:t>the</a:t>
            </a:r>
            <a:r>
              <a:rPr dirty="0" sz="2700" spc="-90">
                <a:latin typeface="Arial"/>
                <a:cs typeface="Arial"/>
              </a:rPr>
              <a:t> </a:t>
            </a:r>
            <a:r>
              <a:rPr dirty="0" sz="2700" spc="-105">
                <a:latin typeface="Arial"/>
                <a:cs typeface="Arial"/>
              </a:rPr>
              <a:t>systematic</a:t>
            </a:r>
            <a:r>
              <a:rPr dirty="0" sz="2700" spc="-15">
                <a:latin typeface="Arial"/>
                <a:cs typeface="Arial"/>
              </a:rPr>
              <a:t> </a:t>
            </a:r>
            <a:r>
              <a:rPr dirty="0" sz="2700" spc="-90">
                <a:latin typeface="Arial"/>
                <a:cs typeface="Arial"/>
              </a:rPr>
              <a:t>optimization</a:t>
            </a:r>
            <a:r>
              <a:rPr dirty="0" sz="2700" spc="15">
                <a:latin typeface="Arial"/>
                <a:cs typeface="Arial"/>
              </a:rPr>
              <a:t> </a:t>
            </a:r>
            <a:r>
              <a:rPr dirty="0" sz="2700" spc="-20">
                <a:latin typeface="Arial"/>
                <a:cs typeface="Arial"/>
              </a:rPr>
              <a:t>of</a:t>
            </a:r>
            <a:r>
              <a:rPr dirty="0" sz="2700" spc="-114">
                <a:latin typeface="Arial"/>
                <a:cs typeface="Arial"/>
              </a:rPr>
              <a:t> </a:t>
            </a:r>
            <a:r>
              <a:rPr dirty="0" sz="2700" spc="-110">
                <a:latin typeface="Arial"/>
                <a:cs typeface="Arial"/>
              </a:rPr>
              <a:t>inputs.</a:t>
            </a:r>
            <a:r>
              <a:rPr dirty="0" sz="2700" spc="-80">
                <a:latin typeface="Arial"/>
                <a:cs typeface="Arial"/>
              </a:rPr>
              <a:t> </a:t>
            </a:r>
            <a:r>
              <a:rPr dirty="0" sz="2700" spc="-140">
                <a:latin typeface="Arial"/>
                <a:cs typeface="Arial"/>
              </a:rPr>
              <a:t>Instead</a:t>
            </a:r>
            <a:r>
              <a:rPr dirty="0" sz="2700" spc="-30">
                <a:latin typeface="Arial"/>
                <a:cs typeface="Arial"/>
              </a:rPr>
              <a:t> </a:t>
            </a:r>
            <a:r>
              <a:rPr dirty="0" sz="2700" spc="-25">
                <a:latin typeface="Arial"/>
                <a:cs typeface="Arial"/>
              </a:rPr>
              <a:t>of </a:t>
            </a:r>
            <a:r>
              <a:rPr dirty="0" sz="2700" spc="-60">
                <a:latin typeface="Arial"/>
                <a:cs typeface="Arial"/>
              </a:rPr>
              <a:t>words,”Soft</a:t>
            </a:r>
            <a:r>
              <a:rPr dirty="0" sz="2700" spc="-45">
                <a:latin typeface="Arial"/>
                <a:cs typeface="Arial"/>
              </a:rPr>
              <a:t> </a:t>
            </a:r>
            <a:r>
              <a:rPr dirty="0" sz="2700" spc="-105">
                <a:latin typeface="Arial"/>
                <a:cs typeface="Arial"/>
              </a:rPr>
              <a:t>Prompts”</a:t>
            </a:r>
            <a:r>
              <a:rPr dirty="0" sz="2700" spc="-65">
                <a:latin typeface="Arial"/>
                <a:cs typeface="Arial"/>
              </a:rPr>
              <a:t> </a:t>
            </a:r>
            <a:r>
              <a:rPr dirty="0" sz="2700" spc="-140">
                <a:latin typeface="Arial"/>
                <a:cs typeface="Arial"/>
              </a:rPr>
              <a:t>use</a:t>
            </a:r>
            <a:r>
              <a:rPr dirty="0" sz="2700" spc="-225">
                <a:latin typeface="Arial"/>
                <a:cs typeface="Arial"/>
              </a:rPr>
              <a:t> </a:t>
            </a:r>
            <a:r>
              <a:rPr dirty="0" sz="2700" spc="-145">
                <a:latin typeface="Arial"/>
                <a:cs typeface="Arial"/>
              </a:rPr>
              <a:t>learnable</a:t>
            </a:r>
            <a:r>
              <a:rPr dirty="0" sz="2700" spc="40">
                <a:latin typeface="Arial"/>
                <a:cs typeface="Arial"/>
              </a:rPr>
              <a:t> </a:t>
            </a:r>
            <a:r>
              <a:rPr dirty="0" sz="2700" spc="-120">
                <a:latin typeface="Arial"/>
                <a:cs typeface="Arial"/>
              </a:rPr>
              <a:t>vectors</a:t>
            </a:r>
            <a:r>
              <a:rPr dirty="0" sz="2700" spc="-40">
                <a:latin typeface="Arial"/>
                <a:cs typeface="Arial"/>
              </a:rPr>
              <a:t> </a:t>
            </a:r>
            <a:r>
              <a:rPr dirty="0" sz="2700" spc="-105">
                <a:latin typeface="Arial"/>
                <a:cs typeface="Arial"/>
              </a:rPr>
              <a:t>found</a:t>
            </a:r>
            <a:r>
              <a:rPr dirty="0" sz="2700" spc="-120">
                <a:latin typeface="Arial"/>
                <a:cs typeface="Arial"/>
              </a:rPr>
              <a:t> </a:t>
            </a:r>
            <a:r>
              <a:rPr dirty="0" sz="2700" spc="-135">
                <a:latin typeface="Arial"/>
                <a:cs typeface="Arial"/>
              </a:rPr>
              <a:t>during</a:t>
            </a:r>
            <a:r>
              <a:rPr dirty="0" sz="2700" spc="-180">
                <a:latin typeface="Arial"/>
                <a:cs typeface="Arial"/>
              </a:rPr>
              <a:t> </a:t>
            </a:r>
            <a:r>
              <a:rPr dirty="0" sz="2700" spc="-70">
                <a:latin typeface="Arial"/>
                <a:cs typeface="Arial"/>
              </a:rPr>
              <a:t>training.</a:t>
            </a:r>
            <a:endParaRPr sz="2700">
              <a:latin typeface="Arial"/>
              <a:cs typeface="Arial"/>
            </a:endParaRPr>
          </a:p>
        </p:txBody>
      </p:sp>
      <p:sp>
        <p:nvSpPr>
          <p:cNvPr id="172" name="object 172"/>
          <p:cNvSpPr txBox="1"/>
          <p:nvPr/>
        </p:nvSpPr>
        <p:spPr>
          <a:xfrm>
            <a:off x="8690054" y="9204325"/>
            <a:ext cx="9842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">
                <a:solidFill>
                  <a:srgbClr val="3B3B3B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8690054" y="9356725"/>
            <a:ext cx="98425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">
                <a:solidFill>
                  <a:srgbClr val="595959"/>
                </a:solidFill>
                <a:latin typeface="Arial"/>
                <a:cs typeface="Arial"/>
              </a:rPr>
              <a:t>I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4" name="object 174"/>
          <p:cNvSpPr txBox="1"/>
          <p:nvPr/>
        </p:nvSpPr>
        <p:spPr>
          <a:xfrm>
            <a:off x="13979207" y="6626225"/>
            <a:ext cx="243459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>
                <a:latin typeface="Arial"/>
                <a:cs typeface="Arial"/>
              </a:rPr>
              <a:t>[-8.113,</a:t>
            </a:r>
            <a:r>
              <a:rPr dirty="0" sz="1850" spc="80">
                <a:latin typeface="Arial"/>
                <a:cs typeface="Arial"/>
              </a:rPr>
              <a:t>  </a:t>
            </a:r>
            <a:r>
              <a:rPr dirty="0" sz="1850">
                <a:latin typeface="Arial"/>
                <a:cs typeface="Arial"/>
              </a:rPr>
              <a:t>8.</a:t>
            </a:r>
            <a:r>
              <a:rPr dirty="0" sz="1850" spc="-340">
                <a:latin typeface="Arial"/>
                <a:cs typeface="Arial"/>
              </a:rPr>
              <a:t> </a:t>
            </a:r>
            <a:r>
              <a:rPr dirty="0" sz="1850" spc="-30">
                <a:latin typeface="Arial"/>
                <a:cs typeface="Arial"/>
              </a:rPr>
              <a:t>567,</a:t>
            </a:r>
            <a:r>
              <a:rPr dirty="0" sz="1850" spc="20">
                <a:latin typeface="Arial"/>
                <a:cs typeface="Arial"/>
              </a:rPr>
              <a:t>  </a:t>
            </a:r>
            <a:r>
              <a:rPr dirty="0" sz="1850" spc="-10">
                <a:latin typeface="Arial"/>
                <a:cs typeface="Arial"/>
              </a:rPr>
              <a:t>1</a:t>
            </a:r>
            <a:r>
              <a:rPr dirty="0" sz="1850" spc="-10">
                <a:solidFill>
                  <a:srgbClr val="505050"/>
                </a:solidFill>
                <a:latin typeface="Arial"/>
                <a:cs typeface="Arial"/>
              </a:rPr>
              <a:t>.</a:t>
            </a:r>
            <a:r>
              <a:rPr dirty="0" sz="1850" spc="-10">
                <a:latin typeface="Arial"/>
                <a:cs typeface="Arial"/>
              </a:rPr>
              <a:t>882]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5" name="object 175"/>
          <p:cNvSpPr txBox="1"/>
          <p:nvPr/>
        </p:nvSpPr>
        <p:spPr>
          <a:xfrm>
            <a:off x="13926501" y="6896805"/>
            <a:ext cx="2291715" cy="321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50" spc="-310">
                <a:latin typeface="Courier New"/>
                <a:cs typeface="Courier New"/>
              </a:rPr>
              <a:t>[2.339,</a:t>
            </a:r>
            <a:r>
              <a:rPr dirty="0" sz="1950" spc="-160">
                <a:latin typeface="Courier New"/>
                <a:cs typeface="Courier New"/>
              </a:rPr>
              <a:t> </a:t>
            </a:r>
            <a:r>
              <a:rPr dirty="0" sz="1950" spc="-114">
                <a:latin typeface="Courier New"/>
                <a:cs typeface="Courier New"/>
              </a:rPr>
              <a:t>8567,</a:t>
            </a:r>
            <a:r>
              <a:rPr dirty="0" sz="1950" spc="-430">
                <a:latin typeface="Courier New"/>
                <a:cs typeface="Courier New"/>
              </a:rPr>
              <a:t> </a:t>
            </a:r>
            <a:r>
              <a:rPr dirty="0" sz="1950" spc="-20">
                <a:latin typeface="Courier New"/>
                <a:cs typeface="Courier New"/>
              </a:rPr>
              <a:t>8445</a:t>
            </a:r>
            <a:endParaRPr sz="1950">
              <a:latin typeface="Courier New"/>
              <a:cs typeface="Courier New"/>
            </a:endParaRPr>
          </a:p>
        </p:txBody>
      </p:sp>
      <p:sp>
        <p:nvSpPr>
          <p:cNvPr id="176" name="object 176"/>
          <p:cNvSpPr txBox="1"/>
          <p:nvPr/>
        </p:nvSpPr>
        <p:spPr>
          <a:xfrm>
            <a:off x="13617333" y="7197725"/>
            <a:ext cx="279400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74015" algn="l"/>
                <a:tab pos="1359535" algn="l"/>
              </a:tabLst>
            </a:pPr>
            <a:r>
              <a:rPr dirty="0" sz="1850" spc="-50">
                <a:solidFill>
                  <a:srgbClr val="C85921"/>
                </a:solidFill>
                <a:latin typeface="Arial"/>
                <a:cs typeface="Arial"/>
              </a:rPr>
              <a:t>“</a:t>
            </a:r>
            <a:r>
              <a:rPr dirty="0" sz="1850">
                <a:solidFill>
                  <a:srgbClr val="C85921"/>
                </a:solidFill>
                <a:latin typeface="Arial"/>
                <a:cs typeface="Arial"/>
              </a:rPr>
              <a:t>	</a:t>
            </a:r>
            <a:r>
              <a:rPr dirty="0" sz="1850" spc="-190">
                <a:latin typeface="Arial"/>
                <a:cs typeface="Arial"/>
              </a:rPr>
              <a:t>[—</a:t>
            </a:r>
            <a:r>
              <a:rPr dirty="0" sz="1850" spc="-10">
                <a:latin typeface="Arial"/>
                <a:cs typeface="Arial"/>
              </a:rPr>
              <a:t>6.113,</a:t>
            </a:r>
            <a:r>
              <a:rPr dirty="0" sz="1850">
                <a:latin typeface="Arial"/>
                <a:cs typeface="Arial"/>
              </a:rPr>
              <a:t>	6.567,</a:t>
            </a:r>
            <a:r>
              <a:rPr dirty="0" sz="1850" spc="330">
                <a:latin typeface="Arial"/>
                <a:cs typeface="Arial"/>
              </a:rPr>
              <a:t> </a:t>
            </a:r>
            <a:r>
              <a:rPr dirty="0" sz="1850" spc="-55">
                <a:latin typeface="Arial"/>
                <a:cs typeface="Arial"/>
              </a:rPr>
              <a:t>B.</a:t>
            </a:r>
            <a:r>
              <a:rPr dirty="0" sz="1850" spc="-250">
                <a:latin typeface="Arial"/>
                <a:cs typeface="Arial"/>
              </a:rPr>
              <a:t> </a:t>
            </a:r>
            <a:r>
              <a:rPr dirty="0" sz="1850" spc="-65">
                <a:latin typeface="Arial"/>
                <a:cs typeface="Arial"/>
              </a:rPr>
              <a:t>445]</a:t>
            </a:r>
            <a:endParaRPr sz="1850">
              <a:latin typeface="Arial"/>
              <a:cs typeface="Arial"/>
            </a:endParaRPr>
          </a:p>
        </p:txBody>
      </p:sp>
      <p:sp>
        <p:nvSpPr>
          <p:cNvPr id="177" name="object 177"/>
          <p:cNvSpPr txBox="1"/>
          <p:nvPr/>
        </p:nvSpPr>
        <p:spPr>
          <a:xfrm>
            <a:off x="14366799" y="8779227"/>
            <a:ext cx="2524125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50">
                <a:latin typeface="Arial"/>
                <a:cs typeface="Arial"/>
              </a:rPr>
              <a:t>Revision</a:t>
            </a:r>
            <a:r>
              <a:rPr dirty="0" sz="2200" spc="4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05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//</a:t>
            </a:r>
            <a:r>
              <a:rPr dirty="0" sz="2200" spc="125">
                <a:latin typeface="Arial"/>
                <a:cs typeface="Arial"/>
              </a:rPr>
              <a:t> </a:t>
            </a:r>
            <a:r>
              <a:rPr dirty="0" sz="2200" spc="-135">
                <a:latin typeface="Arial"/>
                <a:cs typeface="Arial"/>
              </a:rPr>
              <a:t>Rev.</a:t>
            </a:r>
            <a:r>
              <a:rPr dirty="0" sz="2200" spc="-10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1</a:t>
            </a:r>
            <a:endParaRPr sz="2200">
              <a:latin typeface="Arial"/>
              <a:cs typeface="Arial"/>
            </a:endParaRPr>
          </a:p>
        </p:txBody>
      </p:sp>
      <p:sp>
        <p:nvSpPr>
          <p:cNvPr id="178" name="object 178"/>
          <p:cNvSpPr txBox="1"/>
          <p:nvPr/>
        </p:nvSpPr>
        <p:spPr>
          <a:xfrm>
            <a:off x="16107423" y="9439980"/>
            <a:ext cx="1237615" cy="2266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300">
                <a:latin typeface="Arial"/>
                <a:cs typeface="Arial"/>
              </a:rPr>
              <a:t>G</a:t>
            </a:r>
            <a:r>
              <a:rPr dirty="0" sz="1300" spc="490">
                <a:latin typeface="Arial"/>
                <a:cs typeface="Arial"/>
              </a:rPr>
              <a:t> </a:t>
            </a:r>
            <a:r>
              <a:rPr dirty="0" sz="1300" spc="55">
                <a:latin typeface="Arial"/>
                <a:cs typeface="Arial"/>
              </a:rPr>
              <a:t>NotebooklM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8400" y="3492500"/>
            <a:ext cx="1231900" cy="11938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130300" y="6426200"/>
            <a:ext cx="1270000" cy="1117600"/>
            <a:chOff x="1130300" y="6426200"/>
            <a:chExt cx="1270000" cy="11176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30300" y="6426200"/>
              <a:ext cx="1016000" cy="635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30300" y="7023100"/>
              <a:ext cx="1270000" cy="520700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5800" y="7810500"/>
            <a:ext cx="1727200" cy="11430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68400" y="4978400"/>
            <a:ext cx="1231900" cy="1155700"/>
          </a:xfrm>
          <a:prstGeom prst="rect">
            <a:avLst/>
          </a:prstGeom>
        </p:spPr>
      </p:pic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13647013" y="-495652"/>
            <a:ext cx="2473325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62125" algn="l"/>
              </a:tabLst>
            </a:pPr>
            <a:r>
              <a:rPr dirty="0" sz="7150" spc="-2140">
                <a:solidFill>
                  <a:srgbClr val="838383"/>
                </a:solidFill>
              </a:rPr>
              <a:t>”--</a:t>
            </a:r>
            <a:r>
              <a:rPr dirty="0" sz="7150" spc="1585">
                <a:solidFill>
                  <a:srgbClr val="838383"/>
                </a:solidFill>
              </a:rPr>
              <a:t>”</a:t>
            </a:r>
            <a:r>
              <a:rPr dirty="0" sz="7150" spc="-2140">
                <a:solidFill>
                  <a:srgbClr val="858585"/>
                </a:solidFill>
              </a:rPr>
              <a:t>”</a:t>
            </a:r>
            <a:r>
              <a:rPr dirty="0" sz="7150">
                <a:solidFill>
                  <a:srgbClr val="858585"/>
                </a:solidFill>
              </a:rPr>
              <a:t>	</a:t>
            </a:r>
            <a:r>
              <a:rPr dirty="0" sz="7150" spc="-3210">
                <a:solidFill>
                  <a:srgbClr val="777777"/>
                </a:solidFill>
              </a:rPr>
              <a:t>T</a:t>
            </a:r>
            <a:r>
              <a:rPr dirty="0" sz="7150" spc="1664">
                <a:solidFill>
                  <a:srgbClr val="777777"/>
                </a:solidFill>
              </a:rPr>
              <a:t>-</a:t>
            </a:r>
            <a:r>
              <a:rPr dirty="0" sz="7150" spc="-1780">
                <a:solidFill>
                  <a:srgbClr val="8E8E8E"/>
                </a:solidFill>
              </a:rPr>
              <a:t>.</a:t>
            </a:r>
            <a:endParaRPr sz="7150"/>
          </a:p>
        </p:txBody>
      </p:sp>
      <p:sp>
        <p:nvSpPr>
          <p:cNvPr id="9" name="object 9"/>
          <p:cNvSpPr txBox="1"/>
          <p:nvPr/>
        </p:nvSpPr>
        <p:spPr>
          <a:xfrm>
            <a:off x="792779" y="437797"/>
            <a:ext cx="9132570" cy="1115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150" spc="-445">
                <a:latin typeface="Arial"/>
                <a:cs typeface="Arial"/>
              </a:rPr>
              <a:t>CHALLENGES</a:t>
            </a:r>
            <a:r>
              <a:rPr dirty="0" sz="7150" spc="-5">
                <a:latin typeface="Arial"/>
                <a:cs typeface="Arial"/>
              </a:rPr>
              <a:t> </a:t>
            </a:r>
            <a:r>
              <a:rPr dirty="0" sz="7150" spc="-55">
                <a:latin typeface="Arial"/>
                <a:cs typeface="Arial"/>
              </a:rPr>
              <a:t>&amp;</a:t>
            </a:r>
            <a:r>
              <a:rPr dirty="0" sz="7150" spc="-905">
                <a:latin typeface="Arial"/>
                <a:cs typeface="Arial"/>
              </a:rPr>
              <a:t> </a:t>
            </a:r>
            <a:r>
              <a:rPr dirty="0" sz="7150" spc="-409">
                <a:latin typeface="Arial"/>
                <a:cs typeface="Arial"/>
              </a:rPr>
              <a:t>RISKS</a:t>
            </a:r>
            <a:endParaRPr sz="71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3752" y="1919111"/>
            <a:ext cx="10533380" cy="123317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ts val="5810"/>
              </a:lnSpc>
              <a:spcBef>
                <a:spcPts val="135"/>
              </a:spcBef>
              <a:tabLst>
                <a:tab pos="1924050" algn="l"/>
              </a:tabLst>
            </a:pPr>
            <a:r>
              <a:rPr dirty="0" sz="5100" spc="-25">
                <a:solidFill>
                  <a:srgbClr val="E44907"/>
                </a:solidFill>
                <a:latin typeface="Arial"/>
                <a:cs typeface="Arial"/>
              </a:rPr>
              <a:t>&gt;//</a:t>
            </a:r>
            <a:r>
              <a:rPr dirty="0" sz="5100">
                <a:solidFill>
                  <a:srgbClr val="E44907"/>
                </a:solidFill>
                <a:latin typeface="Arial"/>
                <a:cs typeface="Arial"/>
              </a:rPr>
              <a:t>	</a:t>
            </a:r>
            <a:r>
              <a:rPr dirty="0" sz="5100" spc="-130">
                <a:latin typeface="Arial"/>
                <a:cs typeface="Arial"/>
              </a:rPr>
              <a:t>SENSITIVITY</a:t>
            </a:r>
            <a:endParaRPr sz="5100">
              <a:latin typeface="Arial"/>
              <a:cs typeface="Arial"/>
            </a:endParaRPr>
          </a:p>
          <a:p>
            <a:pPr marL="1918335">
              <a:lnSpc>
                <a:spcPts val="3650"/>
              </a:lnSpc>
            </a:pPr>
            <a:r>
              <a:rPr dirty="0" sz="3300">
                <a:latin typeface="Consolas"/>
                <a:cs typeface="Consolas"/>
              </a:rPr>
              <a:t>Slight</a:t>
            </a:r>
            <a:r>
              <a:rPr dirty="0" sz="3300" spc="-160">
                <a:latin typeface="Consolas"/>
                <a:cs typeface="Consolas"/>
              </a:rPr>
              <a:t> </a:t>
            </a:r>
            <a:r>
              <a:rPr dirty="0" sz="3300">
                <a:latin typeface="Consolas"/>
                <a:cs typeface="Consolas"/>
              </a:rPr>
              <a:t>wording changes</a:t>
            </a:r>
            <a:r>
              <a:rPr dirty="0" sz="3300" spc="-254">
                <a:latin typeface="Consolas"/>
                <a:cs typeface="Consolas"/>
              </a:rPr>
              <a:t> </a:t>
            </a:r>
            <a:r>
              <a:rPr dirty="0" sz="3300">
                <a:latin typeface="Consolas"/>
                <a:cs typeface="Consolas"/>
              </a:rPr>
              <a:t>can</a:t>
            </a:r>
            <a:r>
              <a:rPr dirty="0" sz="3300" spc="-220">
                <a:latin typeface="Consolas"/>
                <a:cs typeface="Consolas"/>
              </a:rPr>
              <a:t> </a:t>
            </a:r>
            <a:r>
              <a:rPr dirty="0" sz="3300" spc="-50">
                <a:latin typeface="Consolas"/>
                <a:cs typeface="Consolas"/>
              </a:rPr>
              <a:t>drastically</a:t>
            </a:r>
            <a:endParaRPr sz="3300">
              <a:latin typeface="Consolas"/>
              <a:cs typeface="Consola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872409" y="2618316"/>
            <a:ext cx="1129665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70">
                <a:latin typeface="Consolas"/>
                <a:cs typeface="Consolas"/>
              </a:rPr>
              <a:t>alter</a:t>
            </a:r>
            <a:endParaRPr sz="330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242658" y="2618316"/>
            <a:ext cx="1791970" cy="5334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00" spc="-75">
                <a:latin typeface="Consolas"/>
                <a:cs typeface="Consolas"/>
              </a:rPr>
              <a:t>results.</a:t>
            </a:r>
            <a:endParaRPr sz="3300">
              <a:latin typeface="Consolas"/>
              <a:cs typeface="Consola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08851" y="3408538"/>
            <a:ext cx="8675370" cy="26695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ts val="5560"/>
              </a:lnSpc>
              <a:spcBef>
                <a:spcPts val="110"/>
              </a:spcBef>
            </a:pPr>
            <a:r>
              <a:rPr dirty="0" sz="4850" spc="155">
                <a:latin typeface="Calibri"/>
                <a:cs typeface="Calibri"/>
              </a:rPr>
              <a:t>HALLUCINATIONS</a:t>
            </a:r>
            <a:endParaRPr sz="4850">
              <a:latin typeface="Calibri"/>
              <a:cs typeface="Calibri"/>
            </a:endParaRPr>
          </a:p>
          <a:p>
            <a:pPr marL="45085">
              <a:lnSpc>
                <a:spcPts val="3700"/>
              </a:lnSpc>
            </a:pPr>
            <a:r>
              <a:rPr dirty="0" sz="3300">
                <a:latin typeface="Consolas"/>
                <a:cs typeface="Consolas"/>
              </a:rPr>
              <a:t>Confidently</a:t>
            </a:r>
            <a:r>
              <a:rPr dirty="0" sz="3300" spc="-110">
                <a:latin typeface="Consolas"/>
                <a:cs typeface="Consolas"/>
              </a:rPr>
              <a:t> </a:t>
            </a:r>
            <a:r>
              <a:rPr dirty="0" sz="3300">
                <a:latin typeface="Consolas"/>
                <a:cs typeface="Consolas"/>
              </a:rPr>
              <a:t>stating</a:t>
            </a:r>
            <a:r>
              <a:rPr dirty="0" sz="3300" spc="-100">
                <a:latin typeface="Consolas"/>
                <a:cs typeface="Consolas"/>
              </a:rPr>
              <a:t> </a:t>
            </a:r>
            <a:r>
              <a:rPr dirty="0" sz="3300">
                <a:latin typeface="Consolas"/>
                <a:cs typeface="Consolas"/>
              </a:rPr>
              <a:t>false</a:t>
            </a:r>
            <a:r>
              <a:rPr dirty="0" sz="3300" spc="-240">
                <a:latin typeface="Consolas"/>
                <a:cs typeface="Consolas"/>
              </a:rPr>
              <a:t> </a:t>
            </a:r>
            <a:r>
              <a:rPr dirty="0" sz="3300" spc="-50">
                <a:latin typeface="Consolas"/>
                <a:cs typeface="Consolas"/>
              </a:rPr>
              <a:t>information.</a:t>
            </a:r>
            <a:endParaRPr sz="3300">
              <a:latin typeface="Consolas"/>
              <a:cs typeface="Consolas"/>
            </a:endParaRPr>
          </a:p>
          <a:p>
            <a:pPr marL="76200">
              <a:lnSpc>
                <a:spcPts val="5510"/>
              </a:lnSpc>
              <a:spcBef>
                <a:spcPts val="2090"/>
              </a:spcBef>
            </a:pPr>
            <a:r>
              <a:rPr dirty="0" sz="4850" spc="459">
                <a:latin typeface="Calibri"/>
                <a:cs typeface="Calibri"/>
              </a:rPr>
              <a:t>BIAS</a:t>
            </a:r>
            <a:r>
              <a:rPr dirty="0" sz="4850" spc="130">
                <a:latin typeface="Calibri"/>
                <a:cs typeface="Calibri"/>
              </a:rPr>
              <a:t>  </a:t>
            </a:r>
            <a:r>
              <a:rPr dirty="0" sz="4850" spc="240">
                <a:latin typeface="Calibri"/>
                <a:cs typeface="Calibri"/>
              </a:rPr>
              <a:t>AHPLIFICATION</a:t>
            </a:r>
            <a:endParaRPr sz="4850">
              <a:latin typeface="Calibri"/>
              <a:cs typeface="Calibri"/>
            </a:endParaRPr>
          </a:p>
          <a:p>
            <a:pPr marL="108585">
              <a:lnSpc>
                <a:spcPts val="3950"/>
              </a:lnSpc>
            </a:pPr>
            <a:r>
              <a:rPr dirty="0" sz="3550" spc="-409">
                <a:latin typeface="Courier New"/>
                <a:cs typeface="Courier New"/>
              </a:rPr>
              <a:t>Reflecting</a:t>
            </a:r>
            <a:r>
              <a:rPr dirty="0" sz="3550" spc="60">
                <a:latin typeface="Courier New"/>
                <a:cs typeface="Courier New"/>
              </a:rPr>
              <a:t> </a:t>
            </a:r>
            <a:r>
              <a:rPr dirty="0" sz="3550" spc="-390">
                <a:latin typeface="Courier New"/>
                <a:cs typeface="Courier New"/>
              </a:rPr>
              <a:t>training</a:t>
            </a:r>
            <a:r>
              <a:rPr dirty="0" sz="3550" spc="-20">
                <a:latin typeface="Courier New"/>
                <a:cs typeface="Courier New"/>
              </a:rPr>
              <a:t> </a:t>
            </a:r>
            <a:r>
              <a:rPr dirty="0" sz="3550" spc="-390">
                <a:latin typeface="Courier New"/>
                <a:cs typeface="Courier New"/>
              </a:rPr>
              <a:t>data</a:t>
            </a:r>
            <a:r>
              <a:rPr dirty="0" sz="3550" spc="-40">
                <a:latin typeface="Courier New"/>
                <a:cs typeface="Courier New"/>
              </a:rPr>
              <a:t> </a:t>
            </a:r>
            <a:r>
              <a:rPr dirty="0" sz="3550" spc="-400">
                <a:latin typeface="Courier New"/>
                <a:cs typeface="Courier New"/>
              </a:rPr>
              <a:t>prejudices.</a:t>
            </a:r>
            <a:endParaRPr sz="3550">
              <a:latin typeface="Courier New"/>
              <a:cs typeface="Courier New"/>
            </a:endParaRPr>
          </a:p>
        </p:txBody>
      </p:sp>
      <p:graphicFrame>
        <p:nvGraphicFramePr>
          <p:cNvPr id="14" name="object 14"/>
          <p:cNvGraphicFramePr>
            <a:graphicFrameLocks noGrp="1"/>
          </p:cNvGraphicFramePr>
          <p:nvPr/>
        </p:nvGraphicFramePr>
        <p:xfrm>
          <a:off x="3089179" y="6457685"/>
          <a:ext cx="10887710" cy="10763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93925"/>
                <a:gridCol w="3142615"/>
                <a:gridCol w="890905"/>
                <a:gridCol w="1571625"/>
                <a:gridCol w="3012439"/>
              </a:tblGrid>
              <a:tr h="643890">
                <a:tc>
                  <a:txBody>
                    <a:bodyPr/>
                    <a:lstStyle/>
                    <a:p>
                      <a:pPr marL="31750">
                        <a:lnSpc>
                          <a:spcPts val="4810"/>
                        </a:lnSpc>
                      </a:pPr>
                      <a:r>
                        <a:rPr dirty="0" sz="5050" spc="-70">
                          <a:latin typeface="Calibri"/>
                          <a:cs typeface="Calibri"/>
                        </a:rPr>
                        <a:t>PROHPT</a:t>
                      </a:r>
                      <a:endParaRPr sz="5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74625">
                        <a:lnSpc>
                          <a:spcPts val="4810"/>
                        </a:lnSpc>
                      </a:pPr>
                      <a:r>
                        <a:rPr dirty="0" sz="5050" spc="-10">
                          <a:latin typeface="Calibri"/>
                          <a:cs typeface="Calibri"/>
                        </a:rPr>
                        <a:t>LEAKAGE</a:t>
                      </a:r>
                      <a:endParaRPr sz="5050">
                        <a:latin typeface="Calibri"/>
                        <a:cs typeface="Calibri"/>
                      </a:endParaRPr>
                    </a:p>
                  </a:txBody>
                  <a:tcPr marL="0" marR="0" marB="0" marT="0"/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9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432434">
                <a:tc>
                  <a:txBody>
                    <a:bodyPr/>
                    <a:lstStyle/>
                    <a:p>
                      <a:pPr marL="41910">
                        <a:lnSpc>
                          <a:spcPts val="3210"/>
                        </a:lnSpc>
                      </a:pPr>
                      <a:r>
                        <a:rPr dirty="0" sz="3400">
                          <a:latin typeface="Consolas"/>
                          <a:cs typeface="Consolas"/>
                        </a:rPr>
                        <a:t>The</a:t>
                      </a:r>
                      <a:r>
                        <a:rPr dirty="0" sz="3400" spc="-35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400" spc="-10">
                          <a:latin typeface="Consolas"/>
                          <a:cs typeface="Consolas"/>
                        </a:rPr>
                        <a:t>model</a:t>
                      </a:r>
                      <a:endParaRPr sz="34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22555">
                        <a:lnSpc>
                          <a:spcPts val="3210"/>
                        </a:lnSpc>
                      </a:pPr>
                      <a:r>
                        <a:rPr dirty="0" sz="3400" spc="-114">
                          <a:latin typeface="Consolas"/>
                          <a:cs typeface="Consolas"/>
                        </a:rPr>
                        <a:t>revealing</a:t>
                      </a:r>
                      <a:r>
                        <a:rPr dirty="0" sz="3400" spc="-320">
                          <a:latin typeface="Consolas"/>
                          <a:cs typeface="Consolas"/>
                        </a:rPr>
                        <a:t> </a:t>
                      </a:r>
                      <a:r>
                        <a:rPr dirty="0" sz="3400" spc="-25">
                          <a:latin typeface="Consolas"/>
                          <a:cs typeface="Consolas"/>
                        </a:rPr>
                        <a:t>its</a:t>
                      </a:r>
                      <a:endParaRPr sz="34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ts val="3210"/>
                        </a:lnSpc>
                      </a:pPr>
                      <a:r>
                        <a:rPr dirty="0" sz="3400" spc="-25">
                          <a:latin typeface="Consolas"/>
                          <a:cs typeface="Consolas"/>
                        </a:rPr>
                        <a:t>own</a:t>
                      </a:r>
                      <a:endParaRPr sz="34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6680">
                        <a:lnSpc>
                          <a:spcPts val="3210"/>
                        </a:lnSpc>
                      </a:pPr>
                      <a:r>
                        <a:rPr dirty="0" sz="3400" spc="-10">
                          <a:latin typeface="Consolas"/>
                          <a:cs typeface="Consolas"/>
                        </a:rPr>
                        <a:t>system</a:t>
                      </a:r>
                      <a:endParaRPr sz="34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1760">
                        <a:lnSpc>
                          <a:spcPts val="3210"/>
                        </a:lnSpc>
                      </a:pPr>
                      <a:r>
                        <a:rPr dirty="0" sz="3400" spc="-130">
                          <a:latin typeface="Consolas"/>
                          <a:cs typeface="Consolas"/>
                        </a:rPr>
                        <a:t>instructions.</a:t>
                      </a:r>
                      <a:endParaRPr sz="3400">
                        <a:latin typeface="Consolas"/>
                        <a:cs typeface="Consolas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15" name="object 15"/>
          <p:cNvSpPr txBox="1"/>
          <p:nvPr/>
        </p:nvSpPr>
        <p:spPr>
          <a:xfrm>
            <a:off x="3126005" y="7754408"/>
            <a:ext cx="9173845" cy="120967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7145">
              <a:lnSpc>
                <a:spcPts val="5505"/>
              </a:lnSpc>
              <a:spcBef>
                <a:spcPts val="90"/>
              </a:spcBef>
            </a:pPr>
            <a:r>
              <a:rPr dirty="0" sz="4800" spc="-570">
                <a:latin typeface="Arial"/>
                <a:cs typeface="Arial"/>
              </a:rPr>
              <a:t>LACK</a:t>
            </a:r>
            <a:r>
              <a:rPr dirty="0" sz="4800" spc="-65">
                <a:latin typeface="Arial"/>
                <a:cs typeface="Arial"/>
              </a:rPr>
              <a:t>  </a:t>
            </a:r>
            <a:r>
              <a:rPr dirty="0" sz="4800" spc="-740">
                <a:latin typeface="Arial"/>
                <a:cs typeface="Arial"/>
              </a:rPr>
              <a:t>OF</a:t>
            </a:r>
            <a:r>
              <a:rPr dirty="0" sz="4800" spc="-30">
                <a:latin typeface="Arial"/>
                <a:cs typeface="Arial"/>
              </a:rPr>
              <a:t>  </a:t>
            </a:r>
            <a:r>
              <a:rPr dirty="0" sz="4800" spc="-780">
                <a:latin typeface="Arial"/>
                <a:cs typeface="Arial"/>
              </a:rPr>
              <a:t>ROBUSTNESS</a:t>
            </a:r>
            <a:endParaRPr sz="4800">
              <a:latin typeface="Arial"/>
              <a:cs typeface="Arial"/>
            </a:endParaRPr>
          </a:p>
          <a:p>
            <a:pPr marL="12700">
              <a:lnSpc>
                <a:spcPts val="3825"/>
              </a:lnSpc>
              <a:tabLst>
                <a:tab pos="2937510" algn="l"/>
                <a:tab pos="5642610" algn="l"/>
                <a:tab pos="7219950" algn="l"/>
              </a:tabLst>
            </a:pPr>
            <a:r>
              <a:rPr dirty="0" sz="3400" spc="320">
                <a:latin typeface="Calibri"/>
                <a:cs typeface="Calibri"/>
              </a:rPr>
              <a:t>Inconsistent</a:t>
            </a:r>
            <a:r>
              <a:rPr dirty="0" sz="3400">
                <a:latin typeface="Calibri"/>
                <a:cs typeface="Calibri"/>
              </a:rPr>
              <a:t>	</a:t>
            </a:r>
            <a:r>
              <a:rPr dirty="0" sz="3400" spc="95">
                <a:latin typeface="Calibri"/>
                <a:cs typeface="Calibri"/>
              </a:rPr>
              <a:t>performance</a:t>
            </a:r>
            <a:r>
              <a:rPr dirty="0" sz="3400">
                <a:latin typeface="Calibri"/>
                <a:cs typeface="Calibri"/>
              </a:rPr>
              <a:t>	</a:t>
            </a:r>
            <a:r>
              <a:rPr dirty="0" sz="3400" spc="275">
                <a:latin typeface="Calibri"/>
                <a:cs typeface="Calibri"/>
              </a:rPr>
              <a:t>across</a:t>
            </a:r>
            <a:r>
              <a:rPr dirty="0" sz="3400">
                <a:latin typeface="Calibri"/>
                <a:cs typeface="Calibri"/>
              </a:rPr>
              <a:t>	</a:t>
            </a:r>
            <a:r>
              <a:rPr dirty="0" sz="3400" spc="320">
                <a:latin typeface="Calibri"/>
                <a:cs typeface="Calibri"/>
              </a:rPr>
              <a:t>sessions.</a:t>
            </a:r>
            <a:endParaRPr sz="3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4365414" y="8761589"/>
            <a:ext cx="2523490" cy="3854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350" spc="-135">
                <a:latin typeface="Arial"/>
                <a:cs typeface="Arial"/>
              </a:rPr>
              <a:t>Revision</a:t>
            </a:r>
            <a:r>
              <a:rPr dirty="0" sz="2350" spc="-25">
                <a:latin typeface="Arial"/>
                <a:cs typeface="Arial"/>
              </a:rPr>
              <a:t> </a:t>
            </a:r>
            <a:r>
              <a:rPr dirty="0" sz="2350" spc="-30">
                <a:latin typeface="Arial"/>
                <a:cs typeface="Arial"/>
              </a:rPr>
              <a:t>06</a:t>
            </a:r>
            <a:r>
              <a:rPr dirty="0" sz="2350" spc="-105">
                <a:latin typeface="Arial"/>
                <a:cs typeface="Arial"/>
              </a:rPr>
              <a:t> </a:t>
            </a:r>
            <a:r>
              <a:rPr dirty="0" sz="2350">
                <a:latin typeface="Arial"/>
                <a:cs typeface="Arial"/>
              </a:rPr>
              <a:t>//</a:t>
            </a:r>
            <a:r>
              <a:rPr dirty="0" sz="2350" spc="90">
                <a:latin typeface="Arial"/>
                <a:cs typeface="Arial"/>
              </a:rPr>
              <a:t> </a:t>
            </a:r>
            <a:r>
              <a:rPr dirty="0" sz="2350" spc="-215">
                <a:latin typeface="Arial"/>
                <a:cs typeface="Arial"/>
              </a:rPr>
              <a:t>Rev.</a:t>
            </a:r>
            <a:r>
              <a:rPr dirty="0" sz="2350" spc="-50">
                <a:latin typeface="Arial"/>
                <a:cs typeface="Arial"/>
              </a:rPr>
              <a:t> 1</a:t>
            </a:r>
            <a:endParaRPr sz="23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106012" y="9413522"/>
            <a:ext cx="1230630" cy="2584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00">
                <a:latin typeface="Arial"/>
                <a:cs typeface="Arial"/>
              </a:rPr>
              <a:t>G</a:t>
            </a:r>
            <a:r>
              <a:rPr dirty="0" sz="1500" spc="270">
                <a:latin typeface="Arial"/>
                <a:cs typeface="Arial"/>
              </a:rPr>
              <a:t> </a:t>
            </a:r>
            <a:r>
              <a:rPr dirty="0" sz="1500" spc="-90">
                <a:latin typeface="Arial"/>
                <a:cs typeface="Arial"/>
              </a:rPr>
              <a:t>NotebookLM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" y="215900"/>
            <a:ext cx="17094200" cy="941070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-509"/>
              <a:t>BUSINESS</a:t>
            </a:r>
            <a:r>
              <a:rPr dirty="0" spc="-145"/>
              <a:t> </a:t>
            </a:r>
            <a:r>
              <a:rPr dirty="0" spc="-55"/>
              <a:t>&amp;</a:t>
            </a:r>
            <a:r>
              <a:rPr dirty="0" spc="-844"/>
              <a:t> </a:t>
            </a:r>
            <a:r>
              <a:rPr dirty="0" spc="-480"/>
              <a:t>ACADEMIC</a:t>
            </a:r>
            <a:r>
              <a:rPr dirty="0" spc="-380"/>
              <a:t> </a:t>
            </a:r>
            <a:r>
              <a:rPr dirty="0" spc="-475"/>
              <a:t>IMPACT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33318" y="4974166"/>
            <a:ext cx="1258570" cy="6515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7780">
              <a:lnSpc>
                <a:spcPts val="2355"/>
              </a:lnSpc>
              <a:spcBef>
                <a:spcPts val="130"/>
              </a:spcBef>
            </a:pPr>
            <a:r>
              <a:rPr dirty="0" sz="2050" spc="-30">
                <a:latin typeface="Arial"/>
                <a:cs typeface="Arial"/>
              </a:rPr>
              <a:t>DECISION</a:t>
            </a:r>
            <a:endParaRPr sz="2050">
              <a:latin typeface="Arial"/>
              <a:cs typeface="Arial"/>
            </a:endParaRPr>
          </a:p>
          <a:p>
            <a:pPr marL="12700">
              <a:lnSpc>
                <a:spcPts val="2535"/>
              </a:lnSpc>
            </a:pPr>
            <a:r>
              <a:rPr dirty="0" sz="2200" spc="-130">
                <a:latin typeface="Arial"/>
                <a:cs typeface="Arial"/>
              </a:rPr>
              <a:t>SUPPORT</a:t>
            </a:r>
            <a:endParaRPr sz="2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16137" y="5905147"/>
            <a:ext cx="1276985" cy="6438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0485">
              <a:lnSpc>
                <a:spcPts val="2490"/>
              </a:lnSpc>
              <a:spcBef>
                <a:spcPts val="100"/>
              </a:spcBef>
            </a:pPr>
            <a:r>
              <a:rPr dirty="0" sz="2150" spc="-10">
                <a:latin typeface="Consolas"/>
                <a:cs typeface="Consolas"/>
              </a:rPr>
              <a:t>Reliable</a:t>
            </a:r>
            <a:endParaRPr sz="2150">
              <a:latin typeface="Consolas"/>
              <a:cs typeface="Consolas"/>
            </a:endParaRPr>
          </a:p>
          <a:p>
            <a:pPr marL="12700">
              <a:lnSpc>
                <a:spcPts val="2370"/>
              </a:lnSpc>
            </a:pPr>
            <a:r>
              <a:rPr dirty="0" sz="2050">
                <a:latin typeface="Arial"/>
                <a:cs typeface="Arial"/>
              </a:rPr>
              <a:t>ins</a:t>
            </a:r>
            <a:r>
              <a:rPr dirty="0" sz="2050" spc="190">
                <a:latin typeface="Arial"/>
                <a:cs typeface="Arial"/>
              </a:rPr>
              <a:t> </a:t>
            </a:r>
            <a:r>
              <a:rPr dirty="0" sz="2050">
                <a:solidFill>
                  <a:srgbClr val="0C0C0C"/>
                </a:solidFill>
                <a:latin typeface="Arial"/>
                <a:cs typeface="Arial"/>
              </a:rPr>
              <a:t>i</a:t>
            </a:r>
            <a:r>
              <a:rPr dirty="0" sz="2050" spc="9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050">
                <a:latin typeface="Arial"/>
                <a:cs typeface="Arial"/>
              </a:rPr>
              <a:t>ght</a:t>
            </a:r>
            <a:r>
              <a:rPr dirty="0" sz="2050" spc="114">
                <a:latin typeface="Arial"/>
                <a:cs typeface="Arial"/>
              </a:rPr>
              <a:t> </a:t>
            </a:r>
            <a:r>
              <a:rPr dirty="0" sz="2050" spc="-130">
                <a:latin typeface="Arial"/>
                <a:cs typeface="Arial"/>
              </a:rPr>
              <a:t>s</a:t>
            </a:r>
            <a:r>
              <a:rPr dirty="0" sz="2050" spc="-204">
                <a:latin typeface="Arial"/>
                <a:cs typeface="Arial"/>
              </a:rPr>
              <a:t> </a:t>
            </a:r>
            <a:r>
              <a:rPr dirty="0" sz="2050" spc="-50">
                <a:latin typeface="Arial"/>
                <a:cs typeface="Arial"/>
              </a:rPr>
              <a:t>.</a:t>
            </a:r>
            <a:endParaRPr sz="20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514552" y="2193925"/>
            <a:ext cx="2398395" cy="1073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6850" spc="-785">
                <a:latin typeface="Arial"/>
                <a:cs typeface="Arial"/>
              </a:rPr>
              <a:t>VALUE</a:t>
            </a:r>
            <a:endParaRPr sz="68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05931" y="5108927"/>
            <a:ext cx="171831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135">
                <a:latin typeface="Arial"/>
                <a:cs typeface="Arial"/>
              </a:rPr>
              <a:t>AUTOMATION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031795" y="5896327"/>
            <a:ext cx="1439545" cy="65659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 marR="5080" indent="69850">
              <a:lnSpc>
                <a:spcPts val="2300"/>
              </a:lnSpc>
              <a:spcBef>
                <a:spcPts val="480"/>
              </a:spcBef>
            </a:pPr>
            <a:r>
              <a:rPr dirty="0" sz="2200" spc="-10">
                <a:latin typeface="Arial"/>
                <a:cs typeface="Arial"/>
              </a:rPr>
              <a:t>Text/Code </a:t>
            </a:r>
            <a:r>
              <a:rPr dirty="0" sz="2200" spc="-55">
                <a:latin typeface="Arial"/>
                <a:cs typeface="Arial"/>
              </a:rPr>
              <a:t>work</a:t>
            </a:r>
            <a:r>
              <a:rPr dirty="0" sz="2200" spc="-315">
                <a:latin typeface="Arial"/>
                <a:cs typeface="Arial"/>
              </a:rPr>
              <a:t> </a:t>
            </a:r>
            <a:r>
              <a:rPr dirty="0" sz="2200" spc="60">
                <a:solidFill>
                  <a:srgbClr val="0C0C0C"/>
                </a:solidFill>
                <a:latin typeface="Arial"/>
                <a:cs typeface="Arial"/>
              </a:rPr>
              <a:t>f</a:t>
            </a:r>
            <a:r>
              <a:rPr dirty="0" sz="2200" spc="-405">
                <a:solidFill>
                  <a:srgbClr val="0C0C0C"/>
                </a:solidFill>
                <a:latin typeface="Arial"/>
                <a:cs typeface="Arial"/>
              </a:rPr>
              <a:t> </a:t>
            </a:r>
            <a:r>
              <a:rPr dirty="0" sz="2200" spc="-185">
                <a:latin typeface="Arial"/>
                <a:cs typeface="Arial"/>
              </a:rPr>
              <a:t>1ows</a:t>
            </a:r>
            <a:r>
              <a:rPr dirty="0" sz="2200" spc="-110">
                <a:latin typeface="Arial"/>
                <a:cs typeface="Arial"/>
              </a:rPr>
              <a:t> </a:t>
            </a:r>
            <a:r>
              <a:rPr dirty="0" sz="2200" spc="-50">
                <a:latin typeface="Arial"/>
                <a:cs typeface="Arial"/>
              </a:rPr>
              <a:t>.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881129" y="4956527"/>
            <a:ext cx="1605280" cy="173418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algn="ctr" marL="9525">
              <a:lnSpc>
                <a:spcPts val="2595"/>
              </a:lnSpc>
              <a:spcBef>
                <a:spcPts val="120"/>
              </a:spcBef>
            </a:pPr>
            <a:r>
              <a:rPr dirty="0" sz="2200" spc="-10">
                <a:latin typeface="Arial"/>
                <a:cs typeface="Arial"/>
              </a:rPr>
              <a:t>DOMAIN</a:t>
            </a:r>
            <a:endParaRPr sz="2200">
              <a:latin typeface="Arial"/>
              <a:cs typeface="Arial"/>
            </a:endParaRPr>
          </a:p>
          <a:p>
            <a:pPr algn="ctr" marR="7620">
              <a:lnSpc>
                <a:spcPts val="2415"/>
              </a:lnSpc>
            </a:pPr>
            <a:r>
              <a:rPr dirty="0" sz="2050" spc="-20">
                <a:latin typeface="Arial"/>
                <a:cs typeface="Arial"/>
              </a:rPr>
              <a:t>SPECIFICITY</a:t>
            </a:r>
            <a:endParaRPr sz="2050">
              <a:latin typeface="Arial"/>
              <a:cs typeface="Arial"/>
            </a:endParaRPr>
          </a:p>
          <a:p>
            <a:pPr algn="ctr" marL="22860" marR="5080" indent="-17780">
              <a:lnSpc>
                <a:spcPts val="2250"/>
              </a:lnSpc>
              <a:spcBef>
                <a:spcPts val="1689"/>
              </a:spcBef>
            </a:pPr>
            <a:r>
              <a:rPr dirty="0" sz="2150" spc="-10">
                <a:latin typeface="Consolas"/>
                <a:cs typeface="Consolas"/>
              </a:rPr>
              <a:t>Expertise without </a:t>
            </a:r>
            <a:r>
              <a:rPr dirty="0" sz="2150" spc="-75">
                <a:latin typeface="Consolas"/>
                <a:cs typeface="Consolas"/>
              </a:rPr>
              <a:t>retraining.</a:t>
            </a:r>
            <a:endParaRPr sz="2150">
              <a:latin typeface="Consolas"/>
              <a:cs typeface="Consola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83446" y="8957027"/>
            <a:ext cx="12800330" cy="36449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2200" spc="-175">
                <a:latin typeface="Courier New"/>
                <a:cs typeface="Courier New"/>
              </a:rPr>
              <a:t>Prompt</a:t>
            </a:r>
            <a:r>
              <a:rPr dirty="0" sz="2200" spc="-160">
                <a:latin typeface="Courier New"/>
                <a:cs typeface="Courier New"/>
              </a:rPr>
              <a:t> </a:t>
            </a:r>
            <a:r>
              <a:rPr dirty="0" sz="2200" spc="-165">
                <a:latin typeface="Courier New"/>
                <a:cs typeface="Courier New"/>
              </a:rPr>
              <a:t>engineering transforms </a:t>
            </a:r>
            <a:r>
              <a:rPr dirty="0" sz="2200" spc="-195">
                <a:latin typeface="Courier New"/>
                <a:cs typeface="Courier New"/>
              </a:rPr>
              <a:t>AI</a:t>
            </a:r>
            <a:r>
              <a:rPr dirty="0" sz="2200" spc="-225">
                <a:latin typeface="Courier New"/>
                <a:cs typeface="Courier New"/>
              </a:rPr>
              <a:t> </a:t>
            </a:r>
            <a:r>
              <a:rPr dirty="0" sz="2200" spc="-160">
                <a:latin typeface="Courier New"/>
                <a:cs typeface="Courier New"/>
              </a:rPr>
              <a:t>from</a:t>
            </a:r>
            <a:r>
              <a:rPr dirty="0" sz="2200" spc="-170">
                <a:latin typeface="Courier New"/>
                <a:cs typeface="Courier New"/>
              </a:rPr>
              <a:t> </a:t>
            </a:r>
            <a:r>
              <a:rPr dirty="0" sz="2200">
                <a:latin typeface="Courier New"/>
                <a:cs typeface="Courier New"/>
              </a:rPr>
              <a:t>a</a:t>
            </a:r>
            <a:r>
              <a:rPr dirty="0" sz="2200" spc="-170">
                <a:latin typeface="Courier New"/>
                <a:cs typeface="Courier New"/>
              </a:rPr>
              <a:t> </a:t>
            </a:r>
            <a:r>
              <a:rPr dirty="0" sz="2200" spc="-190">
                <a:latin typeface="Courier New"/>
                <a:cs typeface="Courier New"/>
              </a:rPr>
              <a:t>novelty</a:t>
            </a:r>
            <a:r>
              <a:rPr dirty="0" sz="2200" spc="-95">
                <a:latin typeface="Courier New"/>
                <a:cs typeface="Courier New"/>
              </a:rPr>
              <a:t> </a:t>
            </a:r>
            <a:r>
              <a:rPr dirty="0" sz="2200" spc="-114">
                <a:latin typeface="Courier New"/>
                <a:cs typeface="Courier New"/>
              </a:rPr>
              <a:t>into</a:t>
            </a:r>
            <a:r>
              <a:rPr dirty="0" sz="2200" spc="-190">
                <a:latin typeface="Courier New"/>
                <a:cs typeface="Courier New"/>
              </a:rPr>
              <a:t> </a:t>
            </a:r>
            <a:r>
              <a:rPr dirty="0" sz="2200" spc="-170">
                <a:latin typeface="Courier New"/>
                <a:cs typeface="Courier New"/>
              </a:rPr>
              <a:t>reliable</a:t>
            </a:r>
            <a:r>
              <a:rPr dirty="0" sz="2200" spc="-10">
                <a:latin typeface="Courier New"/>
                <a:cs typeface="Courier New"/>
              </a:rPr>
              <a:t> </a:t>
            </a:r>
            <a:r>
              <a:rPr dirty="0" sz="2200" spc="-195">
                <a:latin typeface="Courier New"/>
                <a:cs typeface="Courier New"/>
              </a:rPr>
              <a:t>business</a:t>
            </a:r>
            <a:r>
              <a:rPr dirty="0" sz="2200" spc="-155">
                <a:latin typeface="Courier New"/>
                <a:cs typeface="Courier New"/>
              </a:rPr>
              <a:t> </a:t>
            </a:r>
            <a:r>
              <a:rPr dirty="0" sz="2200" spc="-110">
                <a:latin typeface="Courier New"/>
                <a:cs typeface="Courier New"/>
              </a:rPr>
              <a:t>infrastructure.</a:t>
            </a:r>
            <a:endParaRPr sz="22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856715" y="5082469"/>
            <a:ext cx="1635125" cy="3962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400" spc="-295">
                <a:latin typeface="Arial"/>
                <a:cs typeface="Arial"/>
              </a:rPr>
              <a:t>EXPERIENCE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023238" y="5905147"/>
            <a:ext cx="1322705" cy="645795"/>
          </a:xfrm>
          <a:prstGeom prst="rect">
            <a:avLst/>
          </a:prstGeom>
        </p:spPr>
        <p:txBody>
          <a:bodyPr wrap="square" lIns="0" tIns="52069" rIns="0" bIns="0" rtlCol="0" vert="horz">
            <a:spAutoFit/>
          </a:bodyPr>
          <a:lstStyle/>
          <a:p>
            <a:pPr marL="12700" marR="5080" indent="71755">
              <a:lnSpc>
                <a:spcPts val="2300"/>
              </a:lnSpc>
              <a:spcBef>
                <a:spcPts val="409"/>
              </a:spcBef>
            </a:pPr>
            <a:r>
              <a:rPr dirty="0" sz="2150" spc="-10">
                <a:latin typeface="Consolas"/>
                <a:cs typeface="Consolas"/>
              </a:rPr>
              <a:t>Enhanced </a:t>
            </a:r>
            <a:r>
              <a:rPr dirty="0" sz="2150" spc="-65">
                <a:latin typeface="Consolas"/>
                <a:cs typeface="Consolas"/>
              </a:rPr>
              <a:t>learning.</a:t>
            </a:r>
            <a:endParaRPr sz="2150">
              <a:latin typeface="Consolas"/>
              <a:cs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7000" y="101600"/>
            <a:ext cx="17221200" cy="9525000"/>
            <a:chOff x="127000" y="101600"/>
            <a:chExt cx="17221200" cy="9525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000" y="101600"/>
              <a:ext cx="17221200" cy="9525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665200" y="2247900"/>
              <a:ext cx="1092200" cy="6604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665200" y="2247900"/>
              <a:ext cx="1092200" cy="66040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831219" y="393699"/>
            <a:ext cx="6420485" cy="1168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391410" algn="l"/>
                <a:tab pos="4752340" algn="l"/>
              </a:tabLst>
            </a:pPr>
            <a:r>
              <a:rPr dirty="0" sz="7500" spc="-25">
                <a:latin typeface="Calibri"/>
                <a:cs typeface="Calibri"/>
              </a:rPr>
              <a:t>TH</a:t>
            </a:r>
            <a:r>
              <a:rPr dirty="0" sz="7500">
                <a:latin typeface="Calibri"/>
                <a:cs typeface="Calibri"/>
              </a:rPr>
              <a:t>	</a:t>
            </a:r>
            <a:r>
              <a:rPr dirty="0" sz="7500" spc="325">
                <a:latin typeface="Calibri"/>
                <a:cs typeface="Calibri"/>
              </a:rPr>
              <a:t>UTU</a:t>
            </a:r>
            <a:r>
              <a:rPr dirty="0" sz="7500">
                <a:latin typeface="Calibri"/>
                <a:cs typeface="Calibri"/>
              </a:rPr>
              <a:t>	</a:t>
            </a:r>
            <a:r>
              <a:rPr dirty="0" sz="7500" spc="250">
                <a:latin typeface="Calibri"/>
                <a:cs typeface="Calibri"/>
              </a:rPr>
              <a:t>EOF</a:t>
            </a:r>
            <a:endParaRPr sz="75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133098" y="2108552"/>
            <a:ext cx="2159000" cy="831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>
              <a:lnSpc>
                <a:spcPts val="3110"/>
              </a:lnSpc>
              <a:spcBef>
                <a:spcPts val="95"/>
              </a:spcBef>
            </a:pPr>
            <a:r>
              <a:rPr dirty="0" sz="2850" spc="-10">
                <a:latin typeface="Arial"/>
                <a:cs typeface="Arial"/>
              </a:rPr>
              <a:t>MANUAL</a:t>
            </a:r>
            <a:endParaRPr sz="2850">
              <a:latin typeface="Arial"/>
              <a:cs typeface="Arial"/>
            </a:endParaRPr>
          </a:p>
          <a:p>
            <a:pPr marL="12700">
              <a:lnSpc>
                <a:spcPts val="3229"/>
              </a:lnSpc>
            </a:pPr>
            <a:r>
              <a:rPr dirty="0" sz="2950" spc="-120">
                <a:latin typeface="Arial"/>
                <a:cs typeface="Arial"/>
              </a:rPr>
              <a:t>PROMPTING</a:t>
            </a:r>
            <a:endParaRPr sz="295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895604" y="393699"/>
            <a:ext cx="4073525" cy="2698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0" spc="505">
                <a:latin typeface="Calibri"/>
                <a:cs typeface="Calibri"/>
              </a:rPr>
              <a:t>NTERACT</a:t>
            </a:r>
            <a:endParaRPr sz="7500">
              <a:latin typeface="Calibri"/>
              <a:cs typeface="Calibri"/>
            </a:endParaRPr>
          </a:p>
          <a:p>
            <a:pPr marL="149860" marR="1718945" indent="6350">
              <a:lnSpc>
                <a:spcPct val="79300"/>
              </a:lnSpc>
              <a:spcBef>
                <a:spcPts val="3379"/>
              </a:spcBef>
            </a:pPr>
            <a:r>
              <a:rPr dirty="0" sz="2950" spc="-150">
                <a:latin typeface="Arial"/>
                <a:cs typeface="Arial"/>
              </a:rPr>
              <a:t>AUTOMATED </a:t>
            </a:r>
            <a:r>
              <a:rPr dirty="0" sz="3200" spc="-375">
                <a:latin typeface="Arial"/>
                <a:cs typeface="Arial"/>
              </a:rPr>
              <a:t>DISCOVERY </a:t>
            </a:r>
            <a:r>
              <a:rPr dirty="0" sz="2950" spc="-25">
                <a:latin typeface="Arial"/>
                <a:cs typeface="Arial"/>
              </a:rPr>
              <a:t>&amp;</a:t>
            </a:r>
            <a:r>
              <a:rPr dirty="0" sz="2950" spc="-260">
                <a:latin typeface="Arial"/>
                <a:cs typeface="Arial"/>
              </a:rPr>
              <a:t> </a:t>
            </a:r>
            <a:r>
              <a:rPr dirty="0" sz="2950" spc="-80">
                <a:latin typeface="Arial"/>
                <a:cs typeface="Arial"/>
              </a:rPr>
              <a:t>LIBRARIES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37873" y="7894814"/>
            <a:ext cx="13371194" cy="4806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950" spc="-254">
                <a:latin typeface="Courier New"/>
                <a:cs typeface="Courier New"/>
              </a:rPr>
              <a:t>We</a:t>
            </a:r>
            <a:r>
              <a:rPr dirty="0" sz="2950" spc="-400">
                <a:latin typeface="Courier New"/>
                <a:cs typeface="Courier New"/>
              </a:rPr>
              <a:t> </a:t>
            </a:r>
            <a:r>
              <a:rPr dirty="0" sz="2950" spc="-270">
                <a:latin typeface="Courier New"/>
                <a:cs typeface="Courier New"/>
              </a:rPr>
              <a:t>are</a:t>
            </a:r>
            <a:r>
              <a:rPr dirty="0" sz="2950" spc="-250">
                <a:latin typeface="Courier New"/>
                <a:cs typeface="Courier New"/>
              </a:rPr>
              <a:t> </a:t>
            </a:r>
            <a:r>
              <a:rPr dirty="0" sz="2950" spc="-345">
                <a:latin typeface="Courier New"/>
                <a:cs typeface="Courier New"/>
              </a:rPr>
              <a:t>moving</a:t>
            </a:r>
            <a:r>
              <a:rPr dirty="0" sz="2950" spc="-55">
                <a:latin typeface="Courier New"/>
                <a:cs typeface="Courier New"/>
              </a:rPr>
              <a:t> </a:t>
            </a:r>
            <a:r>
              <a:rPr dirty="0" sz="2950" spc="-345">
                <a:latin typeface="Courier New"/>
                <a:cs typeface="Courier New"/>
              </a:rPr>
              <a:t>from</a:t>
            </a:r>
            <a:r>
              <a:rPr dirty="0" sz="2950" spc="-65">
                <a:latin typeface="Courier New"/>
                <a:cs typeface="Courier New"/>
              </a:rPr>
              <a:t> </a:t>
            </a:r>
            <a:r>
              <a:rPr dirty="0" sz="2950" spc="-325">
                <a:latin typeface="Courier New"/>
                <a:cs typeface="Courier New"/>
              </a:rPr>
              <a:t>talking</a:t>
            </a:r>
            <a:r>
              <a:rPr dirty="0" sz="2950" spc="-140">
                <a:latin typeface="Courier New"/>
                <a:cs typeface="Courier New"/>
              </a:rPr>
              <a:t> </a:t>
            </a:r>
            <a:r>
              <a:rPr dirty="0" sz="2950" spc="-155">
                <a:latin typeface="Courier New"/>
                <a:cs typeface="Courier New"/>
              </a:rPr>
              <a:t>TO</a:t>
            </a:r>
            <a:r>
              <a:rPr dirty="0" sz="2950" spc="-260">
                <a:latin typeface="Courier New"/>
                <a:cs typeface="Courier New"/>
              </a:rPr>
              <a:t> </a:t>
            </a:r>
            <a:r>
              <a:rPr dirty="0" sz="2950" spc="-345">
                <a:latin typeface="Courier New"/>
                <a:cs typeface="Courier New"/>
              </a:rPr>
              <a:t>AI,</a:t>
            </a:r>
            <a:r>
              <a:rPr dirty="0" sz="2950" spc="-290">
                <a:latin typeface="Courier New"/>
                <a:cs typeface="Courier New"/>
              </a:rPr>
              <a:t> </a:t>
            </a:r>
            <a:r>
              <a:rPr dirty="0" sz="2950" spc="-240">
                <a:latin typeface="Courier New"/>
                <a:cs typeface="Courier New"/>
              </a:rPr>
              <a:t>to</a:t>
            </a:r>
            <a:r>
              <a:rPr dirty="0" sz="2950" spc="-355">
                <a:latin typeface="Courier New"/>
                <a:cs typeface="Courier New"/>
              </a:rPr>
              <a:t> </a:t>
            </a:r>
            <a:r>
              <a:rPr dirty="0" sz="2950" spc="-325">
                <a:latin typeface="Courier New"/>
                <a:cs typeface="Courier New"/>
              </a:rPr>
              <a:t>designing</a:t>
            </a:r>
            <a:r>
              <a:rPr dirty="0" sz="2950" spc="165">
                <a:latin typeface="Courier New"/>
                <a:cs typeface="Courier New"/>
              </a:rPr>
              <a:t> </a:t>
            </a:r>
            <a:r>
              <a:rPr dirty="0" sz="2950" spc="-310">
                <a:latin typeface="Courier New"/>
                <a:cs typeface="Courier New"/>
              </a:rPr>
              <a:t>Agents</a:t>
            </a:r>
            <a:r>
              <a:rPr dirty="0" sz="2950" spc="-260">
                <a:latin typeface="Courier New"/>
                <a:cs typeface="Courier New"/>
              </a:rPr>
              <a:t> </a:t>
            </a:r>
            <a:r>
              <a:rPr dirty="0" sz="2950" spc="-310">
                <a:latin typeface="Courier New"/>
                <a:cs typeface="Courier New"/>
              </a:rPr>
              <a:t>that</a:t>
            </a:r>
            <a:r>
              <a:rPr dirty="0" sz="2950" spc="-140">
                <a:latin typeface="Courier New"/>
                <a:cs typeface="Courier New"/>
              </a:rPr>
              <a:t> </a:t>
            </a:r>
            <a:r>
              <a:rPr dirty="0" sz="2950" spc="-290">
                <a:latin typeface="Courier New"/>
                <a:cs typeface="Courier New"/>
              </a:rPr>
              <a:t>ACT</a:t>
            </a:r>
            <a:r>
              <a:rPr dirty="0" sz="2950" spc="-459">
                <a:latin typeface="Courier New"/>
                <a:cs typeface="Courier New"/>
              </a:rPr>
              <a:t> </a:t>
            </a:r>
            <a:r>
              <a:rPr dirty="0" sz="2950" spc="-290">
                <a:latin typeface="Courier New"/>
                <a:cs typeface="Courier New"/>
              </a:rPr>
              <a:t>for</a:t>
            </a:r>
            <a:r>
              <a:rPr dirty="0" sz="2950" spc="-90">
                <a:latin typeface="Courier New"/>
                <a:cs typeface="Courier New"/>
              </a:rPr>
              <a:t> </a:t>
            </a:r>
            <a:r>
              <a:rPr dirty="0" sz="2950" spc="-335">
                <a:latin typeface="Courier New"/>
                <a:cs typeface="Courier New"/>
              </a:rPr>
              <a:t>us.</a:t>
            </a:r>
            <a:endParaRPr sz="295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5029" y="8722783"/>
            <a:ext cx="9336405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4150" spc="235">
                <a:latin typeface="Arial"/>
                <a:cs typeface="Arial"/>
              </a:rPr>
              <a:t>The</a:t>
            </a:r>
            <a:r>
              <a:rPr dirty="0" sz="4150" spc="-425">
                <a:latin typeface="Arial"/>
                <a:cs typeface="Arial"/>
              </a:rPr>
              <a:t> </a:t>
            </a:r>
            <a:r>
              <a:rPr dirty="0" sz="4150" spc="315">
                <a:latin typeface="Arial"/>
                <a:cs typeface="Arial"/>
              </a:rPr>
              <a:t>prompt</a:t>
            </a:r>
            <a:r>
              <a:rPr dirty="0" sz="4150" spc="-245">
                <a:latin typeface="Arial"/>
                <a:cs typeface="Arial"/>
              </a:rPr>
              <a:t> </a:t>
            </a:r>
            <a:r>
              <a:rPr dirty="0" sz="4150" spc="225">
                <a:latin typeface="Arial"/>
                <a:cs typeface="Arial"/>
              </a:rPr>
              <a:t>is</a:t>
            </a:r>
            <a:r>
              <a:rPr dirty="0" sz="4150" spc="-305">
                <a:latin typeface="Arial"/>
                <a:cs typeface="Arial"/>
              </a:rPr>
              <a:t> </a:t>
            </a:r>
            <a:r>
              <a:rPr dirty="0" sz="4150" spc="285">
                <a:latin typeface="Arial"/>
                <a:cs typeface="Arial"/>
              </a:rPr>
              <a:t>the</a:t>
            </a:r>
            <a:r>
              <a:rPr dirty="0" sz="4150" spc="-405">
                <a:latin typeface="Arial"/>
                <a:cs typeface="Arial"/>
              </a:rPr>
              <a:t> </a:t>
            </a:r>
            <a:r>
              <a:rPr dirty="0" sz="4150" spc="310">
                <a:latin typeface="Arial"/>
                <a:cs typeface="Arial"/>
              </a:rPr>
              <a:t>code</a:t>
            </a:r>
            <a:r>
              <a:rPr dirty="0" sz="4150" spc="-320">
                <a:latin typeface="Arial"/>
                <a:cs typeface="Arial"/>
              </a:rPr>
              <a:t> </a:t>
            </a:r>
            <a:r>
              <a:rPr dirty="0" sz="4150" spc="235">
                <a:latin typeface="Arial"/>
                <a:cs typeface="Arial"/>
              </a:rPr>
              <a:t>of</a:t>
            </a:r>
            <a:r>
              <a:rPr dirty="0" sz="4150" spc="-130">
                <a:latin typeface="Arial"/>
                <a:cs typeface="Arial"/>
              </a:rPr>
              <a:t> </a:t>
            </a:r>
            <a:r>
              <a:rPr dirty="0" sz="4150" spc="265">
                <a:latin typeface="Arial"/>
                <a:cs typeface="Arial"/>
              </a:rPr>
              <a:t>the</a:t>
            </a:r>
            <a:r>
              <a:rPr dirty="0" sz="4150" spc="-225">
                <a:latin typeface="Arial"/>
                <a:cs typeface="Arial"/>
              </a:rPr>
              <a:t> </a:t>
            </a:r>
            <a:r>
              <a:rPr dirty="0" sz="4150" spc="235">
                <a:latin typeface="Arial"/>
                <a:cs typeface="Arial"/>
              </a:rPr>
              <a:t>future.</a:t>
            </a:r>
            <a:endParaRPr sz="41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342096" y="8532283"/>
            <a:ext cx="2576195" cy="6604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dirty="0" sz="2150" spc="85">
                <a:latin typeface="Arial"/>
                <a:cs typeface="Arial"/>
              </a:rPr>
              <a:t>R</a:t>
            </a:r>
            <a:r>
              <a:rPr dirty="0" sz="2500" spc="85">
                <a:latin typeface="Arial"/>
                <a:cs typeface="Arial"/>
              </a:rPr>
              <a:t>e</a:t>
            </a:r>
            <a:r>
              <a:rPr dirty="0" baseline="-20080" sz="6225" spc="127">
                <a:latin typeface="Arial"/>
                <a:cs typeface="Arial"/>
              </a:rPr>
              <a:t>'*</a:t>
            </a:r>
            <a:r>
              <a:rPr dirty="0" sz="2500" spc="85">
                <a:latin typeface="Arial"/>
                <a:cs typeface="Arial"/>
              </a:rPr>
              <a:t>on</a:t>
            </a:r>
            <a:r>
              <a:rPr dirty="0" sz="2900" spc="85">
                <a:latin typeface="Arial"/>
                <a:cs typeface="Arial"/>
              </a:rPr>
              <a:t>o</a:t>
            </a:r>
            <a:r>
              <a:rPr dirty="0" sz="2300" spc="85">
                <a:latin typeface="Arial"/>
                <a:cs typeface="Arial"/>
              </a:rPr>
              <a:t>8</a:t>
            </a:r>
            <a:r>
              <a:rPr dirty="0" baseline="-20080" sz="6225" spc="127">
                <a:latin typeface="Arial"/>
                <a:cs typeface="Arial"/>
              </a:rPr>
              <a:t>“</a:t>
            </a:r>
            <a:r>
              <a:rPr dirty="0" sz="2150" spc="85">
                <a:latin typeface="Arial"/>
                <a:cs typeface="Arial"/>
              </a:rPr>
              <a:t>R</a:t>
            </a:r>
            <a:r>
              <a:rPr dirty="0" sz="2500" spc="85">
                <a:latin typeface="Arial"/>
                <a:cs typeface="Arial"/>
              </a:rPr>
              <a:t>e</a:t>
            </a:r>
            <a:r>
              <a:rPr dirty="0" baseline="-20080" sz="6225" spc="127">
                <a:latin typeface="Arial"/>
                <a:cs typeface="Arial"/>
              </a:rPr>
              <a:t>’</a:t>
            </a:r>
            <a:r>
              <a:rPr dirty="0" baseline="-20080" sz="6225" spc="-112">
                <a:latin typeface="Arial"/>
                <a:cs typeface="Arial"/>
              </a:rPr>
              <a:t> </a:t>
            </a:r>
            <a:r>
              <a:rPr dirty="0" sz="2150" spc="-50">
                <a:latin typeface="Arial"/>
                <a:cs typeface="Arial"/>
              </a:rPr>
              <a:t>1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2026-06-18T14:57:39Z</dcterms:created>
  <dcterms:modified xsi:type="dcterms:W3CDTF">2026-06-18T14:57:39Z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2026-06-18T00:00:00Z</vt:filetime>
  </property>
  <property fmtid="{D5CDD505-2E9C-101B-9397-08002B2CF9AE}" pid="4" name="LastSaved">
    <vt:filetime>2026-06-18T00:00:00Z</vt:filetime>
  </property>
</Properties>
</file>