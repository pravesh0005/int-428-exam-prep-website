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57" r:id="rId3"/>
    <p:sldId id="260" r:id="rId4"/>
    <p:sldId id="261" r:id="rId5"/>
    <p:sldId id="262" r:id="rId6"/>
    <p:sldId id="265" r:id="rId7"/>
    <p:sldId id="266" r:id="rId8"/>
    <p:sldId id="267" r:id="rId9"/>
    <p:sldId id="270" r:id="rId10"/>
    <p:sldId id="271" r:id="rId11"/>
    <p:sldId id="272" r:id="rId12"/>
    <p:sldId id="275" r:id="rId13"/>
    <p:sldId id="276" r:id="rId14"/>
    <p:sldId id="277" r:id="rId15"/>
    <p:sldId id="280" r:id="rId16"/>
    <p:sldId id="281" r:id="rId17"/>
    <p:sldId id="282" r:id="rId18"/>
    <p:sldId id="285" r:id="rId19"/>
    <p:sldId id="286" r:id="rId20"/>
    <p:sldId id="287" r:id="rId21"/>
    <p:sldId id="288" r:id="rId22"/>
    <p:sldId id="28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31E8-03CA-0977-0188-F7DB0C118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7952A3-7404-43D8-326A-A6E6457BF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B859D-A35D-C3F0-B6FD-D4A34ADE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2228E-55DE-9BB3-31AF-AFEEC9DC4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5F8D0-03FB-4A3E-7428-E4E847F3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450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D291D-5205-59E9-A265-B98408F6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17C89-C680-38E5-D8DF-9A88F2EE0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3C3EE-08B7-2495-1794-26BE6B08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F10DC-27FF-669A-42CD-233D3D74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074B-661C-74EE-1A4F-58C88719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600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3A59-A5C6-BDAE-3E82-8A226083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2916C-5299-7F6E-8126-21BA22EE3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83982-F43D-3D89-D242-E421831D1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BDF88-0854-6451-D838-10F085C99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36102-D061-3932-C35C-D0142338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01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E9EC-92C1-FCEB-3827-7A3BCB8E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8D19F-2C90-F9DE-4A06-F464ACA26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11942-F8DB-8954-2286-48967BAD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156EE-1397-FF37-545B-36F30D5BC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BC4FD-706A-451B-268A-78607B0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D9A88-D2AA-BD3B-448C-7C8067F0D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13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2208-71E1-A1E5-F934-6589CF64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AB94E-6DFF-A3D5-907D-9CF9EF567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8F9C9-A6BD-A8E3-A6E0-F96808276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E7CF2-E1C8-821C-1F19-603E181E6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886B1-6FDE-7453-003B-45915CBFA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A6F3B9-D935-69A6-0166-368C8A21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7095A1-7DC9-26D0-A04D-AF7B0653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413A59-A066-596B-75D6-802DD770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87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3748D-2F97-306B-A2C8-D3FE7151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1FCDB-325A-8AED-0814-0991B63BE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50FB2-72E1-A700-97D4-90535C00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C94C2-C900-C017-61DA-9149834D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3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04A92-C15A-76CF-976D-A7C28FB6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B78339-DE67-1E91-E75D-3E66CAC0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088A8-DE7E-6036-FBB7-324E1DDD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79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870FC-A961-8173-9791-A70A9168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81B17-1F2B-C9BF-B685-EFD20F708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06260-4993-10F9-E6C3-DC0531D02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11F1-7BF1-28B8-2201-5FA3BE1AA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BCFF0-EF30-079F-24BA-9E205EC8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E6827-1757-819B-0888-069238AA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6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A595A-FFC9-AED4-04C5-F9EBF3B77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B0C78-83A6-B310-22CB-D17A52141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CEC84-C193-DCF6-AADF-3E8F2C2C2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76D48-105F-1C7E-C2D8-C23D861A3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B39ED-F78D-DE69-E556-7D8961E6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F8B66-6002-488A-8AC0-0D4AE2A4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90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1CFF-CB3E-761B-B75D-E5081C3C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3F785-86C3-A748-861A-7FD1F99C5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77A4-1820-0F36-A984-78849D8A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FBF9D-15EC-105B-0EC9-4C5D5747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AE347-72C8-50DA-E0C7-BE29B7565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204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D5B98E-B355-4CA4-8536-515B181E3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3770C-DDDE-5478-8CB6-E9CB240DC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2B52F-B07A-654C-E7FA-27328C9D4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B8962-706B-65C5-A9FB-A82738C3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310F3-10FC-EE59-B842-AB051039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195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B6AABA-95EB-59C1-95DB-946CD782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3BC9A-20DF-97B0-4476-919100FB1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42CAB-7DD4-52AF-21B4-9865F102F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6D9B-CE50-43CD-9050-A253F2B641C6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695B0-AEAD-B44C-DC81-9C2643D08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7E30B-F7BE-2C9F-2684-C0474D300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A6CA9-24EA-45B6-BB6E-36564F493F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5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12192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09600" y="243840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7200"/>
              <a:t>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41120"/>
            <a:ext cx="109728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i="1">
                <a:solidFill>
                  <a:srgbClr val="9B59B6"/>
                </a:solidFill>
              </a:defRPr>
            </a:pPr>
            <a:r>
              <a:rPr sz="2667"/>
              <a:t>Finding Hidden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94561"/>
            <a:ext cx="5852160" cy="128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4CAF50"/>
                </a:solidFill>
              </a:defRPr>
            </a:pPr>
            <a:r>
              <a:rPr sz="2133" dirty="0"/>
              <a:t>Discovering Clusters &amp; Structure</a:t>
            </a:r>
          </a:p>
          <a:p>
            <a:pPr>
              <a:spcAft>
                <a:spcPts val="1333"/>
              </a:spcAft>
              <a:defRPr sz="1400">
                <a:solidFill>
                  <a:srgbClr val="9B59B6"/>
                </a:solidFill>
              </a:defRPr>
            </a:pPr>
            <a:r>
              <a:rPr sz="1867" dirty="0"/>
              <a:t>🎯 Clustering | 📉 Dimensionality Reduction</a:t>
            </a:r>
            <a:endParaRPr sz="1600" dirty="0"/>
          </a:p>
          <a:p>
            <a:pPr>
              <a:spcAft>
                <a:spcPts val="667"/>
              </a:spcAft>
              <a:defRPr sz="1000">
                <a:solidFill>
                  <a:srgbClr val="646464"/>
                </a:solidFill>
              </a:defRPr>
            </a:pPr>
            <a:r>
              <a:rPr sz="1333" dirty="0"/>
              <a:t>K-Means, Hierarchical, DBSCAN, PCA, GMM, t-SNE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600" y="2194560"/>
            <a:ext cx="1828800" cy="731520"/>
          </a:xfrm>
          <a:prstGeom prst="rect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3657600"/>
            <a:ext cx="1828800" cy="731520"/>
          </a:xfrm>
          <a:prstGeom prst="rect">
            <a:avLst/>
          </a:prstGeom>
          <a:solidFill>
            <a:srgbClr val="9B59B6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APPLY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5120640"/>
            <a:ext cx="1828800" cy="731520"/>
          </a:xfrm>
          <a:prstGeom prst="rect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MASTER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75120"/>
            <a:ext cx="12009120" cy="182880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1" name="Picture 2" descr="LPU Distance Education| Recognitions &amp; Approvals">
            <a:extLst>
              <a:ext uri="{FF2B5EF4-FFF2-40B4-BE49-F238E27FC236}">
                <a16:creationId xmlns:a16="http://schemas.microsoft.com/office/drawing/2014/main" id="{4DD06899-0B00-CD9E-251F-D8CAA73652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F211D361-CCA3-4DBF-2993-1CAF7759E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Overview</a:t>
            </a:r>
            <a:r>
              <a:rPr lang="en-IN" sz="4267" dirty="0"/>
              <a:t> of the </a:t>
            </a:r>
            <a:r>
              <a:rPr sz="4267" dirty="0"/>
              <a:t>Core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5268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K-Means Clustering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Partition into k clusters, centroid-based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Hierarchical Clustering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Build tree, agglomerative/divisive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DBSCAN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Density-based, finds arbitrary shapes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PCA - Principal Component Analysis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Reduce dimensions, variance preservation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Gaussian Mixture Models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Probabilistic clustering, soft assignment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t-SNE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Dimensionality reduction, visualization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C5F17E72-87E7-ACDE-3F95-55A35A4405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8C7EABB-C1E6-B91C-F625-5C23636F9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K-Means - Clustering Visualization</a:t>
            </a:r>
          </a:p>
        </p:txBody>
      </p:sp>
      <p:pic>
        <p:nvPicPr>
          <p:cNvPr id="5" name="Picture 4" descr="01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35" y="907415"/>
            <a:ext cx="11819694" cy="5928840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6C9E028E-E8E3-96CC-BC50-CE7963C4A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3B097D61-76DF-DC25-07CE-9A2020B6C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K-Means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Customer segmentation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Image compression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Document clustering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Gene sequence analysis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Recommendation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Fast &amp; scalable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Simple to implement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Works well for spherical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Need to specify k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Sensitive to initialization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707B79DB-77CB-542A-5875-59189997F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8CEE2B4-DC3E-7CAE-EF92-973A10715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K-Means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18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Type: Partitioning-based, centroid-based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Output: k clusters with centroid points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Algorithm: Iterative: assign → update → repeat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Fast clustering, spherical clusters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Problem: Need to choose k, random initialization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sklearn.cluster import KMeans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CDC35024-E959-2C2C-5278-F475DF4DA8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59F4F14-AF31-EB56-E8D7-473412766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Hierarchical Clustering - Dendrogram</a:t>
            </a:r>
          </a:p>
        </p:txBody>
      </p:sp>
      <p:pic>
        <p:nvPicPr>
          <p:cNvPr id="5" name="Picture 4" descr="02_hierarch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77" y="871442"/>
            <a:ext cx="11887200" cy="5986558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3C5E431A-0601-D37D-CDC2-E4BFDBB91C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4AE7978-C425-5BF9-1D6E-17D8AD929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Hierarchical Clustering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Gene expression analysis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Document clustering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Image segmentation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Biological taxonomy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Customer profiling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Dendrogram visualization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No k needed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Works with any distance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Slower O(n²) to O(n³)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Sensitive to outliers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7E48D3D8-5A5B-C3F4-4415-516BC04780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4E3BE47-8C79-CAD2-C5FA-588B10074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Hierarchical Clustering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1844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Types: Agglomerative (bottom-up), Divisive (top-down)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Output: Dendrogram showing hierarchy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Linkage: Single, Complete, Average, Ward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Hierarchical structure, visualization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k Selection: Cut dendrogram at desired height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scipy.cluster.hierarchy import dendrogram, linkage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A19718C4-B1FF-1987-961A-2A4933BB19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5ABA85F-D19E-3453-41C4-02ACFCC56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DBSCAN - Arbitrary Shapes</a:t>
            </a:r>
          </a:p>
        </p:txBody>
      </p:sp>
      <p:pic>
        <p:nvPicPr>
          <p:cNvPr id="5" name="Picture 4" descr="03_db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28" y="855547"/>
            <a:ext cx="11881472" cy="5980708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621FCF82-A5DB-38CE-6B4F-F22BF87DEA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CF7C8B2-0946-3257-41B2-CC601ED51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DBSCAN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Anomaly/outlier detection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Spatial clustering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Traffic accident hotspots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Intrusion detection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Galaxy clustering (astronomy)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No k specification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Finds arbitrary shapes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Outlier detection built-in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eps/minPts tuning hard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Slow O(n²) on large data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58D60340-1E18-DF62-10C7-EBD1061C99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D7A38C0-5129-6A75-5484-71FC21EA3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DBSCAN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18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Type: Density-based, arbitrary shapes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Key Parameters: eps (radius), minPts (min points)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Point Types: Core (&gt;= minPts nearby), Border, Noise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Non-spherical clusters, outlier detection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k Selection: Not needed! Auto-detects clusters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sklearn.cluster import DBSCAN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876AECD1-DFF3-FCA6-5621-50B43EDBBD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BD43E77-05F6-020A-625E-03D54EFBF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PCA - Variance Preservation</a:t>
            </a:r>
          </a:p>
        </p:txBody>
      </p:sp>
      <p:pic>
        <p:nvPicPr>
          <p:cNvPr id="5" name="Picture 4" descr="04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0"/>
            <a:ext cx="11460480" cy="5186100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044AE023-21DA-7F7E-F109-4E07E5737D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F9C1783-4120-69C1-631B-BF2E36F9F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PCA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Face recognition (FBI)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Image compression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Gene expression analysis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Stock market analysis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Noise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50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Reduces dimensions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Preserves variance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Removes correlation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Faster training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Hard to interpret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Linear only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EADE0D80-7CF1-FDF1-F126-59B657B006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05F0E3A0-1776-9F8E-A532-EDBA22ECC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7882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PCA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18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Type: Dimensionality reduction, variance-preserving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Output: Principal components (eigenvalues/eigenvectors)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Process: Standardize → Covariance → Eigendecomposition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High-dim data, visualization, compression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Limitation: Linear only (use Kernel-PCA for non-linear)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sklearn.decomposition import PCA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2A64D687-2BA7-104E-579D-EBB7D1E102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D5A024E5-3DEB-EAC9-13D8-954A56098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GMM - Probabilistic Clustering</a:t>
            </a:r>
          </a:p>
        </p:txBody>
      </p:sp>
      <p:pic>
        <p:nvPicPr>
          <p:cNvPr id="5" name="Picture 4" descr="05_g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14225"/>
            <a:ext cx="11760780" cy="6022030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AA256F96-B580-18C2-AA43-D600D1D67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CF3644C-9199-B8AC-61A1-10D480FB8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GMM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Speech recognition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Image segmentation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Topic modeling (documents)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Medical diagnosis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Anomaly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50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Probabilistic model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Soft clustering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Flexible shapes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Parameter estimation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Slower EM iterations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Can get stuck locally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965C7023-3A04-16B7-5593-8D623648DC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CA7BAB12-0B2B-42CC-D811-D0F8C1818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GMM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15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Type: Probabilistic, soft clustering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Assumption: Data = mixture of k Gaussian distributions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Parameters: μ (mean), Σ (covariance), π (weight)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Algorithm: EM (Expectation-Maximization)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Output: Probability of cluster membership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Overlapping clusters, probability needed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sklearn.mixture import GaussianMixture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41544C7C-88F4-856B-E88C-495367813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45B8802B-3AB1-A856-2902-A664664D9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6. t-SNE - High-Dimensional Visualization</a:t>
            </a:r>
          </a:p>
        </p:txBody>
      </p:sp>
      <p:pic>
        <p:nvPicPr>
          <p:cNvPr id="5" name="Picture 4" descr="06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14225"/>
            <a:ext cx="12009120" cy="6091232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8A74FB3D-7B95-F6F6-E6DB-BA15FCC91C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EB3D4EB2-A2CA-7129-14E4-ADB44358C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6. t-SNE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Visualize embeddings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Gene expression plots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Document clustering viz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Image similarity viz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Anomaly detection viz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50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Beautiful visualizations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Preserves local structure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Reveals clusters clearly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Slow O(n²)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Not for downstream ML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Random initialization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D5958AB1-73ED-729C-B78B-078DEB9DDC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B6EA026-B941-8D0A-0737-14D76B379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6. t-SNE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17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Type: Dimensionality reduction for visualization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Output: 2D or 3D coordinates for plotting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Distance Metric: Uses t-distribution (heavy tails)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Local Structure: Preserves neighborhood relationships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Computation: O(n²) - slow but worth it for viz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Exploratory data analysis, visualization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sklearn.manifold import TSNE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30230430-A6C9-2E5B-593C-E9C579EF32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8F8ADDD-2C9E-EDD0-9FEC-DF7CED92E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Algorithm Comparison &amp; When to Use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2800" dirty="0"/>
              <a:t>K-Means         → Spherical clusters, need k → Customer segments</a:t>
            </a:r>
          </a:p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2800" dirty="0"/>
              <a:t>Hierarchical    → Tree structure, no k needed → Gene clustering</a:t>
            </a:r>
          </a:p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2800" dirty="0"/>
              <a:t>DBSCAN          → Arbitrary shapes, outliers → Crime hotspots</a:t>
            </a:r>
          </a:p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2800" dirty="0"/>
              <a:t>PCA             → Dimensionality reduction  → Face recognition</a:t>
            </a:r>
          </a:p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2800" dirty="0"/>
              <a:t>GMM             → Probabilistic, soft clustering → Speech recognition</a:t>
            </a:r>
          </a:p>
          <a:p>
            <a:pPr>
              <a:spcAft>
                <a:spcPts val="800"/>
              </a:spcAft>
              <a:defRPr sz="1100" b="1">
                <a:solidFill>
                  <a:srgbClr val="FF6B6B"/>
                </a:solidFill>
              </a:defRPr>
            </a:pPr>
            <a:r>
              <a:rPr sz="2800" dirty="0"/>
              <a:t>t-SNE           → Visualization, local structure → Cluster visualization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B2A77B45-18DD-C261-C4F3-768747CAE2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69A85EA-6AA3-FEDD-6524-663516252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Key Concepts: Unsupervised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202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33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Clustering: Group similar points together (hard or soft)</a:t>
            </a:r>
          </a:p>
          <a:p>
            <a:pPr>
              <a:spcAft>
                <a:spcPts val="933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Dimensionality Reduction: Reduce features while keeping information</a:t>
            </a:r>
          </a:p>
          <a:p>
            <a:pPr>
              <a:spcAft>
                <a:spcPts val="933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Hard vs Soft Clustering: Hard: each point to one cluster | Soft: probability</a:t>
            </a:r>
          </a:p>
          <a:p>
            <a:pPr>
              <a:spcAft>
                <a:spcPts val="933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Distance Metrics: Euclidean, Manhattan, Cosine (choose wisely!)</a:t>
            </a:r>
          </a:p>
          <a:p>
            <a:pPr>
              <a:spcAft>
                <a:spcPts val="933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Elbow Method: Find optimal k by looking at cost vs clusters</a:t>
            </a:r>
          </a:p>
          <a:p>
            <a:pPr>
              <a:spcAft>
                <a:spcPts val="933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Silhouette Score: Measure how similar points are to own vs other clusters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D34862C0-1CDA-BA61-03F4-C821C95C5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73BDC30-9E9A-E6A7-AD2B-7AB03CCD0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917</Words>
  <Application>Microsoft Office PowerPoint</Application>
  <PresentationFormat>Widescreen</PresentationFormat>
  <Paragraphs>172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Bharti</dc:creator>
  <cp:lastModifiedBy>Rohit Bharti</cp:lastModifiedBy>
  <cp:revision>34</cp:revision>
  <dcterms:created xsi:type="dcterms:W3CDTF">2026-01-17T08:56:13Z</dcterms:created>
  <dcterms:modified xsi:type="dcterms:W3CDTF">2026-01-17T09:08:13Z</dcterms:modified>
</cp:coreProperties>
</file>