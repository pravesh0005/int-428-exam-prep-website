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1" r:id="rId2"/>
    <p:sldId id="262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51990B-465B-4293-855D-AA4FFEFD6AC8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36A1C-41C6-4449-B66B-518CE6D00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44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4669E-9A56-4586-64AF-5D8C085DB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D1AE4-E5FE-5F20-25EC-7E413A9BF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ED0F6-8DAC-EB2E-2D73-7C684207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2C1B-CD6E-4CE0-AC70-50920613AE75}" type="datetime1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C8D31-98FE-9B07-C34E-171B76CB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93071-E3B8-F680-8FE3-F7CFE1B1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586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1A9B5-1B8F-DCF6-9696-53C2277C6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C56A7-228E-ACD5-5B5B-F930B7EF88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A73E0-CFDA-EDA0-9AAD-4E6D2AB4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DDBCB-0F03-40FE-AD0C-5C92E5E53243}" type="datetime1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B6317-5659-6E10-3D0D-73C1CA1E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8DF2D-E27A-9208-7425-6501C3DC7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83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CB09-70DB-8496-831A-C30F9AE34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56DF7-262B-A972-DCDC-E1F15AE21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4983E-3E2B-8D3A-75AD-E96503DF4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B509E-7AB8-472F-BE84-0C1EF0489FED}" type="datetime1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07A74-9938-DAD6-C1D9-ED00D5B19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4A2F8-5701-1995-089F-7371A70F9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994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8C2FC-9E47-0125-0265-A633C7F05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7B84-634A-7755-B983-AF7289353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DC02B-6ADC-93C8-BD9C-92D686E72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E6CBC-A14E-F3EB-3201-582F901C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1BD6F-5DBD-4B6F-874C-52763A20F87E}" type="datetime1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CC0C9-FB6A-A856-8039-6C9F8B13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AFEE0-3B08-48F5-DE20-9D2A1E6A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513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3F2F-DA27-C195-5AF7-E705E68DD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0001A-5B34-1514-89D6-80986C38A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1FBBC-7444-B151-E7ED-80A23930C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464C97-932D-016E-E836-12E1AC5CC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071E0-7841-817E-F23B-79BD0F4E3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461C5-884D-7F9C-82BC-72696F04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0A54-5AEC-4D15-B4EC-F4BA8710682A}" type="datetime1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CCE154-6DDC-3A37-C87B-BDDCB95F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C2E6B-0649-D950-BFB8-B5978D270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046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B171F-785F-0830-99EC-58BD06C59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FC052-BDF0-580D-D985-DE903ACF6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A43-5206-42C2-B7C1-499EE03D1138}" type="datetime1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08F4A-6E30-67D7-550A-B39101C3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C4485-A995-3A4C-85AA-1961FAD44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418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B86FDA-7EED-37DE-41BE-6011B340E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65D93-4C60-4FE1-B13B-87266CEFFBD9}" type="datetime1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67CEC-37B3-29FF-EBD7-841722FB1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65214-0473-2ED0-219E-DDEFD430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8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C69E-74FF-CE7D-E7B0-C26060D2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75C12-ED76-572D-663A-241A8ED1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D5713-214E-EFA5-91D0-8EA09C2FE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65FBA-B1F5-D9A0-60CF-6048D8023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C2123-1A93-497E-98BF-354096236A92}" type="datetime1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9D613-EA50-66E6-F92F-15D52DCBF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38D38-6157-1492-ED53-FA3D84128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13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7B53-CE87-92D0-DD9A-9F3DB5C25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1A2A6-1475-03D0-4077-A8A01EF23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219AE-D657-5E69-C006-0F56C0B78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3F410-FEE9-9B9E-3855-78CD1431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27F6B-1E52-4E60-8E59-D4AFC0120E4A}" type="datetime1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96ED28-18A0-7269-71B8-2104E8499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97C53-C3EC-4C46-01CD-1F1258F5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328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1742-B500-6F7A-422C-DE2343D96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74936D-265E-BF06-29E5-D5656809E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53EB7-2CDF-DEF1-3F1B-5BD6AE1F6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BF590-A353-4363-9E86-E8AD6DF73E24}" type="datetime1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73EDB-8F2E-3725-A46C-81458162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5A8D1-151C-9D5D-1DC4-C96CC65F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888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73D000-8243-C042-C8F3-0B19C705C4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7F9186-2886-A945-EE89-69C37C0D3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FF0CA-0631-23AC-FC84-A00321E11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FE7F2-EE3C-4505-8F8D-46E5E7282F19}" type="datetime1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CD4D9-AD41-0D0C-3413-FAC4D564B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342A2-66E8-6BF0-51B0-158F5C3B5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888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7116D4-16E4-009A-E07C-7FB87CF2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D2449-8843-D3BA-DDA4-7C5503AB2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4F8C5-CF34-4765-C8DD-CCD7736D15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D995D-85A0-49F9-8323-E50ECA11E235}" type="datetime1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CE8A8-23A9-7823-3E9F-403F1B393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C568C-ED27-4AA2-7539-653640564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A434FC-1226-4DBA-8EDD-C2722D164DBA}" type="slidenum">
              <a:rPr lang="en-IN" smtClean="0"/>
              <a:t>‹#›</a:t>
            </a:fld>
            <a:endParaRPr lang="en-IN"/>
          </a:p>
        </p:txBody>
      </p:sp>
      <p:pic>
        <p:nvPicPr>
          <p:cNvPr id="1026" name="Picture 2" descr="LPU Distance Education| Recognitions &amp; Approvals">
            <a:extLst>
              <a:ext uri="{FF2B5EF4-FFF2-40B4-BE49-F238E27FC236}">
                <a16:creationId xmlns:a16="http://schemas.microsoft.com/office/drawing/2014/main" id="{11C35D3D-13ED-B14D-21DB-A5D17B15A41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FF5BEB0-DF07-9E8B-A634-D01ADB0F5D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646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1219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09600" y="243840"/>
            <a:ext cx="10972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7200"/>
              <a:t>PROBABILITY &amp; BAYESIAN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41120"/>
            <a:ext cx="109728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i="1">
                <a:solidFill>
                  <a:srgbClr val="E67E22"/>
                </a:solidFill>
              </a:defRPr>
            </a:pPr>
            <a:r>
              <a:rPr sz="2667"/>
              <a:t>Reasoning Under Uncertainty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94561"/>
            <a:ext cx="5852160" cy="128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3498DB"/>
                </a:solidFill>
              </a:defRPr>
            </a:pPr>
            <a:r>
              <a:rPr sz="2133" dirty="0"/>
              <a:t>From Probability to Networks</a:t>
            </a:r>
          </a:p>
          <a:p>
            <a:pPr>
              <a:spcAft>
                <a:spcPts val="1333"/>
              </a:spcAft>
              <a:defRPr sz="1400">
                <a:solidFill>
                  <a:srgbClr val="E67E22"/>
                </a:solidFill>
              </a:defRPr>
            </a:pPr>
            <a:r>
              <a:rPr sz="1867" dirty="0"/>
              <a:t>🎲 Probability | 🧠 Bayesian Inference</a:t>
            </a:r>
            <a:endParaRPr sz="1600" dirty="0"/>
          </a:p>
          <a:p>
            <a:pPr>
              <a:spcAft>
                <a:spcPts val="667"/>
              </a:spcAft>
              <a:defRPr sz="1000">
                <a:solidFill>
                  <a:srgbClr val="646464"/>
                </a:solidFill>
              </a:defRPr>
            </a:pPr>
            <a:r>
              <a:rPr sz="1333" dirty="0"/>
              <a:t>Probability, Bayes Theorem, Bayesian Networks, Probabilistic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600" y="2194560"/>
            <a:ext cx="1828800" cy="73152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3657600"/>
            <a:ext cx="1828800" cy="731520"/>
          </a:xfrm>
          <a:prstGeom prst="rect">
            <a:avLst/>
          </a:prstGeom>
          <a:solidFill>
            <a:srgbClr val="E67E22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APPLY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5120640"/>
            <a:ext cx="1828800" cy="73152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MASTER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75120"/>
            <a:ext cx="12009120" cy="18288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Google Shape;107;p3">
            <a:extLst>
              <a:ext uri="{FF2B5EF4-FFF2-40B4-BE49-F238E27FC236}">
                <a16:creationId xmlns:a16="http://schemas.microsoft.com/office/drawing/2014/main" id="{8732E680-E653-45A0-D5EB-B6E36B1FA3FD}"/>
              </a:ext>
            </a:extLst>
          </p:cNvPr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15" name="Picture 2" descr="LPU Distance Education| Recognitions &amp; Approvals">
            <a:extLst>
              <a:ext uri="{FF2B5EF4-FFF2-40B4-BE49-F238E27FC236}">
                <a16:creationId xmlns:a16="http://schemas.microsoft.com/office/drawing/2014/main" id="{831CCE5A-B4F3-D443-6059-7E7D563CE3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89ACB0A-2D84-82FE-1EA1-1D450EA94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86559C-1CAB-102A-F0CC-12AE4C24FA1D}"/>
              </a:ext>
            </a:extLst>
          </p:cNvPr>
          <p:cNvSpPr/>
          <p:nvPr/>
        </p:nvSpPr>
        <p:spPr>
          <a:xfrm>
            <a:off x="1482115" y="216786"/>
            <a:ext cx="9006840" cy="59436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lang="en-GB" dirty="0"/>
              <a:t>Topics to be Discussed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0FDDA-E603-BB25-AB60-BC6906ABD19E}"/>
              </a:ext>
            </a:extLst>
          </p:cNvPr>
          <p:cNvSpPr txBox="1"/>
          <p:nvPr/>
        </p:nvSpPr>
        <p:spPr>
          <a:xfrm>
            <a:off x="575335" y="1388454"/>
            <a:ext cx="11011155" cy="4106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00"/>
              </a:spcAft>
              <a:defRPr sz="1050" b="1">
                <a:solidFill>
                  <a:srgbClr val="FF6B6B"/>
                </a:solidFill>
              </a:defRPr>
            </a:pPr>
            <a:r>
              <a:rPr lang="en-GB" sz="2400" dirty="0"/>
              <a:t>Part 1: Probability Basics </a:t>
            </a:r>
          </a:p>
          <a:p>
            <a:pPr algn="just">
              <a:spcAft>
                <a:spcPts val="500"/>
              </a:spcAft>
              <a:defRPr sz="850">
                <a:solidFill>
                  <a:srgbClr val="2C3E50"/>
                </a:solidFill>
              </a:defRPr>
            </a:pPr>
            <a:r>
              <a:rPr lang="en-GB" sz="2400" dirty="0"/>
              <a:t>Foundation: P(A), P(A|B), Joint, Marginal</a:t>
            </a:r>
          </a:p>
          <a:p>
            <a:pPr algn="just">
              <a:spcAft>
                <a:spcPts val="100"/>
              </a:spcAft>
              <a:defRPr sz="1050" b="1">
                <a:solidFill>
                  <a:srgbClr val="FF6B6B"/>
                </a:solidFill>
              </a:defRPr>
            </a:pPr>
            <a:r>
              <a:rPr lang="en-GB" sz="2400" dirty="0"/>
              <a:t>Part 2: Bayes Theorem </a:t>
            </a:r>
          </a:p>
          <a:p>
            <a:pPr algn="just">
              <a:spcAft>
                <a:spcPts val="500"/>
              </a:spcAft>
              <a:defRPr sz="850">
                <a:solidFill>
                  <a:srgbClr val="2C3E50"/>
                </a:solidFill>
              </a:defRPr>
            </a:pPr>
            <a:r>
              <a:rPr lang="en-GB" sz="2400" dirty="0"/>
              <a:t>How to update beliefs: Prior to Posterior</a:t>
            </a:r>
          </a:p>
          <a:p>
            <a:pPr algn="just">
              <a:spcAft>
                <a:spcPts val="100"/>
              </a:spcAft>
              <a:defRPr sz="1050" b="1">
                <a:solidFill>
                  <a:srgbClr val="FF6B6B"/>
                </a:solidFill>
              </a:defRPr>
            </a:pPr>
            <a:r>
              <a:rPr lang="en-GB" sz="2400" dirty="0"/>
              <a:t>Part 3: Bayesian Networks </a:t>
            </a:r>
          </a:p>
          <a:p>
            <a:pPr algn="just">
              <a:spcAft>
                <a:spcPts val="500"/>
              </a:spcAft>
              <a:defRPr sz="850">
                <a:solidFill>
                  <a:srgbClr val="2C3E50"/>
                </a:solidFill>
              </a:defRPr>
            </a:pPr>
            <a:r>
              <a:rPr lang="en-GB" sz="2400" dirty="0"/>
              <a:t>Complex reasoning with multiple variables</a:t>
            </a:r>
          </a:p>
          <a:p>
            <a:pPr algn="just">
              <a:spcAft>
                <a:spcPts val="100"/>
              </a:spcAft>
              <a:defRPr sz="1050" b="1">
                <a:solidFill>
                  <a:srgbClr val="FF6B6B"/>
                </a:solidFill>
              </a:defRPr>
            </a:pPr>
            <a:r>
              <a:rPr lang="en-GB" sz="2400" dirty="0"/>
              <a:t>Part 4: Probabilistic Learning </a:t>
            </a:r>
          </a:p>
          <a:p>
            <a:pPr algn="just">
              <a:spcAft>
                <a:spcPts val="500"/>
              </a:spcAft>
              <a:defRPr sz="850">
                <a:solidFill>
                  <a:srgbClr val="2C3E50"/>
                </a:solidFill>
              </a:defRPr>
            </a:pPr>
            <a:r>
              <a:rPr lang="en-GB" sz="2400" dirty="0"/>
              <a:t>Learning from data: Naive Bayes, HMM, etc.</a:t>
            </a:r>
          </a:p>
          <a:p>
            <a:pPr algn="just">
              <a:spcAft>
                <a:spcPts val="100"/>
              </a:spcAft>
              <a:defRPr sz="1050" b="1">
                <a:solidFill>
                  <a:srgbClr val="FF6B6B"/>
                </a:solidFill>
              </a:defRPr>
            </a:pPr>
            <a:r>
              <a:rPr lang="en-GB" sz="2400" dirty="0"/>
              <a:t>Summary &amp; Applications </a:t>
            </a:r>
          </a:p>
          <a:p>
            <a:pPr algn="just">
              <a:spcAft>
                <a:spcPts val="500"/>
              </a:spcAft>
              <a:defRPr sz="850">
                <a:solidFill>
                  <a:srgbClr val="2C3E50"/>
                </a:solidFill>
              </a:defRPr>
            </a:pPr>
            <a:r>
              <a:rPr lang="en-GB" sz="2400" dirty="0"/>
              <a:t>Real-world systems and when to use each</a:t>
            </a:r>
          </a:p>
        </p:txBody>
      </p:sp>
    </p:spTree>
    <p:extLst>
      <p:ext uri="{BB962C8B-B14F-4D97-AF65-F5344CB8AC3E}">
        <p14:creationId xmlns:p14="http://schemas.microsoft.com/office/powerpoint/2010/main" val="2085034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423341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Probability Basics - Layman's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279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Intuitive Understanding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Probability measures uncertainty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Coin flip: 50% heads, 50% tails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Die roll: Each number 1/6 = 16.7%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Weather: 80% chance of rain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These are EVERYDAY predictions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1"/>
            <a:ext cx="5730240" cy="2793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Technical Definition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P(Event) = number between 0 and 1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P(A) = 0: Never happens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P(A) = 1: Always happens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P(A) = 0.5: 50-50 chance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Must sum to 1 across all outcomes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Coin: P(H) + P(T) = 0.5 + 0.5 = 1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272334F5-1DAE-BA4B-2317-1CB0B43306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322976A-CC56-756F-3524-42217B4D5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19" y="21745"/>
            <a:ext cx="1063199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Probability Examples</a:t>
            </a:r>
          </a:p>
        </p:txBody>
      </p:sp>
      <p:pic>
        <p:nvPicPr>
          <p:cNvPr id="5" name="Picture 4" descr="01_probability_bas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64" y="862757"/>
            <a:ext cx="11826240" cy="5869435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A119FED8-2F9A-5B1F-33DA-7A03446382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74D8057-2407-CC34-B9D6-9693D18AF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613586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Conditional Probability - 'Given That'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5486400" cy="3570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Layman's View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Probabilities CHANGE with new info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Without knowing weather: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P(Happy) = 50%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If I know it's SUNNY: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P(Happy|Sunny) = 80%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If I know it's RAINY: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P(Happy|Rainy) = 20%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Same person, different probabilities!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3311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Technical Definition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P(A|B) = Probability of A given B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Formula: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P(A|B) = P(A and B) / P(B)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Example: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P(Disease|Test+) = P(T+|D)*P(D)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                    / P(T+)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endParaRPr sz="1267"/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The denominator P(B) normalizes</a:t>
            </a:r>
          </a:p>
          <a:p>
            <a:pPr>
              <a:spcAft>
                <a:spcPts val="533"/>
              </a:spcAft>
              <a:defRPr sz="950">
                <a:solidFill>
                  <a:srgbClr val="2C3E50"/>
                </a:solidFill>
              </a:defRPr>
            </a:pPr>
            <a:r>
              <a:rPr sz="1267"/>
              <a:t>the conditional probability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232E19F9-E803-5F36-671E-1D45D56C90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37CD86DB-39AC-818B-2CDF-44DBFF58A2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Conditional &amp; Joint Probability</a:t>
            </a:r>
          </a:p>
        </p:txBody>
      </p:sp>
      <p:pic>
        <p:nvPicPr>
          <p:cNvPr id="5" name="Picture 4" descr="03_conditional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40" y="948050"/>
            <a:ext cx="11460480" cy="6140083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EC10C82B-EED5-16B2-D210-2A4E08911B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EAB09D9B-913D-2C33-B532-ED1367651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60744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Independence - Key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4038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Two events are INDEPENDENT if knowing one doesn't affect the other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EXAMPLES OF INDEPENDENT: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Coin flip 1 and Coin flip 2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  Result of flip 1 doesn't affect flip 2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  P(Heads flip 2 | Heads flip 1) = P(Heads flip 2) = 0.5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Die roll and Weather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  Getting a 6 has nothing to do with rain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  P(Die=6 | Rain) = P(Die=6) = 1/6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spcAft>
                <a:spcPts val="267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EXAMPLES OF DEPENDENT:</a:t>
            </a:r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endParaRPr sz="1200"/>
          </a:p>
          <a:p>
            <a:pPr>
              <a:spcAft>
                <a:spcPts val="267"/>
              </a:spcAft>
              <a:defRPr sz="900">
                <a:solidFill>
                  <a:srgbClr val="2C3E50"/>
                </a:solidFill>
              </a:defRPr>
            </a:pPr>
            <a:r>
              <a:rPr sz="1200"/>
              <a:t>Disease and Test result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  Test is designed to detect disease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  Having disease affects test result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  P(Test+ | Disease) ≠ P(Test+)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D42666CB-0221-989C-A177-5261DCB505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C1E17D5A-E624-51BE-CA3E-7C15B451E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760240" y="42296"/>
            <a:ext cx="10069103" cy="70788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000" dirty="0"/>
              <a:t>6. Bayes Theorem - From Observation to Belief</a:t>
            </a:r>
          </a:p>
        </p:txBody>
      </p:sp>
      <p:pic>
        <p:nvPicPr>
          <p:cNvPr id="5" name="Picture 4" descr="02_bayes_theor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24" y="804133"/>
            <a:ext cx="11866780" cy="6011571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24F1B0E1-C024-FCE2-F339-44692F342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7A5013A-6D64-119A-E0D0-CC532926A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19" y="21745"/>
            <a:ext cx="10539943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7. Bayes Theorem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4848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3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BAYES THEOREM is about UPDATING BELIEFS</a:t>
            </a:r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Before test: P(Disease) = 1% (most people healthy)</a:t>
            </a:r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You take a test and it's POSITIVE</a:t>
            </a:r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Question: Now what's P(Disease | Test Positive)?</a:t>
            </a:r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333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BAYES THEOREM ANSWER:</a:t>
            </a:r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333"/>
              </a:spcAft>
              <a:defRPr sz="850">
                <a:solidFill>
                  <a:srgbClr val="FF6B6B"/>
                </a:solidFill>
                <a:latin typeface="Courier New"/>
              </a:defRPr>
            </a:pPr>
            <a:r>
              <a:rPr sz="1133"/>
              <a:t>P(Disease | Test+) = P(Test+ | Disease) * P(Disease) / P(Test+)</a:t>
            </a:r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333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Components:</a:t>
            </a:r>
          </a:p>
          <a:p>
            <a:pPr>
              <a:spcAft>
                <a:spcPts val="333"/>
              </a:spcAft>
              <a:defRPr sz="850">
                <a:solidFill>
                  <a:srgbClr val="FF6B6B"/>
                </a:solidFill>
                <a:latin typeface="Courier New"/>
              </a:defRPr>
            </a:pPr>
            <a:r>
              <a:rPr sz="1133"/>
              <a:t>P(Test+ | Disease) = 99% (test accuracy, sensitivity)</a:t>
            </a:r>
          </a:p>
          <a:p>
            <a:pPr>
              <a:spcAft>
                <a:spcPts val="333"/>
              </a:spcAft>
              <a:defRPr sz="850">
                <a:solidFill>
                  <a:srgbClr val="FF6B6B"/>
                </a:solidFill>
                <a:latin typeface="Courier New"/>
              </a:defRPr>
            </a:pPr>
            <a:r>
              <a:rPr sz="1133"/>
              <a:t>P(Disease) = 1% (prior, base rate)</a:t>
            </a:r>
          </a:p>
          <a:p>
            <a:pPr>
              <a:spcAft>
                <a:spcPts val="333"/>
              </a:spcAft>
              <a:defRPr sz="850">
                <a:solidFill>
                  <a:srgbClr val="FF6B6B"/>
                </a:solidFill>
                <a:latin typeface="Courier New"/>
              </a:defRPr>
            </a:pPr>
            <a:r>
              <a:rPr sz="1133"/>
              <a:t>P(Test+) = all ways test can be positive</a:t>
            </a:r>
          </a:p>
          <a:p>
            <a:pPr>
              <a:spcAft>
                <a:spcPts val="333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         = 99% * 1% + 10% * 99% = 10.89%</a:t>
            </a:r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333"/>
              </a:spcAft>
              <a:defRPr sz="1000" b="1">
                <a:solidFill>
                  <a:srgbClr val="1E88E5"/>
                </a:solidFill>
              </a:defRPr>
            </a:pPr>
            <a:r>
              <a:rPr sz="1333"/>
              <a:t>Result: P(Disease | Test+) = 0.99 * 0.01 / 0.1089 = 9.1%</a:t>
            </a:r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Still only 9%, not 50% or 99%!</a:t>
            </a:r>
          </a:p>
          <a:p>
            <a:pPr>
              <a:spcAft>
                <a:spcPts val="333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Why? Because disease is RARE (1% base rate)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BE1AB51F-E360-7B03-1A3A-3D1848BABD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FFE11634-E6C7-9E8A-3BC5-E5D93E2F0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8. Bayes in Real World - Medical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5021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950" b="1">
                <a:solidFill>
                  <a:srgbClr val="1E88E5"/>
                </a:solidFill>
              </a:defRPr>
            </a:pPr>
            <a:r>
              <a:rPr sz="1267"/>
              <a:t>SCENARIO: New disease screening test available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50" b="1">
                <a:solidFill>
                  <a:srgbClr val="1E88E5"/>
                </a:solidFill>
              </a:defRPr>
            </a:pPr>
            <a:r>
              <a:rPr sz="1267"/>
              <a:t>FACTS: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Disease prevalence: 1 in 100 people (1%)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Test sensitivity: 99% (catches 99% of sick)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Test specificity: 90% (correct 90% of healthy)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50" b="1">
                <a:solidFill>
                  <a:srgbClr val="1E88E5"/>
                </a:solidFill>
              </a:defRPr>
            </a:pPr>
            <a:r>
              <a:rPr sz="1267"/>
              <a:t>QUESTION: You test POSITIVE. What now?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50" b="1">
                <a:solidFill>
                  <a:srgbClr val="1E88E5"/>
                </a:solidFill>
              </a:defRPr>
            </a:pPr>
            <a:r>
              <a:rPr sz="1267"/>
              <a:t>INTUITION (often wrong):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Test is 99% accurate, so I probably have disease!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BAYES THEOREM (correct):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P(Disease | Positive) =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  P(Positive | Disease) * P(Disease) / P(Positive)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= 0.99 * 0.01 / (0.99*0.01 + 0.10*0.99)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= 0.0099 / 0.1089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= 9.09%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50" b="1">
                <a:solidFill>
                  <a:srgbClr val="1E88E5"/>
                </a:solidFill>
              </a:defRPr>
            </a:pPr>
            <a:r>
              <a:rPr sz="1267"/>
              <a:t>RESULT: Only 9% chance you have disease!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50" b="1">
                <a:solidFill>
                  <a:srgbClr val="1E88E5"/>
                </a:solidFill>
              </a:defRPr>
            </a:pPr>
            <a:r>
              <a:rPr sz="1267"/>
              <a:t>Why so low despite positive test?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Disease is rare (1%), so false positives outnumber true positives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D5C1A992-BA43-24AC-2112-7C27653926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E482619-D67E-592B-1F0F-170BAF259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9. Bayesian Networks - Graphical Models</a:t>
            </a:r>
          </a:p>
        </p:txBody>
      </p:sp>
      <p:pic>
        <p:nvPicPr>
          <p:cNvPr id="5" name="Picture 4" descr="04_bayesian_net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92478"/>
            <a:ext cx="12009120" cy="6488366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7298E1E3-D274-98F6-1463-F0B8DF095A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75368E7-DAFB-0DA0-DFF3-65B79A45C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10. Bayesian Networks - Multiple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4736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PROBLEM: Real world has many variables (weather, sprinkler, grass)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NAIVE APPROACH: Model all combinations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P(W, Spr, G) needs huge number of probabilities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With 3 binary variables: 2^3 = 8 probabilities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With 10 variables: 2^10 = 1024 probabilities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With 100 variables: 2^100 = impossible!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BAYESIAN NETWORKS SOLUTION: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Use structure to reduce number of parameters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EXAMPLE: Rain -&gt; Wet Grass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Rain causes wet grass, but wet grass doesn't cause rain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This STRUCTURE lets us write: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P(W, Sp, G) = P(G | W) * P(W | Sp) * P(Sp)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Only need 3 conditional probability tables!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Far fewer parameters to learn from data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NODES: Variables (Rain, Wet, Grass)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EDGES: Direct influence (Rain affects Wet)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DIRECTION: Cause to effect (not bidirectional)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8764C67E-A85A-58B3-747D-B08C4E951E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921D264-AA0D-6639-D43A-4B050F143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11. Inference in Bayesian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51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INFERENCE: Computing probabilities given observations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EXAMPLE: Smart Home Rain Detection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Network structure: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Rain -&gt; Grass Wet, Rain -&gt; Roof Wet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Known probabilities: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P(Wet Grass | Rain) = 99%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P(Wet Grass | No Rain) = 10% (sprinkler)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P(Rain) = 30%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OBSERVATION: Grass is wet!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QUESTION: What's P(Rain | Grass Wet)?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BAYES THEOREM on the network: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P(Rain | GrassWet) = P(GW|R)*P(R) / P(GW)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= 0.99 * 0.30 / (0.99*0.30 + 0.10*0.70)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= 0.297 / 0.367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= 81%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RESULT: 81% chance it rained!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Much smarter than just looking at wet grass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5FE721C7-8297-22FF-339A-07E15CD19E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EBA68A90-122B-2D35-E478-C91C7CDE23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037032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12. Probabilistic Learning - Learning from Data</a:t>
            </a:r>
          </a:p>
        </p:txBody>
      </p:sp>
      <p:pic>
        <p:nvPicPr>
          <p:cNvPr id="5" name="Picture 4" descr="05_probabilistic_lear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17611"/>
            <a:ext cx="12009120" cy="7018433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1F0AF6BD-6F89-30A2-D385-F3C26ACE4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ACFC883E-6EC2-EAF9-BD46-DCCF11BB59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13. Naive Bayes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5131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NAIVE BAYES: Learn to classify using Bayes theorem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IDEA: Simple, fast, surprisingly effective!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TRAINING: Learn probabilities from data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Dataset: 1000 emails (700 normal, 300 spam)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P(Spam) = 300/1000 = 30%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P(Normal) = 700/1000 = 70%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P("money"|Spam) = how many spam contain "money"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  = 200/300 = 67%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P("money"|Normal) = 20/700 = 3%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CLASSIFICATION: Email has "money" + "urgent"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P(Spam | "money", "urgent") =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  P("money"|Spam) * P("urgent"|Spam) * P(Spam)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  / P("money", "urgent")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If result &gt; 0.5, classify as SPAM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NAIVE ASSUMPTION: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Words are independent (unrealistic but works well!)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DD3D47C1-63CD-E485-5935-401C671967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38ADA35-FD92-2EE8-E4DC-AEE443E29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14. Hidden Markov Models (HMM)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4990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HIDDEN MARKOV MODEL: Probabilistic model for sequences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USE CASE: Speech recognition, DNA sequencing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EXAMPLE: Predicting weather over time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HIDDEN STATE: Actual weather (not observed directly)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</a:defRPr>
            </a:pPr>
            <a:r>
              <a:rPr sz="1067"/>
              <a:t>Sunny -&gt; 80% Sunny tomorrow, 20% Rainy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</a:defRPr>
            </a:pPr>
            <a:r>
              <a:rPr sz="1067"/>
              <a:t>Rainy -&gt; 30% Sunny tomorrow, 70% Rainy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OBSERVATION: What we see (wet grass, umbrella use)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</a:defRPr>
            </a:pPr>
            <a:r>
              <a:rPr sz="1067"/>
              <a:t>If Sunny: 80% chance I see people outside</a:t>
            </a:r>
          </a:p>
          <a:p>
            <a:pPr>
              <a:spcAft>
                <a:spcPts val="267"/>
              </a:spcAft>
              <a:defRPr sz="800">
                <a:solidFill>
                  <a:srgbClr val="4CAF50"/>
                </a:solidFill>
              </a:defRPr>
            </a:pPr>
            <a:r>
              <a:rPr sz="1067"/>
              <a:t>If Rainy: 90% chance I see umbrellas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INFERENCE: What's the actual weather sequence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Given observations: {outside}, {outside}, {umbrella}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Find most likely hidden states: {Sunny, Sunny, Rainy}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DYNAMIC: Probabilities change over time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Previous weather affects current weather (not independent!)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endParaRPr sz="1133"/>
          </a:p>
          <a:p>
            <a:pPr>
              <a:spcAft>
                <a:spcPts val="267"/>
              </a:spcAft>
              <a:defRPr sz="900" b="1">
                <a:solidFill>
                  <a:srgbClr val="1E88E5"/>
                </a:solidFill>
              </a:defRPr>
            </a:pPr>
            <a:r>
              <a:rPr sz="1200"/>
              <a:t>VITERBI ALGORITHM: Efficient computation</a:t>
            </a:r>
          </a:p>
          <a:p>
            <a:pPr>
              <a:spcAft>
                <a:spcPts val="2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Find most likely sequence without checking all possibilities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7EEC8DA8-C43A-0AF9-67AE-5B8E8EAF9A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C8D7DFB-CDAF-1FE6-DD97-5B9C554C9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15. How Everything Connects</a:t>
            </a:r>
          </a:p>
        </p:txBody>
      </p:sp>
      <p:pic>
        <p:nvPicPr>
          <p:cNvPr id="5" name="Picture 4" descr="06_conn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14225"/>
            <a:ext cx="11953924" cy="6022030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B770917E-EDAC-7D99-FB9C-18BAB22C84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EBD2E045-D793-12E6-848F-59381FD92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16. Real-World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3058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200" b="1">
                <a:solidFill>
                  <a:srgbClr val="1E88E5"/>
                </a:solidFill>
              </a:defRPr>
            </a:pPr>
            <a:r>
              <a:rPr sz="1600"/>
              <a:t>Where These Concepts Actually Work</a:t>
            </a:r>
          </a:p>
          <a:p>
            <a:pPr>
              <a:spcAft>
                <a:spcPts val="133"/>
              </a:spcAft>
              <a:defRPr sz="950" b="1">
                <a:solidFill>
                  <a:srgbClr val="FF6B6B"/>
                </a:solidFill>
              </a:defRPr>
            </a:pPr>
            <a:r>
              <a:rPr sz="1267"/>
              <a:t>Medical Diagnosis: Bayes theorem</a:t>
            </a:r>
          </a:p>
          <a:p>
            <a:pPr>
              <a:spcAft>
                <a:spcPts val="533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P(Disease | symptoms, tests)</a:t>
            </a:r>
          </a:p>
          <a:p>
            <a:pPr>
              <a:spcAft>
                <a:spcPts val="133"/>
              </a:spcAft>
              <a:defRPr sz="950" b="1">
                <a:solidFill>
                  <a:srgbClr val="FF6B6B"/>
                </a:solidFill>
              </a:defRPr>
            </a:pPr>
            <a:r>
              <a:rPr sz="1267"/>
              <a:t>Email Spam: Naive Bayes</a:t>
            </a:r>
          </a:p>
          <a:p>
            <a:pPr>
              <a:spcAft>
                <a:spcPts val="533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P(Spam | words in email)</a:t>
            </a:r>
          </a:p>
          <a:p>
            <a:pPr>
              <a:spcAft>
                <a:spcPts val="133"/>
              </a:spcAft>
              <a:defRPr sz="950" b="1">
                <a:solidFill>
                  <a:srgbClr val="FF6B6B"/>
                </a:solidFill>
              </a:defRPr>
            </a:pPr>
            <a:r>
              <a:rPr sz="1267"/>
              <a:t>Speech Recognition: HMM</a:t>
            </a:r>
          </a:p>
          <a:p>
            <a:pPr>
              <a:spcAft>
                <a:spcPts val="533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Hidden words, observed sounds</a:t>
            </a:r>
          </a:p>
          <a:p>
            <a:pPr>
              <a:spcAft>
                <a:spcPts val="133"/>
              </a:spcAft>
              <a:defRPr sz="950" b="1">
                <a:solidFill>
                  <a:srgbClr val="FF6B6B"/>
                </a:solidFill>
              </a:defRPr>
            </a:pPr>
            <a:r>
              <a:rPr sz="1267"/>
              <a:t>Recommendation: Bayesian Networks</a:t>
            </a:r>
          </a:p>
          <a:p>
            <a:pPr>
              <a:spcAft>
                <a:spcPts val="533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Movie preferences, user history</a:t>
            </a:r>
          </a:p>
          <a:p>
            <a:pPr>
              <a:spcAft>
                <a:spcPts val="133"/>
              </a:spcAft>
              <a:defRPr sz="950" b="1">
                <a:solidFill>
                  <a:srgbClr val="FF6B6B"/>
                </a:solidFill>
              </a:defRPr>
            </a:pPr>
            <a:r>
              <a:rPr sz="1267"/>
              <a:t>Autonomous Driving: Prob. Graphical Models</a:t>
            </a:r>
          </a:p>
          <a:p>
            <a:pPr>
              <a:spcAft>
                <a:spcPts val="533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Object detection, trajectory</a:t>
            </a:r>
          </a:p>
          <a:p>
            <a:pPr>
              <a:spcAft>
                <a:spcPts val="133"/>
              </a:spcAft>
              <a:defRPr sz="950" b="1">
                <a:solidFill>
                  <a:srgbClr val="FF6B6B"/>
                </a:solidFill>
              </a:defRPr>
            </a:pPr>
            <a:r>
              <a:rPr sz="1267"/>
              <a:t>NLP Translation: Prob. Models</a:t>
            </a:r>
          </a:p>
          <a:p>
            <a:pPr>
              <a:spcAft>
                <a:spcPts val="533"/>
              </a:spcAft>
              <a:defRPr sz="800">
                <a:solidFill>
                  <a:srgbClr val="4CAF50"/>
                </a:solidFill>
                <a:latin typeface="Courier New"/>
              </a:defRPr>
            </a:pPr>
            <a:r>
              <a:rPr sz="1067"/>
              <a:t>Hidden meaning, observed words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D55DBBE3-6C38-3C62-7C53-7BA10ADD6D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06F0FBD3-01BC-AC82-A28A-3B65204B3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17.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3307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200" b="1">
                <a:solidFill>
                  <a:srgbClr val="FF6B6B"/>
                </a:solidFill>
              </a:defRPr>
            </a:pPr>
            <a:r>
              <a:rPr sz="1600"/>
              <a:t>Golden Rules of Probabilistic Reasoning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Probability = Uncertainty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Between 0 (never) and 1 (always)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Conditional P(A|B) Changes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New info updates probabilities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Bayes Theorem Updates Beliefs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Prior + Evidence -&gt; Posterior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Base Rate Matters!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Rare events stay rare despite evidence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Networks Handle Complexity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Structure reduces parameters</a:t>
            </a:r>
          </a:p>
          <a:p>
            <a:pPr>
              <a:spcAft>
                <a:spcPts val="133"/>
              </a:spcAft>
              <a:defRPr sz="1000" b="1">
                <a:solidFill>
                  <a:srgbClr val="4CAF50"/>
                </a:solidFill>
              </a:defRPr>
            </a:pPr>
            <a:r>
              <a:rPr sz="1333"/>
              <a:t>Learning Estimates Probabilities</a:t>
            </a:r>
          </a:p>
          <a:p>
            <a:pPr>
              <a:spcAft>
                <a:spcPts val="667"/>
              </a:spcAft>
              <a:defRPr sz="850">
                <a:solidFill>
                  <a:srgbClr val="2C3E50"/>
                </a:solidFill>
              </a:defRPr>
            </a:pPr>
            <a:r>
              <a:rPr sz="1133"/>
              <a:t>Naive Bayes from data is practical</a:t>
            </a:r>
          </a:p>
        </p:txBody>
      </p:sp>
      <p:sp>
        <p:nvSpPr>
          <p:cNvPr id="7" name="Google Shape;107;p3">
            <a:extLst>
              <a:ext uri="{FF2B5EF4-FFF2-40B4-BE49-F238E27FC236}">
                <a16:creationId xmlns:a16="http://schemas.microsoft.com/office/drawing/2014/main" id="{BD1E39F8-35D0-6D96-DF6D-D22C38E35A76}"/>
              </a:ext>
            </a:extLst>
          </p:cNvPr>
          <p:cNvSpPr txBox="1"/>
          <p:nvPr/>
        </p:nvSpPr>
        <p:spPr>
          <a:xfrm>
            <a:off x="0" y="6381386"/>
            <a:ext cx="12192000" cy="46162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chemeClr val="lt1"/>
              </a:buClr>
              <a:buSzPts val="2400"/>
            </a:pPr>
            <a:r>
              <a:rPr lang="en-US" sz="2400" b="1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www.lpu.in                                    			     	         Lovely Professional University </a:t>
            </a:r>
            <a:endParaRPr dirty="0"/>
          </a:p>
        </p:txBody>
      </p:sp>
      <p:pic>
        <p:nvPicPr>
          <p:cNvPr id="8" name="Picture 2" descr="LPU Distance Education| Recognitions &amp; Approvals">
            <a:extLst>
              <a:ext uri="{FF2B5EF4-FFF2-40B4-BE49-F238E27FC236}">
                <a16:creationId xmlns:a16="http://schemas.microsoft.com/office/drawing/2014/main" id="{B9DA2086-3FAD-B4D9-C577-329FF6A3C1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C5B75437-6E78-AE5F-9C5C-4A8E647F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1613</Words>
  <Application>Microsoft Office PowerPoint</Application>
  <PresentationFormat>Widescreen</PresentationFormat>
  <Paragraphs>265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Bharti</dc:creator>
  <cp:lastModifiedBy>Rohit Bharti</cp:lastModifiedBy>
  <cp:revision>32</cp:revision>
  <dcterms:created xsi:type="dcterms:W3CDTF">2026-01-17T01:15:52Z</dcterms:created>
  <dcterms:modified xsi:type="dcterms:W3CDTF">2026-01-17T04:01:33Z</dcterms:modified>
</cp:coreProperties>
</file>