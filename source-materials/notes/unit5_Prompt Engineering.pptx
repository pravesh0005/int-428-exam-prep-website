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4098" r:id="rId2"/>
    <p:sldId id="4099" r:id="rId3"/>
    <p:sldId id="4100" r:id="rId4"/>
    <p:sldId id="4101" r:id="rId5"/>
    <p:sldId id="4102" r:id="rId6"/>
    <p:sldId id="4103" r:id="rId7"/>
    <p:sldId id="4104" r:id="rId8"/>
    <p:sldId id="4105" r:id="rId9"/>
    <p:sldId id="4106" r:id="rId10"/>
    <p:sldId id="4108" r:id="rId11"/>
    <p:sldId id="4109" r:id="rId12"/>
    <p:sldId id="4110" r:id="rId13"/>
    <p:sldId id="4111" r:id="rId14"/>
    <p:sldId id="4112" r:id="rId15"/>
    <p:sldId id="4113" r:id="rId16"/>
    <p:sldId id="4114" r:id="rId17"/>
    <p:sldId id="4115" r:id="rId18"/>
    <p:sldId id="4116" r:id="rId19"/>
    <p:sldId id="4117" r:id="rId20"/>
    <p:sldId id="4118" r:id="rId21"/>
    <p:sldId id="4119" r:id="rId22"/>
    <p:sldId id="4120" r:id="rId23"/>
    <p:sldId id="4121" r:id="rId24"/>
    <p:sldId id="4122" r:id="rId25"/>
    <p:sldId id="4123" r:id="rId26"/>
    <p:sldId id="4124" r:id="rId27"/>
    <p:sldId id="4125" r:id="rId28"/>
    <p:sldId id="4126" r:id="rId29"/>
    <p:sldId id="4127" r:id="rId30"/>
    <p:sldId id="412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075" autoAdjust="0"/>
    <p:restoredTop sz="94660"/>
  </p:normalViewPr>
  <p:slideViewPr>
    <p:cSldViewPr snapToGrid="0">
      <p:cViewPr varScale="1">
        <p:scale>
          <a:sx n="62" d="100"/>
          <a:sy n="62" d="100"/>
        </p:scale>
        <p:origin x="-868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9468A-9892-4D21-BC6A-859AA3451EBF}" type="datetimeFigureOut">
              <a:rPr lang="id-ID" smtClean="0"/>
              <a:pPr/>
              <a:t>16/02/2026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1B4D9-93DE-4908-8A65-321CD887046A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</a:t>
            </a:fld>
            <a:endParaRPr lang="id-ID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3</a:t>
            </a:fld>
            <a:endParaRPr lang="id-ID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4</a:t>
            </a:fld>
            <a:endParaRPr lang="id-ID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5</a:t>
            </a:fld>
            <a:endParaRPr lang="id-ID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6</a:t>
            </a:fld>
            <a:endParaRPr lang="id-ID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7</a:t>
            </a:fld>
            <a:endParaRPr lang="id-ID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8</a:t>
            </a:fld>
            <a:endParaRPr lang="id-ID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9</a:t>
            </a:fld>
            <a:endParaRPr lang="id-ID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10</a:t>
            </a:fld>
            <a:endParaRPr lang="id-ID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11</a:t>
            </a:fld>
            <a:endParaRPr lang="id-ID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12</a:t>
            </a:fld>
            <a:endParaRPr lang="id-ID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13</a:t>
            </a:fld>
            <a:endParaRPr lang="id-ID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14</a:t>
            </a:fld>
            <a:endParaRPr lang="id-ID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15</a:t>
            </a:fld>
            <a:endParaRPr lang="id-ID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16</a:t>
            </a:fld>
            <a:endParaRPr lang="id-ID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17</a:t>
            </a:fld>
            <a:endParaRPr lang="id-ID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18</a:t>
            </a:fld>
            <a:endParaRPr lang="id-ID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19</a:t>
            </a:fld>
            <a:endParaRPr lang="id-ID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20</a:t>
            </a:fld>
            <a:endParaRPr lang="id-ID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21</a:t>
            </a:fld>
            <a:endParaRPr lang="id-ID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22</a:t>
            </a:fld>
            <a:endParaRPr lang="id-ID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23</a:t>
            </a:fld>
            <a:endParaRPr lang="id-ID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24</a:t>
            </a:fld>
            <a:endParaRPr lang="id-ID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25</a:t>
            </a:fld>
            <a:endParaRPr lang="id-ID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26</a:t>
            </a:fld>
            <a:endParaRPr lang="id-ID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27</a:t>
            </a:fld>
            <a:endParaRPr lang="id-ID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28</a:t>
            </a:fld>
            <a:endParaRPr lang="id-ID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29</a:t>
            </a:fld>
            <a:endParaRPr lang="id-ID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30</a:t>
            </a:fld>
            <a:endParaRPr lang="id-I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xmlns="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816007B5-870C-4B88-9096-1F3BFF314FCC}"/>
              </a:ext>
            </a:extLst>
          </p:cNvPr>
          <p:cNvSpPr txBox="1">
            <a:spLocks noChangeArrowheads="1"/>
          </p:cNvSpPr>
          <p:nvPr/>
        </p:nvSpPr>
        <p:spPr>
          <a:xfrm>
            <a:off x="1358054" y="952309"/>
            <a:ext cx="9558085" cy="664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6" name="AutoShape 2" descr="Prompt Engineering: Guide to Effective ..."/>
          <p:cNvSpPr>
            <a:spLocks noChangeAspect="1" noChangeArrowheads="1"/>
          </p:cNvSpPr>
          <p:nvPr/>
        </p:nvSpPr>
        <p:spPr bwMode="auto">
          <a:xfrm>
            <a:off x="155575" y="-762000"/>
            <a:ext cx="2867025" cy="159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7" name="Picture 6" descr="prompt-engineerin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202" y="1921267"/>
            <a:ext cx="8408235" cy="394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is the practice of: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Designing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Structuring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Refining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inputs (prompts)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to guide large language models (LLMs) to produce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accurate, relevant, and reliable outputs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Why Prompt Engineering Emerged:</a:t>
            </a:r>
          </a:p>
          <a:p>
            <a:pPr>
              <a:buNone/>
            </a:pP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LLMs are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general-purpose models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Same model → very different outputs based on prompt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Models do not reason unless guided properly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Fine-tuning is expensive → prompts are lightweight control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Fundamentals of a Prompt: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prompt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is any input provided to a language model that: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Gives context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Sets expectations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Specifies the task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Guides the output format</a:t>
            </a:r>
          </a:p>
          <a:p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Examples: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Questions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Instructions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Role-based commands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Few-shot examples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Types of Prompts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Zero-shot prompt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→ No examples given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One-shot prompt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→ One example provided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Few-shot prompt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→ Multiple examples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Instruction-based prompt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Role-based prompt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Simple Prompt </a:t>
            </a:r>
            <a:r>
              <a:rPr lang="en-IN" b="1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Engineered Prompt:</a:t>
            </a:r>
          </a:p>
          <a:p>
            <a:pPr>
              <a:buNone/>
            </a:pP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Simple Prompt: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“Explain machine learning”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Engineered Prompt: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“Explain machine learning in simple terms for undergraduate students using real-world examples.”</a:t>
            </a:r>
          </a:p>
          <a:p>
            <a:pPr>
              <a:buNone/>
            </a:pPr>
            <a:endParaRPr lang="en-IN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*Prompt quality directly affects output quality.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Importance of Prompt Engineering:</a:t>
            </a:r>
          </a:p>
          <a:p>
            <a:pPr>
              <a:buNone/>
            </a:pP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Prompt Engineering helps to: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Improve accuracy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Reduce hallucinations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Control tone and style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Customize outputs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Save cost and time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Business &amp; Academic Impact:</a:t>
            </a:r>
          </a:p>
          <a:p>
            <a:pPr>
              <a:buNone/>
            </a:pP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Better AI-assisted writing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Reliable decision support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Improved automation workflows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Enhanced learning experiences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Domain-specific outputs without retraining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571" y="354850"/>
            <a:ext cx="10515600" cy="1325563"/>
          </a:xfrm>
        </p:spPr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516" y="1680413"/>
            <a:ext cx="10515600" cy="6107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Prompt Engineering vs Model Training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25133" y="2401579"/>
          <a:ext cx="9444234" cy="3197835"/>
        </p:xfrm>
        <a:graphic>
          <a:graphicData uri="http://schemas.openxmlformats.org/drawingml/2006/table">
            <a:tbl>
              <a:tblPr/>
              <a:tblGrid>
                <a:gridCol w="3148078"/>
                <a:gridCol w="3148078"/>
                <a:gridCol w="3148078"/>
              </a:tblGrid>
              <a:tr h="639567">
                <a:tc>
                  <a:txBody>
                    <a:bodyPr/>
                    <a:lstStyle/>
                    <a:p>
                      <a:r>
                        <a:rPr lang="id-ID" sz="2000" b="1" dirty="0">
                          <a:latin typeface="Times New Roman" pitchFamily="18" charset="0"/>
                          <a:cs typeface="Times New Roman" pitchFamily="18" charset="0"/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 sz="2000" b="1" dirty="0">
                          <a:latin typeface="Times New Roman" pitchFamily="18" charset="0"/>
                          <a:cs typeface="Times New Roman" pitchFamily="18" charset="0"/>
                        </a:rPr>
                        <a:t>Prompt Engineering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 sz="2000" b="1" dirty="0">
                          <a:latin typeface="Times New Roman" pitchFamily="18" charset="0"/>
                          <a:cs typeface="Times New Roman" pitchFamily="18" charset="0"/>
                        </a:rPr>
                        <a:t>Model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9567">
                <a:tc>
                  <a:txBody>
                    <a:bodyPr/>
                    <a:lstStyle/>
                    <a:p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9567">
                <a:tc>
                  <a:txBody>
                    <a:bodyPr/>
                    <a:lstStyle/>
                    <a:p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Immediate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9567"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9567"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Skill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Domain expertise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ML expertise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anguage Models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What are Language Models?</a:t>
            </a:r>
          </a:p>
          <a:p>
            <a:pPr>
              <a:buNone/>
            </a:pP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Language Models are AI systems that: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Learn statistical patterns in text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Predict the next token in a sequence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Generate human-like language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Evolution of Language Models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N-gram models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RNNs / LSTMs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Transformers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Large Language Models (LLMs)</a:t>
            </a:r>
          </a:p>
          <a:p>
            <a:pPr>
              <a:buNone/>
            </a:pP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id-ID" i="1" dirty="0" smtClean="0">
                <a:latin typeface="Times New Roman" pitchFamily="18" charset="0"/>
                <a:cs typeface="Times New Roman" pitchFamily="18" charset="0"/>
              </a:rPr>
              <a:t>Transformers enabled scale and context awareness.</a:t>
            </a:r>
            <a:endParaRPr lang="id-ID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Examples of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GPT series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BERT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T5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LLaMA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PaLM</a:t>
            </a:r>
            <a:endParaRPr lang="id-ID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How Language Models Process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Prompt is tokenized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Tokens converted to embeddings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Attention mechanism captures context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Probability distribution generated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Output tokens selected iteratively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id-ID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id-ID" sz="3200" b="1" i="1" dirty="0" smtClean="0">
                <a:latin typeface="Times New Roman" pitchFamily="18" charset="0"/>
                <a:cs typeface="Times New Roman" pitchFamily="18" charset="0"/>
              </a:rPr>
              <a:t>Models do not “understand” — they predict</a:t>
            </a:r>
            <a:r>
              <a:rPr lang="id-ID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id-ID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Key Elements of a Good Prompt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Clarity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Context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Role specification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Task definition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Constraints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Output format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Clarity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Avoid ambiguity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Use precise language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Define technical terms if needed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❌ “Explain AI briefly”</a:t>
            </a: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✅ “Explain AI in 5 bullet points for beginners”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Context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Providing background improves relevance.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“You are teaching an undergraduate AI course. Explain neural networks.”</a:t>
            </a:r>
          </a:p>
          <a:p>
            <a:pPr>
              <a:buNone/>
            </a:pPr>
            <a:endParaRPr lang="en-IN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b="1" i="1" dirty="0" smtClean="0">
                <a:latin typeface="Times New Roman" pitchFamily="18" charset="0"/>
                <a:cs typeface="Times New Roman" pitchFamily="18" charset="0"/>
              </a:rPr>
              <a:t>Context narrows the model’s response space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Role Specification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Assigning a role improves tone and expertise.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“Act as a professor”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“Act as a medical expert”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“Act as a software architect”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Task Definition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Explicitly state what you want</a:t>
            </a: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Explain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Summarize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Compare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Generate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Critique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Constraints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Constraints guide output quality: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Length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Format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Language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Complexity</a:t>
            </a:r>
          </a:p>
          <a:p>
            <a:pPr>
              <a:buNone/>
            </a:pP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“Explain in 150 words using simple language.”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Output Format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Specifying format avoids rework.</a:t>
            </a:r>
          </a:p>
          <a:p>
            <a:pPr>
              <a:buNone/>
            </a:pP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Bullet points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Table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Step-by-step</a:t>
            </a:r>
          </a:p>
          <a:p>
            <a:r>
              <a:rPr lang="en-IN" sz="3200" dirty="0" err="1" smtClean="0">
                <a:latin typeface="Times New Roman" pitchFamily="18" charset="0"/>
                <a:cs typeface="Times New Roman" pitchFamily="18" charset="0"/>
              </a:rPr>
              <a:t>Pseudocode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Prompt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Prompt patterns are </a:t>
            </a:r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reusable prompt templates</a:t>
            </a: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 designed to solve recurring problems efficiently.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i="1" dirty="0" smtClean="0">
                <a:latin typeface="Times New Roman" pitchFamily="18" charset="0"/>
                <a:cs typeface="Times New Roman" pitchFamily="18" charset="0"/>
              </a:rPr>
              <a:t>Similar to design patterns in software engineering.</a:t>
            </a:r>
            <a:endParaRPr lang="id-ID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Common Prompt Patterns</a:t>
            </a:r>
          </a:p>
          <a:p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Role Prompt</a:t>
            </a:r>
          </a:p>
          <a:p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Few-shot Prompt</a:t>
            </a:r>
          </a:p>
          <a:p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Chain-of-Thought Prompt</a:t>
            </a:r>
          </a:p>
          <a:p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Critique &amp; Refine Prompt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Role Prompt Pattern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Structure:</a:t>
            </a: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“You are a [role]. Perform [task].”</a:t>
            </a:r>
          </a:p>
          <a:p>
            <a:pPr>
              <a:buNone/>
            </a:pP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“You are an AI ethics researcher. Analyze the risks of </a:t>
            </a:r>
            <a:r>
              <a:rPr lang="en-IN" sz="3200" dirty="0" err="1" smtClean="0">
                <a:latin typeface="Times New Roman" pitchFamily="18" charset="0"/>
                <a:cs typeface="Times New Roman" pitchFamily="18" charset="0"/>
              </a:rPr>
              <a:t>deepfakes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.”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Few-Shot Prompt Pattern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Provides examples before the task.</a:t>
            </a:r>
          </a:p>
          <a:p>
            <a:pPr>
              <a:buNone/>
            </a:pP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Input: Text</a:t>
            </a:r>
          </a:p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Output: Summary</a:t>
            </a:r>
          </a:p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Input: New text</a:t>
            </a:r>
          </a:p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Output: New Output</a:t>
            </a:r>
          </a:p>
          <a:p>
            <a:pPr>
              <a:buNone/>
            </a:pP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200" b="1" i="1" dirty="0" smtClean="0">
                <a:latin typeface="Times New Roman" pitchFamily="18" charset="0"/>
                <a:cs typeface="Times New Roman" pitchFamily="18" charset="0"/>
              </a:rPr>
              <a:t>Helps model learn style and structure.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Chain-of-Thought Prompt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Encourages step-by-step reasoning.</a:t>
            </a:r>
          </a:p>
          <a:p>
            <a:pPr>
              <a:buNone/>
            </a:pP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“Solve the problem step by step and explain your reasoning.”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Benefits: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Better reasoning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Reduced errors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Critique &amp; Improve Pattern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Two-step prompting: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Generate answer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Critique and refine</a:t>
            </a:r>
          </a:p>
          <a:p>
            <a:pPr>
              <a:buNone/>
            </a:pP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“Generate an answer, then review it for accuracy.”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Prompt Tuning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Prompt Tuning is: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Systematic optimization of prompts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Without modifying model weights</a:t>
            </a:r>
          </a:p>
          <a:p>
            <a:pPr>
              <a:buNone/>
            </a:pP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i="1" dirty="0" smtClean="0">
                <a:latin typeface="Times New Roman" pitchFamily="18" charset="0"/>
                <a:cs typeface="Times New Roman" pitchFamily="18" charset="0"/>
              </a:rPr>
              <a:t>It is a lightweight alternative to fine-tuning.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Types of Prompt Tuning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Manual prompt refinement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Soft prompts (learnable embeddings)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Automated prompt optimization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Soft Prompt Tuning (Conceptual)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Prompts represented as vectors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Learned during training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Used mainly in research and enterprise systems</a:t>
            </a:r>
          </a:p>
          <a:p>
            <a:pPr>
              <a:buNone/>
            </a:pP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200" b="1" i="1" dirty="0" smtClean="0">
                <a:latin typeface="Times New Roman" pitchFamily="18" charset="0"/>
                <a:cs typeface="Times New Roman" pitchFamily="18" charset="0"/>
              </a:rPr>
              <a:t>Invisible to users but highly effective.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Challenges in Prompt Engineering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Sensitivity to wording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Lack of robustness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Bias amplification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Hallucinations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Prompt leakage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Future of Prompt Engineering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Automated prompt discovery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Prompt libraries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Domain-specific prompt frameworks</a:t>
            </a:r>
          </a:p>
          <a:p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Integration with AI agents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18293</TotalTime>
  <Words>731</Words>
  <Application>Microsoft Office PowerPoint</Application>
  <PresentationFormat>Custom</PresentationFormat>
  <Paragraphs>260</Paragraphs>
  <Slides>30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1_Office Theme</vt:lpstr>
      <vt:lpstr>Slide 1</vt:lpstr>
      <vt:lpstr>Prompt Engineering</vt:lpstr>
      <vt:lpstr>Prompt Engineering</vt:lpstr>
      <vt:lpstr>Prompt Engineering</vt:lpstr>
      <vt:lpstr>Prompt Engineering</vt:lpstr>
      <vt:lpstr>Prompt Engineering</vt:lpstr>
      <vt:lpstr>Prompt Engineering</vt:lpstr>
      <vt:lpstr>Prompt Engineering</vt:lpstr>
      <vt:lpstr>Prompt Engineering</vt:lpstr>
      <vt:lpstr>Language Models</vt:lpstr>
      <vt:lpstr>Evolution of Language Models</vt:lpstr>
      <vt:lpstr>Examples of Language Models</vt:lpstr>
      <vt:lpstr>How Language Models Process Prompts</vt:lpstr>
      <vt:lpstr>Key Elements of a Good Prompt</vt:lpstr>
      <vt:lpstr>Clarity</vt:lpstr>
      <vt:lpstr>Context</vt:lpstr>
      <vt:lpstr>Role Specification</vt:lpstr>
      <vt:lpstr>Task Definition</vt:lpstr>
      <vt:lpstr>Constraints</vt:lpstr>
      <vt:lpstr>Output Format</vt:lpstr>
      <vt:lpstr>Prompt Patterns</vt:lpstr>
      <vt:lpstr>Role Prompt Pattern</vt:lpstr>
      <vt:lpstr>Few-Shot Prompt Pattern</vt:lpstr>
      <vt:lpstr>Chain-of-Thought Prompt</vt:lpstr>
      <vt:lpstr>Critique &amp; Improve Pattern</vt:lpstr>
      <vt:lpstr>Prompt Tuning</vt:lpstr>
      <vt:lpstr>Types of Prompt Tuning</vt:lpstr>
      <vt:lpstr>Soft Prompt Tuning (Conceptual)</vt:lpstr>
      <vt:lpstr>Challenges in Prompt Engineering</vt:lpstr>
      <vt:lpstr>Future of Prompt Engineering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acer1</cp:lastModifiedBy>
  <cp:revision>187</cp:revision>
  <dcterms:created xsi:type="dcterms:W3CDTF">2024-12-19T08:47:23Z</dcterms:created>
  <dcterms:modified xsi:type="dcterms:W3CDTF">2026-02-16T06:49:34Z</dcterms:modified>
</cp:coreProperties>
</file>