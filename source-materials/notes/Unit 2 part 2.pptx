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7"/>
  </p:notesMasterIdLst>
  <p:sldIdLst>
    <p:sldId id="315" r:id="rId2"/>
    <p:sldId id="328" r:id="rId3"/>
    <p:sldId id="332" r:id="rId4"/>
    <p:sldId id="333" r:id="rId5"/>
    <p:sldId id="350" r:id="rId6"/>
    <p:sldId id="337" r:id="rId7"/>
    <p:sldId id="345" r:id="rId8"/>
    <p:sldId id="339" r:id="rId9"/>
    <p:sldId id="340" r:id="rId10"/>
    <p:sldId id="341" r:id="rId11"/>
    <p:sldId id="342" r:id="rId12"/>
    <p:sldId id="343" r:id="rId13"/>
    <p:sldId id="346" r:id="rId14"/>
    <p:sldId id="347" r:id="rId15"/>
    <p:sldId id="34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7065A0-0FB6-479C-94EE-A928E2968C6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0A5B3-5703-4794-9577-20FBA9A56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534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6B49-B4BB-43EB-8053-8FB380CAB90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A1BD-DB87-4C0A-B300-96DC127E6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055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6B49-B4BB-43EB-8053-8FB380CAB90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A1BD-DB87-4C0A-B300-96DC127E6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935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6B49-B4BB-43EB-8053-8FB380CAB90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A1BD-DB87-4C0A-B300-96DC127E6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954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6B49-B4BB-43EB-8053-8FB380CAB90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A1BD-DB87-4C0A-B300-96DC127E6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069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6B49-B4BB-43EB-8053-8FB380CAB90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A1BD-DB87-4C0A-B300-96DC127E6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854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6B49-B4BB-43EB-8053-8FB380CAB90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A1BD-DB87-4C0A-B300-96DC127E6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981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6B49-B4BB-43EB-8053-8FB380CAB90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A1BD-DB87-4C0A-B300-96DC127E6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987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6B49-B4BB-43EB-8053-8FB380CAB90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A1BD-DB87-4C0A-B300-96DC127E6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748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6B49-B4BB-43EB-8053-8FB380CAB90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A1BD-DB87-4C0A-B300-96DC127E6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623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6B49-B4BB-43EB-8053-8FB380CAB90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A1BD-DB87-4C0A-B300-96DC127E6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983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6B49-B4BB-43EB-8053-8FB380CAB90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A1BD-DB87-4C0A-B300-96DC127E6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8176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259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97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5690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57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750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7C6B49-B4BB-43EB-8053-8FB380CAB90B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1DA1BD-DB87-4C0A-B300-96DC127E6E0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440749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F869A217-3E71-D884-36C0-760D29A06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550863"/>
            <a:ext cx="10806113" cy="1054100"/>
          </a:xfrm>
        </p:spPr>
        <p:txBody>
          <a:bodyPr/>
          <a:lstStyle/>
          <a:p>
            <a:r>
              <a:rPr lang="en-US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Informed Search Strategies</a:t>
            </a:r>
            <a:endParaRPr lang="en-IN" altLang="en-US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A1B206E6-FA29-3F38-895B-8390843E38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heuristics to guide search efficiently.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Leverages problem-specific knowledge for solutions.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cost or distance to goal.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search space and computation time.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complex, large-scale problems.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Eg: Network Routing, Medical Diagnosis</a:t>
            </a:r>
          </a:p>
        </p:txBody>
      </p:sp>
      <p:pic>
        <p:nvPicPr>
          <p:cNvPr id="18436" name="Picture 2">
            <a:extLst>
              <a:ext uri="{FF2B5EF4-FFF2-40B4-BE49-F238E27FC236}">
                <a16:creationId xmlns:a16="http://schemas.microsoft.com/office/drawing/2014/main" id="{9794C67D-378D-286F-25B2-C39588B50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4313" y="1604963"/>
            <a:ext cx="3503612" cy="412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D9AFF98-9C78-2AF0-0229-A49DEC5DD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50862"/>
            <a:ext cx="10806113" cy="2035021"/>
          </a:xfrm>
          <a:prstGeom prst="rect">
            <a:avLst/>
          </a:prstGeom>
          <a:noFill/>
          <a:ln>
            <a:noFill/>
          </a:ln>
        </p:spPr>
        <p:txBody>
          <a:bodyPr lIns="81720" tIns="42480" rIns="81720" bIns="42480" anchor="ctr"/>
          <a:lstStyle>
            <a:lvl1pPr algn="ctr" defTabSz="449263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0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defTabSz="449263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000">
                <a:solidFill>
                  <a:srgbClr val="000000"/>
                </a:solidFill>
                <a:latin typeface="Calibri" pitchFamily="32" charset="0"/>
                <a:ea typeface="Lucida Sans Unicode" pitchFamily="32" charset="0"/>
                <a:cs typeface="Lucida Sans Unicode" pitchFamily="32" charset="0"/>
              </a:defRPr>
            </a:lvl2pPr>
            <a:lvl3pPr algn="ctr" defTabSz="449263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000">
                <a:solidFill>
                  <a:srgbClr val="000000"/>
                </a:solidFill>
                <a:latin typeface="Calibri" pitchFamily="32" charset="0"/>
                <a:ea typeface="Lucida Sans Unicode" pitchFamily="32" charset="0"/>
                <a:cs typeface="Lucida Sans Unicode" pitchFamily="32" charset="0"/>
              </a:defRPr>
            </a:lvl3pPr>
            <a:lvl4pPr algn="ctr" defTabSz="449263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000">
                <a:solidFill>
                  <a:srgbClr val="000000"/>
                </a:solidFill>
                <a:latin typeface="Calibri" pitchFamily="32" charset="0"/>
                <a:ea typeface="Lucida Sans Unicode" pitchFamily="32" charset="0"/>
                <a:cs typeface="Lucida Sans Unicode" pitchFamily="32" charset="0"/>
              </a:defRPr>
            </a:lvl4pPr>
            <a:lvl5pPr algn="ctr" defTabSz="449263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000">
                <a:solidFill>
                  <a:srgbClr val="000000"/>
                </a:solidFill>
                <a:latin typeface="Calibri" pitchFamily="32" charset="0"/>
                <a:ea typeface="Lucida Sans Unicode" pitchFamily="32" charset="0"/>
                <a:cs typeface="Lucida Sans Unicode" pitchFamily="32" charset="0"/>
              </a:defRPr>
            </a:lvl5pPr>
            <a:lvl6pPr marL="2514600" indent="-228600" algn="ctr" defTabSz="449263" rtl="0" eaLnBrk="1" fontAlgn="base" hangingPunct="1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4000">
                <a:solidFill>
                  <a:srgbClr val="000000"/>
                </a:solidFill>
                <a:latin typeface="Calibri" pitchFamily="32" charset="0"/>
                <a:ea typeface="Lucida Sans Unicode" pitchFamily="32" charset="0"/>
                <a:cs typeface="Lucida Sans Unicode" pitchFamily="32" charset="0"/>
              </a:defRPr>
            </a:lvl6pPr>
            <a:lvl7pPr marL="2971800" indent="-228600" algn="ctr" defTabSz="449263" rtl="0" eaLnBrk="1" fontAlgn="base" hangingPunct="1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4000">
                <a:solidFill>
                  <a:srgbClr val="000000"/>
                </a:solidFill>
                <a:latin typeface="Calibri" pitchFamily="32" charset="0"/>
                <a:ea typeface="Lucida Sans Unicode" pitchFamily="32" charset="0"/>
                <a:cs typeface="Lucida Sans Unicode" pitchFamily="32" charset="0"/>
              </a:defRPr>
            </a:lvl7pPr>
            <a:lvl8pPr marL="3429000" indent="-228600" algn="ctr" defTabSz="449263" rtl="0" eaLnBrk="1" fontAlgn="base" hangingPunct="1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4000">
                <a:solidFill>
                  <a:srgbClr val="000000"/>
                </a:solidFill>
                <a:latin typeface="Calibri" pitchFamily="32" charset="0"/>
                <a:ea typeface="Lucida Sans Unicode" pitchFamily="32" charset="0"/>
                <a:cs typeface="Lucida Sans Unicode" pitchFamily="32" charset="0"/>
              </a:defRPr>
            </a:lvl8pPr>
            <a:lvl9pPr marL="3886200" indent="-228600" algn="ctr" defTabSz="449263" rtl="0" eaLnBrk="1" fontAlgn="base" hangingPunct="1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4000">
                <a:solidFill>
                  <a:srgbClr val="000000"/>
                </a:solidFill>
                <a:latin typeface="Calibri" pitchFamily="32" charset="0"/>
                <a:ea typeface="Lucida Sans Unicode" pitchFamily="32" charset="0"/>
                <a:cs typeface="Lucida Sans Unicode" pitchFamily="32" charset="0"/>
              </a:defRPr>
            </a:lvl9pPr>
          </a:lstStyle>
          <a:p>
            <a:pPr>
              <a:defRPr/>
            </a:pPr>
            <a:endParaRPr lang="en-IN" altLang="en-US" b="1" u="sng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893F80B2-CF5A-A1A8-6C49-9E4DAF8181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550863"/>
            <a:ext cx="10806113" cy="1054100"/>
          </a:xfrm>
        </p:spPr>
        <p:txBody>
          <a:bodyPr/>
          <a:lstStyle/>
          <a:p>
            <a:r>
              <a:rPr lang="en-IN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Heuristic functions 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B6DF08F8-FB05-7251-6CDC-656AE23887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604963"/>
            <a:ext cx="10806113" cy="46228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minimal cost from node n</a:t>
            </a:r>
          </a:p>
          <a:p>
            <a:pP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the search space significantly</a:t>
            </a:r>
          </a:p>
          <a:p>
            <a:pP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Heuristics find good solutions efficiently.</a:t>
            </a:r>
          </a:p>
          <a:p>
            <a:pP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proximity from current state to goal.</a:t>
            </a:r>
          </a:p>
          <a:p>
            <a:pPr marL="0" indent="0" algn="ctr"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h(n)=Estimated cost from state n to the goal</a:t>
            </a:r>
          </a:p>
        </p:txBody>
      </p:sp>
      <p:pic>
        <p:nvPicPr>
          <p:cNvPr id="19460" name="Picture 2">
            <a:extLst>
              <a:ext uri="{FF2B5EF4-FFF2-40B4-BE49-F238E27FC236}">
                <a16:creationId xmlns:a16="http://schemas.microsoft.com/office/drawing/2014/main" id="{A953307B-3F1B-50CB-1497-CA0F26007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063" y="2012951"/>
            <a:ext cx="4129087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705311E3-648D-C84C-C9C5-48C09375F2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595313"/>
            <a:ext cx="10806113" cy="728662"/>
          </a:xfrm>
        </p:spPr>
        <p:txBody>
          <a:bodyPr/>
          <a:lstStyle/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Heuristic search:</a:t>
            </a:r>
            <a:endParaRPr lang="en-I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E12D1152-F1B1-82BB-EF46-A34E208FA5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04938"/>
            <a:ext cx="10806113" cy="4402137"/>
          </a:xfrm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Heuristic search improves search process efficiency.</a:t>
            </a: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Sacrifices completeness for better performance.</a:t>
            </a: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Heuristics act as problem-solving guides.</a:t>
            </a: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Provides good non-optimal solutions quickly.</a:t>
            </a: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Handles hard problems in reduced time.</a:t>
            </a: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Avoids exponential complexity through heuristics.</a:t>
            </a:r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4">
            <a:extLst>
              <a:ext uri="{FF2B5EF4-FFF2-40B4-BE49-F238E27FC236}">
                <a16:creationId xmlns:a16="http://schemas.microsoft.com/office/drawing/2014/main" id="{42A5A3E3-B7B0-A506-C0FF-17D324A40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71514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7000"/>
              </a:lnSpc>
              <a:spcAft>
                <a:spcPts val="1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9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1pPr>
            <a:lvl2pPr marL="742950" indent="-285750">
              <a:lnSpc>
                <a:spcPct val="97000"/>
              </a:lnSpc>
              <a:spcAft>
                <a:spcPts val="10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2pPr>
            <a:lvl3pPr marL="1143000" indent="-228600">
              <a:lnSpc>
                <a:spcPct val="97000"/>
              </a:lnSpc>
              <a:spcAft>
                <a:spcPts val="7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3pPr>
            <a:lvl4pPr marL="1600200" indent="-228600">
              <a:lnSpc>
                <a:spcPct val="97000"/>
              </a:lnSpc>
              <a:spcAft>
                <a:spcPts val="5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4pPr>
            <a:lvl5pPr marL="2057400" indent="-228600">
              <a:lnSpc>
                <a:spcPct val="97000"/>
              </a:lnSpc>
              <a:spcAft>
                <a:spcPts val="2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3600" b="1">
                <a:solidFill>
                  <a:schemeClr val="tx1"/>
                </a:solidFill>
                <a:latin typeface="Times New Roman" panose="02020603050405020304" pitchFamily="18" charset="0"/>
              </a:rPr>
              <a:t>Heuristic search</a:t>
            </a:r>
            <a:endParaRPr lang="en-US" altLang="en-US" sz="3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7" name="Text Box 6">
            <a:extLst>
              <a:ext uri="{FF2B5EF4-FFF2-40B4-BE49-F238E27FC236}">
                <a16:creationId xmlns:a16="http://schemas.microsoft.com/office/drawing/2014/main" id="{649CB07E-8F81-0936-A541-1975B5FF1B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524000"/>
            <a:ext cx="7708900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7000"/>
              </a:lnSpc>
              <a:spcAft>
                <a:spcPts val="1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9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1pPr>
            <a:lvl2pPr marL="742950" indent="-285750">
              <a:lnSpc>
                <a:spcPct val="97000"/>
              </a:lnSpc>
              <a:spcAft>
                <a:spcPts val="10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2pPr>
            <a:lvl3pPr marL="1143000" indent="-228600">
              <a:lnSpc>
                <a:spcPct val="97000"/>
              </a:lnSpc>
              <a:spcAft>
                <a:spcPts val="7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 sz="22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3pPr>
            <a:lvl4pPr marL="1600200" indent="-228600">
              <a:lnSpc>
                <a:spcPct val="97000"/>
              </a:lnSpc>
              <a:spcAft>
                <a:spcPts val="5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4pPr>
            <a:lvl5pPr marL="2057400" indent="-228600">
              <a:lnSpc>
                <a:spcPct val="97000"/>
              </a:lnSpc>
              <a:spcAft>
                <a:spcPts val="2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 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Generate-and-test</a:t>
            </a:r>
          </a:p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 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Hill climbing</a:t>
            </a:r>
          </a:p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 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Best-first search</a:t>
            </a:r>
          </a:p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 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Problem reduction</a:t>
            </a:r>
          </a:p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 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Constraint satisfaction</a:t>
            </a:r>
          </a:p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AD0FDD88-8721-52A1-CBE9-E705C72844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 combines actual and heuristic costs</a:t>
            </a:r>
          </a:p>
          <a:p>
            <a:pPr marL="0" indent="0">
              <a:buFont typeface="Times New Roman" panose="02020603050405020304" pitchFamily="18" charset="0"/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f(n) = g(n) + h(n)</a:t>
            </a:r>
          </a:p>
          <a:p>
            <a:pPr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Prioritizes nodes with lowest total cost.</a:t>
            </a:r>
          </a:p>
          <a:p>
            <a:pPr>
              <a:defRPr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Balances exploration and exploitation effectively.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gaming, logistics, network routing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5" name="Title 1">
            <a:extLst>
              <a:ext uri="{FF2B5EF4-FFF2-40B4-BE49-F238E27FC236}">
                <a16:creationId xmlns:a16="http://schemas.microsoft.com/office/drawing/2014/main" id="{97B53143-495A-961D-2D9F-97B951A0E0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813" y="466725"/>
            <a:ext cx="10806112" cy="1054100"/>
          </a:xfrm>
        </p:spPr>
        <p:txBody>
          <a:bodyPr/>
          <a:lstStyle/>
          <a:p>
            <a:r>
              <a:rPr lang="en-IN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A* 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itle 1">
            <a:extLst>
              <a:ext uri="{FF2B5EF4-FFF2-40B4-BE49-F238E27FC236}">
                <a16:creationId xmlns:a16="http://schemas.microsoft.com/office/drawing/2014/main" id="{689A639C-96DC-0AED-187B-D30FF6BEDC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813" y="466725"/>
            <a:ext cx="10806112" cy="1054100"/>
          </a:xfrm>
        </p:spPr>
        <p:txBody>
          <a:bodyPr/>
          <a:lstStyle/>
          <a:p>
            <a:r>
              <a:rPr lang="en-IN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Working of A* Search</a:t>
            </a:r>
          </a:p>
        </p:txBody>
      </p:sp>
      <p:sp>
        <p:nvSpPr>
          <p:cNvPr id="19458" name="Content Placeholder 2">
            <a:extLst>
              <a:ext uri="{FF2B5EF4-FFF2-40B4-BE49-F238E27FC236}">
                <a16:creationId xmlns:a16="http://schemas.microsoft.com/office/drawing/2014/main" id="{7588DDA5-B907-268F-E71F-AC1D608F7B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633538"/>
            <a:ext cx="10806113" cy="4402137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Start at source node, initialize lists.</a:t>
            </a:r>
          </a:p>
          <a:p>
            <a:pPr>
              <a:spcAft>
                <a:spcPts val="1200"/>
              </a:spcAft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Select node with lowest f(n)</a:t>
            </a:r>
          </a:p>
          <a:p>
            <a:pPr>
              <a:spcAft>
                <a:spcPts val="1200"/>
              </a:spcAft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If node is goal, return success.</a:t>
            </a:r>
          </a:p>
          <a:p>
            <a:pPr>
              <a:spcAft>
                <a:spcPts val="1200"/>
              </a:spcAft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Generate valid child nodes, add open.</a:t>
            </a:r>
          </a:p>
          <a:p>
            <a:pPr>
              <a:spcAft>
                <a:spcPts val="1200"/>
              </a:spcAft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Move selected node to closed list.</a:t>
            </a:r>
          </a:p>
          <a:p>
            <a:pPr>
              <a:spcAft>
                <a:spcPts val="1200"/>
              </a:spcAft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Repeat until goal is reached or failure</a:t>
            </a:r>
            <a:endParaRPr lang="en-I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460" name="Picture 4">
            <a:extLst>
              <a:ext uri="{FF2B5EF4-FFF2-40B4-BE49-F238E27FC236}">
                <a16:creationId xmlns:a16="http://schemas.microsoft.com/office/drawing/2014/main" id="{2D37270F-ADF1-9F9A-B4DE-455301675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3475" y="3541713"/>
            <a:ext cx="3055938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Picture 6">
            <a:extLst>
              <a:ext uri="{FF2B5EF4-FFF2-40B4-BE49-F238E27FC236}">
                <a16:creationId xmlns:a16="http://schemas.microsoft.com/office/drawing/2014/main" id="{9C1F324E-8543-F620-CA79-FBDFDB125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3476" y="1709738"/>
            <a:ext cx="2911475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itle 1">
            <a:extLst>
              <a:ext uri="{FF2B5EF4-FFF2-40B4-BE49-F238E27FC236}">
                <a16:creationId xmlns:a16="http://schemas.microsoft.com/office/drawing/2014/main" id="{B495A3CC-EE0F-5D0A-7BA4-4456A3E1A5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813" y="466725"/>
            <a:ext cx="10806112" cy="1054100"/>
          </a:xfrm>
        </p:spPr>
        <p:txBody>
          <a:bodyPr/>
          <a:lstStyle/>
          <a:p>
            <a:r>
              <a:rPr lang="en-US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Problem Practice:</a:t>
            </a:r>
            <a:endParaRPr lang="en-IN" altLang="en-US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2" name="Content Placeholder 2">
            <a:extLst>
              <a:ext uri="{FF2B5EF4-FFF2-40B4-BE49-F238E27FC236}">
                <a16:creationId xmlns:a16="http://schemas.microsoft.com/office/drawing/2014/main" id="{6EA93950-CDD9-F2F8-F6CC-FCE609F3CA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3050" y="1227138"/>
            <a:ext cx="10806113" cy="4402137"/>
          </a:xfrm>
        </p:spPr>
        <p:txBody>
          <a:bodyPr/>
          <a:lstStyle/>
          <a:p>
            <a:pPr marL="800068" lvl="2" indent="0">
              <a:buNone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068" lvl="2" indent="0"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path from A to J    </a:t>
            </a: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84" name="Picture 2">
            <a:extLst>
              <a:ext uri="{FF2B5EF4-FFF2-40B4-BE49-F238E27FC236}">
                <a16:creationId xmlns:a16="http://schemas.microsoft.com/office/drawing/2014/main" id="{B103E948-5811-543A-F0C7-19A2A2A77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1236" y="2087563"/>
            <a:ext cx="6337300" cy="430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itle 1">
            <a:extLst>
              <a:ext uri="{FF2B5EF4-FFF2-40B4-BE49-F238E27FC236}">
                <a16:creationId xmlns:a16="http://schemas.microsoft.com/office/drawing/2014/main" id="{E6A69228-A01D-2D79-6A5B-7B94938CFE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813" y="466725"/>
            <a:ext cx="10806112" cy="1054100"/>
          </a:xfrm>
        </p:spPr>
        <p:txBody>
          <a:bodyPr/>
          <a:lstStyle/>
          <a:p>
            <a:r>
              <a:rPr lang="en-IN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Constraint Satisfaction Problem(CSP)</a:t>
            </a:r>
          </a:p>
        </p:txBody>
      </p:sp>
      <p:sp>
        <p:nvSpPr>
          <p:cNvPr id="21506" name="Content Placeholder 2">
            <a:extLst>
              <a:ext uri="{FF2B5EF4-FFF2-40B4-BE49-F238E27FC236}">
                <a16:creationId xmlns:a16="http://schemas.microsoft.com/office/drawing/2014/main" id="{AFF274CB-8971-6924-3ECA-27502168FB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633538"/>
            <a:ext cx="10806113" cy="4402137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CSPs involve variables, domains, and constraints.</a:t>
            </a:r>
          </a:p>
          <a:p>
            <a:pPr>
              <a:spcAft>
                <a:spcPts val="1200"/>
              </a:spcAft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Variables must be assigned values from domains.</a:t>
            </a:r>
            <a:endParaRPr lang="en-I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 define valid combinations of values.</a:t>
            </a:r>
            <a:endParaRPr lang="en-I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Used in puzzle-solving and scheduling problems.</a:t>
            </a:r>
            <a:endParaRPr lang="en-I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Provides structured framework for problem-solving.</a:t>
            </a:r>
            <a:endParaRPr lang="en-I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Eg: Sudoku, map coloring, </a:t>
            </a:r>
            <a:r>
              <a:rPr lang="en-IN" altLang="en-US" sz="240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scheduling</a:t>
            </a:r>
            <a:endParaRPr lang="en-I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508" name="Picture 5">
            <a:extLst>
              <a:ext uri="{FF2B5EF4-FFF2-40B4-BE49-F238E27FC236}">
                <a16:creationId xmlns:a16="http://schemas.microsoft.com/office/drawing/2014/main" id="{D38967B3-3E56-1D3F-A867-865439165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1925638"/>
            <a:ext cx="3238500" cy="314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 1">
            <a:extLst>
              <a:ext uri="{FF2B5EF4-FFF2-40B4-BE49-F238E27FC236}">
                <a16:creationId xmlns:a16="http://schemas.microsoft.com/office/drawing/2014/main" id="{2D3D2079-5B85-C118-2544-7CBB8CE9FE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813" y="466725"/>
            <a:ext cx="10806112" cy="1054100"/>
          </a:xfrm>
        </p:spPr>
        <p:txBody>
          <a:bodyPr/>
          <a:lstStyle/>
          <a:p>
            <a:r>
              <a:rPr lang="en-IN" altLang="en-US" sz="36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Working of Constraint Satisfaction Problem(CSP)</a:t>
            </a:r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6B6AAF62-E93D-9B54-4F36-73767C1A9F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633538"/>
            <a:ext cx="10806113" cy="4402137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Define variables, domains, and constraints clearly.</a:t>
            </a:r>
          </a:p>
          <a:p>
            <a:pPr>
              <a:spcAft>
                <a:spcPts val="1200"/>
              </a:spcAft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Assign values to variables incrementally.</a:t>
            </a:r>
          </a:p>
          <a:p>
            <a:pPr>
              <a:spcAft>
                <a:spcPts val="1200"/>
              </a:spcAft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Check constraints for every assignment made.</a:t>
            </a:r>
          </a:p>
          <a:p>
            <a:pPr>
              <a:spcAft>
                <a:spcPts val="1200"/>
              </a:spcAft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Backtrack if constraints are violated.</a:t>
            </a:r>
          </a:p>
          <a:p>
            <a:pPr>
              <a:spcAft>
                <a:spcPts val="1200"/>
              </a:spcAft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Continue until all constraints are satisfied.</a:t>
            </a:r>
          </a:p>
          <a:p>
            <a:pPr>
              <a:spcAft>
                <a:spcPts val="1200"/>
              </a:spcAft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Return solution or failure if unsolvable</a:t>
            </a:r>
          </a:p>
        </p:txBody>
      </p:sp>
      <p:pic>
        <p:nvPicPr>
          <p:cNvPr id="22532" name="Picture 5">
            <a:extLst>
              <a:ext uri="{FF2B5EF4-FFF2-40B4-BE49-F238E27FC236}">
                <a16:creationId xmlns:a16="http://schemas.microsoft.com/office/drawing/2014/main" id="{1DC19047-06CD-D895-E762-F6337AD4B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3525" y="1963738"/>
            <a:ext cx="3532188" cy="275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48A516E4-D05C-A95C-EDBB-5A0957237C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813" y="466725"/>
            <a:ext cx="10806112" cy="1054100"/>
          </a:xfrm>
        </p:spPr>
        <p:txBody>
          <a:bodyPr/>
          <a:lstStyle/>
          <a:p>
            <a:r>
              <a:rPr lang="en-IN" altLang="en-US" sz="36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Types of Constraint Satisfaction Problem(CSP)</a:t>
            </a:r>
          </a:p>
        </p:txBody>
      </p:sp>
      <p:pic>
        <p:nvPicPr>
          <p:cNvPr id="23555" name="Picture 8">
            <a:extLst>
              <a:ext uri="{FF2B5EF4-FFF2-40B4-BE49-F238E27FC236}">
                <a16:creationId xmlns:a16="http://schemas.microsoft.com/office/drawing/2014/main" id="{BED232F0-7B3E-C47A-E765-3F83A067B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1604963"/>
            <a:ext cx="9923463" cy="373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F2E9CB7D-282F-07BA-FAB0-AEA9771CCE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813" y="466725"/>
            <a:ext cx="10806112" cy="1054100"/>
          </a:xfrm>
        </p:spPr>
        <p:txBody>
          <a:bodyPr/>
          <a:lstStyle/>
          <a:p>
            <a:r>
              <a:rPr lang="en-IN" altLang="en-US" sz="36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Binary Constraint Satisfaction Problems(CSPs)</a:t>
            </a:r>
          </a:p>
        </p:txBody>
      </p:sp>
      <p:sp>
        <p:nvSpPr>
          <p:cNvPr id="24579" name="Content Placeholder 3">
            <a:extLst>
              <a:ext uri="{FF2B5EF4-FFF2-40B4-BE49-F238E27FC236}">
                <a16:creationId xmlns:a16="http://schemas.microsoft.com/office/drawing/2014/main" id="{5CBA1D13-064C-37C7-A071-1E19B909A0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92100" y="1520825"/>
            <a:ext cx="10806113" cy="4402138"/>
          </a:xfrm>
        </p:spPr>
        <p:txBody>
          <a:bodyPr/>
          <a:lstStyle/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Binary CSPs involve constraints between pairs.</a:t>
            </a: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Each constraint connects exactly two variables.</a:t>
            </a:r>
          </a:p>
          <a:p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Nodes represent regions; edges are constraints.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No two connected nodes share values.</a:t>
            </a: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Easier to visualize and solve problems.</a:t>
            </a: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Example: Map coloring with neighboring regions</a:t>
            </a:r>
            <a:endParaRPr lang="en-I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580" name="Picture 2">
            <a:extLst>
              <a:ext uri="{FF2B5EF4-FFF2-40B4-BE49-F238E27FC236}">
                <a16:creationId xmlns:a16="http://schemas.microsoft.com/office/drawing/2014/main" id="{CEDB8237-1DD2-5ABC-ED00-5A5E5025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341"/>
          <a:stretch>
            <a:fillRect/>
          </a:stretch>
        </p:blipFill>
        <p:spPr bwMode="auto">
          <a:xfrm>
            <a:off x="8066088" y="1520826"/>
            <a:ext cx="3511550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5">
            <a:extLst>
              <a:ext uri="{FF2B5EF4-FFF2-40B4-BE49-F238E27FC236}">
                <a16:creationId xmlns:a16="http://schemas.microsoft.com/office/drawing/2014/main" id="{8AF78C2E-0F5A-34FB-02F3-A039D9460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78" t="-9747"/>
          <a:stretch>
            <a:fillRect/>
          </a:stretch>
        </p:blipFill>
        <p:spPr bwMode="auto">
          <a:xfrm>
            <a:off x="8412163" y="3335338"/>
            <a:ext cx="363855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0027CB8C-F193-D5D3-6F19-D851C91C8F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813" y="466725"/>
            <a:ext cx="10806112" cy="1054100"/>
          </a:xfrm>
        </p:spPr>
        <p:txBody>
          <a:bodyPr/>
          <a:lstStyle/>
          <a:p>
            <a:r>
              <a:rPr lang="en-IN" altLang="en-US" sz="36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Non-Binary Constraint Satisfaction Problems(CSPs)</a:t>
            </a:r>
          </a:p>
        </p:txBody>
      </p:sp>
      <p:sp>
        <p:nvSpPr>
          <p:cNvPr id="25603" name="Content Placeholder 3">
            <a:extLst>
              <a:ext uri="{FF2B5EF4-FFF2-40B4-BE49-F238E27FC236}">
                <a16:creationId xmlns:a16="http://schemas.microsoft.com/office/drawing/2014/main" id="{6E17E574-2074-1AF9-F0F1-BA8B9B574F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1763" y="1541463"/>
            <a:ext cx="10806112" cy="4402137"/>
          </a:xfrm>
        </p:spPr>
        <p:txBody>
          <a:bodyPr/>
          <a:lstStyle/>
          <a:p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Non-binary CSPs involve multi-variable constraints.</a:t>
            </a: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 apply to three or more variables</a:t>
            </a:r>
            <a:endParaRPr lang="en-I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More complex than binary CSPs overall.</a:t>
            </a:r>
            <a:endParaRPr lang="en-I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Often decomposed into binary subproblems.</a:t>
            </a:r>
            <a:endParaRPr lang="en-I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algorithms handle higher-order constraints.</a:t>
            </a:r>
            <a:endParaRPr lang="en-I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Example: Scheduling tasks in distinct times.</a:t>
            </a:r>
            <a:endParaRPr lang="en-I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92" y="1199952"/>
            <a:ext cx="51614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Basics of Optimization</a:t>
            </a:r>
            <a:endParaRPr lang="en-US" sz="3708" dirty="0"/>
          </a:p>
        </p:txBody>
      </p:sp>
      <p:sp>
        <p:nvSpPr>
          <p:cNvPr id="4" name="Text 1"/>
          <p:cNvSpPr/>
          <p:nvPr/>
        </p:nvSpPr>
        <p:spPr>
          <a:xfrm>
            <a:off x="661492" y="2074069"/>
            <a:ext cx="62970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Optimization is the fundamental process of identifying the best possible solution among all feasible options to achieve a desired outcome.</a:t>
            </a:r>
            <a:endParaRPr lang="en-US" sz="1458" dirty="0"/>
          </a:p>
        </p:txBody>
      </p:sp>
      <p:sp>
        <p:nvSpPr>
          <p:cNvPr id="5" name="Text 2"/>
          <p:cNvSpPr/>
          <p:nvPr/>
        </p:nvSpPr>
        <p:spPr>
          <a:xfrm>
            <a:off x="661492" y="3080544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Objective Function</a:t>
            </a:r>
            <a:endParaRPr lang="en-US" sz="1833" dirty="0"/>
          </a:p>
        </p:txBody>
      </p:sp>
      <p:sp>
        <p:nvSpPr>
          <p:cNvPr id="6" name="Text 3"/>
          <p:cNvSpPr/>
          <p:nvPr/>
        </p:nvSpPr>
        <p:spPr>
          <a:xfrm>
            <a:off x="661492" y="3564831"/>
            <a:ext cx="29179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mathematical expression to be minimised or maximised (e.g., f(x)).</a:t>
            </a:r>
            <a:endParaRPr lang="en-US" sz="1458" dirty="0"/>
          </a:p>
        </p:txBody>
      </p:sp>
      <p:sp>
        <p:nvSpPr>
          <p:cNvPr id="7" name="Text 4"/>
          <p:cNvSpPr/>
          <p:nvPr/>
        </p:nvSpPr>
        <p:spPr>
          <a:xfrm>
            <a:off x="4046934" y="3080544"/>
            <a:ext cx="251777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Types of Optimization</a:t>
            </a:r>
            <a:endParaRPr lang="en-US" sz="1833" dirty="0"/>
          </a:p>
        </p:txBody>
      </p:sp>
      <p:sp>
        <p:nvSpPr>
          <p:cNvPr id="8" name="Text 5"/>
          <p:cNvSpPr/>
          <p:nvPr/>
        </p:nvSpPr>
        <p:spPr>
          <a:xfrm>
            <a:off x="4046935" y="3564831"/>
            <a:ext cx="2917924" cy="604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Gradient-Based Methods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Metaheuristics</a:t>
            </a:r>
            <a:endParaRPr lang="en-US" sz="1458" dirty="0"/>
          </a:p>
        </p:txBody>
      </p:sp>
      <p:sp>
        <p:nvSpPr>
          <p:cNvPr id="9" name="Shape 6"/>
          <p:cNvSpPr/>
          <p:nvPr/>
        </p:nvSpPr>
        <p:spPr>
          <a:xfrm>
            <a:off x="661492" y="4486312"/>
            <a:ext cx="6297018" cy="1105594"/>
          </a:xfrm>
          <a:prstGeom prst="roundRect">
            <a:avLst>
              <a:gd name="adj" fmla="val 7181"/>
            </a:avLst>
          </a:prstGeom>
          <a:solidFill>
            <a:srgbClr val="25252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03" y="4773054"/>
            <a:ext cx="236240" cy="1890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75755" y="4722552"/>
            <a:ext cx="549374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Finding the 'best' solution often involves balancing multiple factors and constraints.</a:t>
            </a:r>
            <a:endParaRPr lang="en-US" sz="1458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92" y="1044079"/>
            <a:ext cx="6297018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Gradient-Based Optimization</a:t>
            </a:r>
            <a:endParaRPr lang="en-US" sz="3708" dirty="0"/>
          </a:p>
        </p:txBody>
      </p:sp>
      <p:sp>
        <p:nvSpPr>
          <p:cNvPr id="4" name="Text 1"/>
          <p:cNvSpPr/>
          <p:nvPr/>
        </p:nvSpPr>
        <p:spPr>
          <a:xfrm>
            <a:off x="661492" y="2508845"/>
            <a:ext cx="62970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This method uses the function's gradient (slope) to iteratively move towards a minimum, commonly used in machine learning.</a:t>
            </a:r>
            <a:endParaRPr lang="en-US" sz="1458" dirty="0"/>
          </a:p>
        </p:txBody>
      </p:sp>
      <p:sp>
        <p:nvSpPr>
          <p:cNvPr id="5" name="Text 2"/>
          <p:cNvSpPr/>
          <p:nvPr/>
        </p:nvSpPr>
        <p:spPr>
          <a:xfrm>
            <a:off x="661492" y="3515320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Gradient Descent</a:t>
            </a:r>
            <a:endParaRPr lang="en-US" sz="1833" dirty="0"/>
          </a:p>
        </p:txBody>
      </p:sp>
      <p:sp>
        <p:nvSpPr>
          <p:cNvPr id="6" name="Text 3"/>
          <p:cNvSpPr/>
          <p:nvPr/>
        </p:nvSpPr>
        <p:spPr>
          <a:xfrm>
            <a:off x="661492" y="3999607"/>
            <a:ext cx="29179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Update rule: </a:t>
            </a:r>
            <a:r>
              <a:rPr lang="en-US" sz="1458" i="1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x = x - \alpha * \nabla f(x)</a:t>
            </a:r>
            <a:endParaRPr lang="en-US" sz="1458" dirty="0"/>
          </a:p>
        </p:txBody>
      </p:sp>
      <p:sp>
        <p:nvSpPr>
          <p:cNvPr id="7" name="Text 4"/>
          <p:cNvSpPr/>
          <p:nvPr/>
        </p:nvSpPr>
        <p:spPr>
          <a:xfrm>
            <a:off x="661492" y="4472087"/>
            <a:ext cx="2917924" cy="120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Moves in the direction of steepest descent.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Used in neural networks and machine learning models.</a:t>
            </a:r>
            <a:endParaRPr lang="en-US" sz="1458" dirty="0"/>
          </a:p>
        </p:txBody>
      </p:sp>
      <p:sp>
        <p:nvSpPr>
          <p:cNvPr id="8" name="Text 5"/>
          <p:cNvSpPr/>
          <p:nvPr/>
        </p:nvSpPr>
        <p:spPr>
          <a:xfrm>
            <a:off x="4046935" y="3515320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Limitation</a:t>
            </a:r>
            <a:endParaRPr lang="en-US" sz="1833" dirty="0"/>
          </a:p>
        </p:txBody>
      </p:sp>
      <p:sp>
        <p:nvSpPr>
          <p:cNvPr id="9" name="Text 6"/>
          <p:cNvSpPr/>
          <p:nvPr/>
        </p:nvSpPr>
        <p:spPr>
          <a:xfrm>
            <a:off x="4046935" y="3999607"/>
            <a:ext cx="2917924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Can become trapped in local minima, preventing discovery of the global optimum.</a:t>
            </a:r>
            <a:endParaRPr lang="en-US" sz="1458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0867" y="1246454"/>
            <a:ext cx="1142828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Metaheuristic Optimization: Beyond Local Minima</a:t>
            </a:r>
            <a:endParaRPr lang="en-US" sz="3708" dirty="0"/>
          </a:p>
        </p:txBody>
      </p:sp>
      <p:sp>
        <p:nvSpPr>
          <p:cNvPr id="3" name="Text 1"/>
          <p:cNvSpPr/>
          <p:nvPr/>
        </p:nvSpPr>
        <p:spPr>
          <a:xfrm>
            <a:off x="661492" y="2235751"/>
            <a:ext cx="108690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Metaheuristics are high-level strategies designed to explore complex solution spaces efficiently, avoiding local minima.</a:t>
            </a:r>
            <a:endParaRPr lang="en-US" sz="1458" dirty="0"/>
          </a:p>
        </p:txBody>
      </p:sp>
      <p:sp>
        <p:nvSpPr>
          <p:cNvPr id="5" name="Text 2"/>
          <p:cNvSpPr/>
          <p:nvPr/>
        </p:nvSpPr>
        <p:spPr>
          <a:xfrm>
            <a:off x="661491" y="2701186"/>
            <a:ext cx="154374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Genetic Algorithm</a:t>
            </a:r>
            <a:endParaRPr lang="en-US" sz="1833" dirty="0"/>
          </a:p>
        </p:txBody>
      </p:sp>
      <p:sp>
        <p:nvSpPr>
          <p:cNvPr id="6" name="Text 3"/>
          <p:cNvSpPr/>
          <p:nvPr/>
        </p:nvSpPr>
        <p:spPr>
          <a:xfrm>
            <a:off x="661491" y="3429000"/>
            <a:ext cx="2642148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Inspired by natural selection: initialise population, selection, crossover, mutation, leading to optimal solutions.</a:t>
            </a:r>
            <a:endParaRPr lang="en-US" sz="1458" dirty="0"/>
          </a:p>
        </p:txBody>
      </p:sp>
      <p:sp>
        <p:nvSpPr>
          <p:cNvPr id="8" name="Text 4"/>
          <p:cNvSpPr/>
          <p:nvPr/>
        </p:nvSpPr>
        <p:spPr>
          <a:xfrm>
            <a:off x="4003053" y="2728445"/>
            <a:ext cx="2474469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Particle Swarm Optimization</a:t>
            </a:r>
            <a:endParaRPr lang="en-US" sz="1833" dirty="0"/>
          </a:p>
        </p:txBody>
      </p:sp>
      <p:sp>
        <p:nvSpPr>
          <p:cNvPr id="9" name="Text 5"/>
          <p:cNvSpPr/>
          <p:nvPr/>
        </p:nvSpPr>
        <p:spPr>
          <a:xfrm>
            <a:off x="4003053" y="3429000"/>
            <a:ext cx="2809827" cy="272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Models' social behaviour to find optimal solutions, where particles adjust their paths based on their own and neighbours' best positions.</a:t>
            </a:r>
            <a:endParaRPr lang="en-US" sz="1458" dirty="0"/>
          </a:p>
        </p:txBody>
      </p:sp>
      <p:sp>
        <p:nvSpPr>
          <p:cNvPr id="11" name="Text 6"/>
          <p:cNvSpPr/>
          <p:nvPr/>
        </p:nvSpPr>
        <p:spPr>
          <a:xfrm>
            <a:off x="7971153" y="2728445"/>
            <a:ext cx="154374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Simulated Annealing</a:t>
            </a:r>
            <a:endParaRPr lang="en-US" sz="1833" dirty="0"/>
          </a:p>
        </p:txBody>
      </p:sp>
      <p:sp>
        <p:nvSpPr>
          <p:cNvPr id="12" name="Text 7"/>
          <p:cNvSpPr/>
          <p:nvPr/>
        </p:nvSpPr>
        <p:spPr>
          <a:xfrm>
            <a:off x="7971152" y="3429000"/>
            <a:ext cx="3011479" cy="3024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Inspired by metallurgy, it explores the solution space by accepting worse solutions with a decreasing probability to escape local optima.</a:t>
            </a:r>
            <a:endParaRPr lang="en-US" sz="145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1" id="{3F3680DA-F5F8-4226-B96B-91A690E07638}" vid="{97E33D02-E2EA-4E43-BC00-72FDFBFFD2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215</TotalTime>
  <Words>688</Words>
  <Application>Microsoft Office PowerPoint</Application>
  <PresentationFormat>Widescreen</PresentationFormat>
  <Paragraphs>103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Poppins Light</vt:lpstr>
      <vt:lpstr>Roboto Light</vt:lpstr>
      <vt:lpstr>Times New Roman</vt:lpstr>
      <vt:lpstr>Theme1</vt:lpstr>
      <vt:lpstr>Informed Search Strategies</vt:lpstr>
      <vt:lpstr>Heuristic functions </vt:lpstr>
      <vt:lpstr>Heuristic search:</vt:lpstr>
      <vt:lpstr>PowerPoint Presentation</vt:lpstr>
      <vt:lpstr>A* Search</vt:lpstr>
      <vt:lpstr>Working of A* Search</vt:lpstr>
      <vt:lpstr>Problem Practice:</vt:lpstr>
      <vt:lpstr>Constraint Satisfaction Problem(CSP)</vt:lpstr>
      <vt:lpstr>Working of Constraint Satisfaction Problem(CSP)</vt:lpstr>
      <vt:lpstr>Types of Constraint Satisfaction Problem(CSP)</vt:lpstr>
      <vt:lpstr>Binary Constraint Satisfaction Problems(CSPs)</vt:lpstr>
      <vt:lpstr>Non-Binary Constraint Satisfaction Problems(CSPs)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Tarun Singh</dc:creator>
  <cp:lastModifiedBy>Tarun Singh</cp:lastModifiedBy>
  <cp:revision>5</cp:revision>
  <dcterms:created xsi:type="dcterms:W3CDTF">2026-02-09T04:47:03Z</dcterms:created>
  <dcterms:modified xsi:type="dcterms:W3CDTF">2026-02-16T03:28:38Z</dcterms:modified>
</cp:coreProperties>
</file>