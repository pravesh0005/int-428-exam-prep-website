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319" r:id="rId8"/>
    <p:sldId id="262" r:id="rId9"/>
    <p:sldId id="265" r:id="rId10"/>
    <p:sldId id="324" r:id="rId11"/>
    <p:sldId id="263" r:id="rId12"/>
    <p:sldId id="320" r:id="rId13"/>
    <p:sldId id="321" r:id="rId14"/>
    <p:sldId id="314" r:id="rId15"/>
    <p:sldId id="325" r:id="rId16"/>
    <p:sldId id="264" r:id="rId17"/>
    <p:sldId id="322" r:id="rId18"/>
    <p:sldId id="323" r:id="rId19"/>
    <p:sldId id="326" r:id="rId20"/>
    <p:sldId id="327" r:id="rId21"/>
  </p:sldIdLst>
  <p:sldSz cx="14630400" cy="8229600"/>
  <p:notesSz cx="8229600" cy="14630400"/>
  <p:embeddedFontLst>
    <p:embeddedFont>
      <p:font typeface="Poppins Light" panose="00000400000000000000" pitchFamily="2" charset="0"/>
      <p:regular r:id="rId23"/>
    </p:embeddedFont>
    <p:embeddedFont>
      <p:font typeface="Roboto Light" panose="02000000000000000000" pitchFamily="2" charset="0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42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591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8626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600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9783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196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5884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362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232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936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137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7166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" y="8134642"/>
            <a:ext cx="14630396" cy="94957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72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1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2494386" y="517222"/>
            <a:ext cx="9728693" cy="558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086" y="213968"/>
            <a:ext cx="1857024" cy="5023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7" y="213970"/>
            <a:ext cx="1897442" cy="60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871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4630400" cy="8256652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1231" y="533920"/>
            <a:ext cx="6572975" cy="3950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72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71232" y="4742212"/>
            <a:ext cx="2560320" cy="1207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</p:spTree>
    <p:extLst>
      <p:ext uri="{BB962C8B-B14F-4D97-AF65-F5344CB8AC3E}">
        <p14:creationId xmlns:p14="http://schemas.microsoft.com/office/powerpoint/2010/main" val="8530322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315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33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215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570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373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551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570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964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6777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38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2494386" y="517222"/>
            <a:ext cx="9728693" cy="558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26086" y="213968"/>
            <a:ext cx="1857024" cy="502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3937" y="213970"/>
            <a:ext cx="1897442" cy="60650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2" y="8134642"/>
            <a:ext cx="14630396" cy="94957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09728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16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09978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61787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 Solving &amp; Search in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61787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Discover how Artificial Intelligence tackles complex problems by transforming initial states into desired goal states.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79793" y="14186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Introduction to Problem Solving in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079793" y="34031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is it?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079793" y="398430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Finding a sequence of actions to move from an initial state to a goal state.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079793" y="52998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Why is it important?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79793" y="588097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It forms the foundation of intelligent behaviour in AI systems.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142324" y="34031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Applications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42324" y="3984308"/>
            <a:ext cx="35015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Path planning (e.g., Google Maps)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Game playing (e.g., Chess, Sudoku)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Robotics navigation</a:t>
            </a:r>
            <a:endParaRPr lang="en-US" sz="1750" dirty="0"/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Scheduling &amp; planning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712"/>
            <a:ext cx="10882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Basic Idea: How AI Solves Problems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291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84163"/>
            <a:ext cx="4196358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958471"/>
            <a:ext cx="3191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Represent 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448889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Formally define the problem's elements.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4291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84163"/>
            <a:ext cx="4196358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9584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Search for Solutions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44888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 various possible actions and paths.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42911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84163"/>
            <a:ext cx="4196358" cy="3048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958471"/>
            <a:ext cx="32496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Select the Best Solution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44888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Choose the most efficient or optimal path to the goal.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5998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Consider finding the shortest path between cities as a classic example.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0955"/>
            <a:ext cx="125103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Problem Formulation: Defining the Challenge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286692" y="222396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Precisely defining a problem for computer resolution involves several components: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286692" y="3153847"/>
            <a:ext cx="4205168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Initial State: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Where the agent begins.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Goal State: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The desired outcome.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Actions: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Possible moves or operations.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Transition Model: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Results of applying actions.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Path Cost: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Cost associated with each action.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Solution: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The sequence of actions to reach the goal.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586"/>
            <a:ext cx="78300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State Space Representation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99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state space encompasses all possible states reachable from the initial state.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951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State Space Search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76280"/>
            <a:ext cx="420516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state is a node.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action is an edge.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solution is a path from the start node to the goal node.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54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Types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835937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Discrete State Space (e.g., Chess)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Continuous State Space (e.g., Robot motion)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723198"/>
            <a:ext cx="8284131" cy="36337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70572" y="5225679"/>
            <a:ext cx="1252006" cy="22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Move Right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70572" y="5513617"/>
            <a:ext cx="1252006" cy="35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Action: move from left to right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047900" y="5225679"/>
            <a:ext cx="1252006" cy="22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Suck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047900" y="5513617"/>
            <a:ext cx="1252006" cy="35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Action: clean current location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5745" y="3049792"/>
            <a:ext cx="1252006" cy="22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Left Dirty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5745" y="3337730"/>
            <a:ext cx="1252006" cy="35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Agent at left, dirt present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87133" y="3049792"/>
            <a:ext cx="1252006" cy="22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Right Dirty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87133" y="3337730"/>
            <a:ext cx="1252006" cy="358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Agent at right, dirt present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59981" y="645363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Example: Vacuum Cleaner Problem illustrates states (clean/dirty, left/right) and actions (move, suck).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498860"/>
            <a:ext cx="62486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Search Strategies in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4780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Search strategies dictate how AI explores the state space to find a solution.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165855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8224" y="34002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2F2F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587336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4307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Uninformed Search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1028224" y="479796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Explores blindly, without domain knowledge.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7428548" y="3165855"/>
            <a:ext cx="6408063" cy="2229445"/>
          </a:xfrm>
          <a:prstGeom prst="roundRect">
            <a:avLst>
              <a:gd name="adj" fmla="val 427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662982" y="34002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2F2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3587336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62982" y="4307545"/>
            <a:ext cx="38561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Informed (Heuristic) Search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7662982" y="479796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Uses domain knowledge to guide the search.</a:t>
            </a:r>
            <a:endParaRPr lang="en-US" sz="17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247D193-CEA7-80A1-6FF4-D1D9C80EB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481966"/>
            <a:ext cx="12967336" cy="1400174"/>
          </a:xfrm>
        </p:spPr>
        <p:txBody>
          <a:bodyPr/>
          <a:lstStyle/>
          <a:p>
            <a:r>
              <a:rPr lang="en-US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Types of Search Strategies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C712939-9CAC-F3E4-ED8C-77365E974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520" y="1882140"/>
            <a:ext cx="12967336" cy="532638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8640" lvl="1" indent="0">
              <a:buNone/>
              <a:defRPr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en-US" sz="28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2E921B94-CDBB-7768-68AD-E2FB48F7A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50" y="1730258"/>
            <a:ext cx="9446894" cy="5187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101109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Uninformed Search: Exploring Blindly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9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Characteristics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170873"/>
            <a:ext cx="420516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domain knowledge used.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Simple but can be inefficient.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Guaranteed to find a solution in some cases.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49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Examples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430529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Breadth First Search (BFS)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Depth First Search (DFS)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Uniform Cost Search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03" y="7241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Best-First Search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51795" y="19998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51795" y="2581037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Selects the most promising node based on an evaluation function, </a:t>
            </a: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f(n) = h(n)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where </a:t>
            </a: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h(n)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is the heuristic estimate to the goal.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51795" y="4259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1795" y="4840605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Uses a Priority Queue.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Expands the node with the lowest heuristic value first.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51795" y="6133452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Example: If h(A)=10, h(B)=4, h(C)=6, then node B would be expanded first due to its lower heuristic value.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7488405-6E9D-5A1A-A387-5319C06573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Algorithm of Breadth-First Search (BFS)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4984B7B3-33E7-DEEF-180B-098FD834B4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Create an empty queue, enqueue root.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While queue isn’t empty, continue process.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Dequeue the front node from queue.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Check if dequeued node is goal.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If not, enqueue unvisited neighbors.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Repeat until goal found or queue empty.</a:t>
            </a: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6FD74F14-4857-BC8F-018F-A2452B5AB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360" y="2234566"/>
            <a:ext cx="4594860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8191"/>
            <a:ext cx="71842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Breadth First Search (BFS)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439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25090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Explores the state space level by level, expanding the shallowest node first.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777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158853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Uses a Queue (FIFO).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Explores all nodes at depth 'd' before 'd+1'.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74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Properties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055585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Complete: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✔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Optimal: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✔ (if all costs are equal)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Space Complexity: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High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231" y="2339340"/>
            <a:ext cx="6183630" cy="366998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83117" y="3236345"/>
            <a:ext cx="526403" cy="5264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14124" y="5158049"/>
            <a:ext cx="1537100" cy="29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Level 2: D E</a:t>
            </a:r>
            <a:endParaRPr lang="en-US" sz="1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5984" y="3237332"/>
            <a:ext cx="526404" cy="5264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76955" y="5158049"/>
            <a:ext cx="1537101" cy="29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Level 1: B C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18816" y="3237332"/>
            <a:ext cx="526405" cy="5264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8204" y="5158049"/>
            <a:ext cx="1537101" cy="29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Start A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5559981" y="618524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Example: Graph A → B → D | C → E. Start: A, Goal: D. Traversal Order: A → B → C → D.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749C0DE-989C-C72E-7B2F-D34A31CAAD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BFS: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4E2D7735-2273-4038-ACD5-3252C9E56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9100" y="1718310"/>
            <a:ext cx="12967336" cy="4114800"/>
          </a:xfrm>
        </p:spPr>
        <p:txBody>
          <a:bodyPr/>
          <a:lstStyle/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Finds the shortest path fast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Explores all possibilities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</a:t>
            </a:r>
            <a:endParaRPr lang="en-IN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complete solution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Good for shallow searches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unweighted graphs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77EFA8F-2754-B08D-7752-F6F4ED165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BFS: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33172E12-4EEC-A069-B8C0-F701AA5EDF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High memory consumption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Slow for large graphs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weighted graphs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Requires additional storage space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Fails with infinite paths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Expensive computationally at scale</a:t>
            </a:r>
            <a:endParaRPr lang="en-US" altLang="en-US" sz="288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371C2A3-E40C-89D0-E67B-127629A06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Depth-First Search (DFS)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1DD656E-BCF7-E049-EEA9-FFB1D84803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Explores deeply before backtracking.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Uses a stack for tracking.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O(V+E)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O(V)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Not guaranteed to find optimal path.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May get stuck in infinite loops.</a:t>
            </a:r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95B344D5-5FD3-30F3-2E04-A158629E8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6" y="1668780"/>
            <a:ext cx="5861684" cy="4406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5EE6E1CE-0430-A503-1DA3-2872380726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Algorithm of Depth-First Search (DFS)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80078EAE-05D8-B86A-BBF8-CEA84495FC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31520" y="1937386"/>
            <a:ext cx="12967336" cy="5282564"/>
          </a:xfrm>
        </p:spPr>
        <p:txBody>
          <a:bodyPr/>
          <a:lstStyle/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Create an empty stack, push root.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While stack isn’t empty, continue process.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Pop the top node from stack.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Check if popped node is goal.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If not, push unvisited neighbors.</a:t>
            </a:r>
          </a:p>
          <a:p>
            <a:r>
              <a:rPr lang="en-US" altLang="en-US" sz="288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Repeat until goal found or stack empty.</a:t>
            </a:r>
          </a:p>
        </p:txBody>
      </p:sp>
      <p:pic>
        <p:nvPicPr>
          <p:cNvPr id="19460" name="Picture 3">
            <a:extLst>
              <a:ext uri="{FF2B5EF4-FFF2-40B4-BE49-F238E27FC236}">
                <a16:creationId xmlns:a16="http://schemas.microsoft.com/office/drawing/2014/main" id="{02925242-EC62-9EDD-6BBB-F6237713C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170" y="2103120"/>
            <a:ext cx="540258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9642"/>
            <a:ext cx="67198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Depth First Search (DFS)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25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06541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Explores as deep as possible along one branch before backtracking.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591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40304"/>
            <a:ext cx="4205168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Uses a Stack (LIFO).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Goes deep into a single branch.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2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Properties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874112"/>
            <a:ext cx="4205168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Complete: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✖ (may get stuck)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Optimal:</a:t>
            </a: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✖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Memory Efficient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801541"/>
            <a:ext cx="8284131" cy="3108484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34623" y="3593327"/>
            <a:ext cx="427895" cy="4278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253395" y="5076159"/>
            <a:ext cx="1249453" cy="24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68126" y="3594129"/>
            <a:ext cx="427895" cy="4278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78742" y="5076159"/>
            <a:ext cx="1249453" cy="24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2030" y="3594129"/>
            <a:ext cx="427896" cy="42789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12647" y="5076159"/>
            <a:ext cx="1249453" cy="24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35935" y="3594129"/>
            <a:ext cx="427895" cy="42789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46551" y="5076159"/>
            <a:ext cx="1249454" cy="24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1281" y="3594129"/>
            <a:ext cx="427895" cy="42789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946224" y="5076159"/>
            <a:ext cx="1249454" cy="240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500" dirty="0"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5559981" y="608592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Example: Traversal Order: A → B → D → (backtrack) → C → E.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E41657F-3AE5-ECB8-4DE7-7E9D01429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DFS: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3D61242-7EBD-5057-6ED7-743A71D9B8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Low memory usage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deep graphs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cyclic graphs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pathfinding in mazes</a:t>
            </a:r>
          </a:p>
          <a:p>
            <a:r>
              <a:rPr lang="en-IN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Less storage space required</a:t>
            </a:r>
            <a:endParaRPr lang="en-US" altLang="en-US" sz="288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89EA6AB-A135-1FC1-4CE5-53BCA7393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/>
          <a:lstStyle/>
          <a:p>
            <a:r>
              <a:rPr lang="en-IN" altLang="en-US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DFS: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6F2A23F3-FFCB-C314-60ED-9565478BC2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May not find shortest path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Not guaranteed to find all solutions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High time consumption in deep paths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Fails in graphs with loops 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Can get stuck in infinite paths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BD78507-E3C2-B493-3BBB-AA56F6232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>
            <a:normAutofit fontScale="90000"/>
          </a:bodyPr>
          <a:lstStyle/>
          <a:p>
            <a:r>
              <a:rPr lang="en-IN" altLang="en-US" b="1" u="sng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Advantages of </a:t>
            </a:r>
            <a:r>
              <a:rPr lang="en-US" altLang="en-US" b="1" u="sng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Uninformed Search Strategies:</a:t>
            </a:r>
            <a:endParaRPr lang="en-IN" altLang="en-US" b="1" u="sng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3FEC33D-ED34-BF90-A741-3A7B0065E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Requires no prior domain knowledge.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finding a solution, if exists.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search spaces.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exploration of all possibilities.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to diverse problems.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B258BEC-2686-2DD3-120F-D10F2CF06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520" y="661036"/>
            <a:ext cx="12967336" cy="1264920"/>
          </a:xfrm>
        </p:spPr>
        <p:txBody>
          <a:bodyPr>
            <a:normAutofit fontScale="90000"/>
          </a:bodyPr>
          <a:lstStyle/>
          <a:p>
            <a:r>
              <a:rPr lang="en-IN" altLang="en-US" b="1" u="sng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Disadvantages of </a:t>
            </a:r>
            <a:r>
              <a:rPr lang="en-US" altLang="en-US" b="1" u="sng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Uninformed Search Strategies:</a:t>
            </a:r>
            <a:endParaRPr lang="en-IN" altLang="en-US" b="1" u="sng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36D2CFC-560A-D090-5BA8-28BE76B54C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search spaces.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High time and memory requirements.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Lacks optimization for best solutions.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Explores irrelevant or redundant paths.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Cannot handle infinite search spaces.</a:t>
            </a:r>
          </a:p>
          <a:p>
            <a:r>
              <a:rPr lang="en-US" altLang="en-US" sz="2880">
                <a:latin typeface="Times New Roman" panose="02020603050405020304" pitchFamily="18" charset="0"/>
                <a:cs typeface="Times New Roman" panose="02020603050405020304" pitchFamily="18" charset="0"/>
              </a:rPr>
              <a:t>Fails in complex or dynamic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3F3680DA-F5F8-4226-B96B-91A690E07638}" vid="{97E33D02-E2EA-4E43-BC00-72FDFBFFD2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115</TotalTime>
  <Words>1048</Words>
  <Application>Microsoft Office PowerPoint</Application>
  <PresentationFormat>Custom</PresentationFormat>
  <Paragraphs>175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Times New Roman</vt:lpstr>
      <vt:lpstr>Aptos Display</vt:lpstr>
      <vt:lpstr>Poppins Light</vt:lpstr>
      <vt:lpstr>Aptos</vt:lpstr>
      <vt:lpstr>Roboto Light</vt:lpstr>
      <vt:lpstr>Arial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Search Strategies:</vt:lpstr>
      <vt:lpstr>PowerPoint Presentation</vt:lpstr>
      <vt:lpstr>PowerPoint Presentation</vt:lpstr>
      <vt:lpstr>Algorithm of Breadth-First Search (BFS)</vt:lpstr>
      <vt:lpstr>PowerPoint Presentation</vt:lpstr>
      <vt:lpstr>Advantages of BFS:</vt:lpstr>
      <vt:lpstr>Disadvantages of BFS:</vt:lpstr>
      <vt:lpstr>Depth-First Search (DFS)</vt:lpstr>
      <vt:lpstr>Algorithm of Depth-First Search (DFS)</vt:lpstr>
      <vt:lpstr>PowerPoint Presentation</vt:lpstr>
      <vt:lpstr>Advantages of DFS:</vt:lpstr>
      <vt:lpstr>Disadvantages of DFS:</vt:lpstr>
      <vt:lpstr>Advantages of Uninformed Search Strategies:</vt:lpstr>
      <vt:lpstr>Disadvantages of Uninformed Search Strategies: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Tarun Singh</cp:lastModifiedBy>
  <cp:revision>9</cp:revision>
  <dcterms:created xsi:type="dcterms:W3CDTF">2026-02-09T04:34:12Z</dcterms:created>
  <dcterms:modified xsi:type="dcterms:W3CDTF">2026-02-16T03:26:36Z</dcterms:modified>
</cp:coreProperties>
</file>