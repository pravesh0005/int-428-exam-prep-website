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24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49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72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39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75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24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625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232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60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714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20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90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58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574A1-072A-49AC-BA83-90BF6C5EE444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EFEE5-EB0E-4A51-A1D0-AE5800DBFF8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7444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A2519F-ACAA-2943-F410-0AE6D60240D5}"/>
              </a:ext>
            </a:extLst>
          </p:cNvPr>
          <p:cNvSpPr txBox="1"/>
          <p:nvPr/>
        </p:nvSpPr>
        <p:spPr>
          <a:xfrm>
            <a:off x="2290916" y="1562788"/>
            <a:ext cx="60960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500" b="1" dirty="0"/>
              <a:t>AI Problem Design &amp; Reinforcement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AI Problem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Complexity in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Data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Solution Evaluation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Introduction to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678718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3020E9-E6EF-E1EC-CA28-B2991441420D}"/>
              </a:ext>
            </a:extLst>
          </p:cNvPr>
          <p:cNvSpPr txBox="1"/>
          <p:nvPr/>
        </p:nvSpPr>
        <p:spPr>
          <a:xfrm>
            <a:off x="2015612" y="805205"/>
            <a:ext cx="6096000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500" b="1" dirty="0"/>
              <a:t>AI Problem Design</a:t>
            </a:r>
          </a:p>
          <a:p>
            <a:pPr>
              <a:buNone/>
            </a:pPr>
            <a:r>
              <a:rPr lang="en-US" sz="2500" dirty="0"/>
              <a:t>AI problem design means clearly defining: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What is the goal?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What are the inputs?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What should be the output?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What constraints exist?</a:t>
            </a:r>
          </a:p>
          <a:p>
            <a:pPr>
              <a:buNone/>
            </a:pPr>
            <a:r>
              <a:rPr lang="en-US" sz="2500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Spam detection → Input: Emails → Output: Spam or Not Spam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Self-driving car → Input: Sensor data → Output: Steering decisions</a:t>
            </a:r>
          </a:p>
          <a:p>
            <a:pPr>
              <a:buNone/>
            </a:pPr>
            <a:r>
              <a:rPr lang="en-US" sz="2500" dirty="0"/>
              <a:t>👉 A well-defined problem makes AI solution easier and more accurate.</a:t>
            </a:r>
          </a:p>
        </p:txBody>
      </p:sp>
    </p:spTree>
    <p:extLst>
      <p:ext uri="{BB962C8B-B14F-4D97-AF65-F5344CB8AC3E}">
        <p14:creationId xmlns:p14="http://schemas.microsoft.com/office/powerpoint/2010/main" val="4123435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AD9EE-A51B-654C-CC43-8352DFEA1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7161CE-643B-D5CC-7369-157BDBF593D4}"/>
              </a:ext>
            </a:extLst>
          </p:cNvPr>
          <p:cNvSpPr txBox="1"/>
          <p:nvPr/>
        </p:nvSpPr>
        <p:spPr>
          <a:xfrm>
            <a:off x="1986117" y="1051426"/>
            <a:ext cx="6096000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000" b="1" dirty="0"/>
              <a:t>Problem Complexity</a:t>
            </a:r>
          </a:p>
          <a:p>
            <a:pPr>
              <a:buNone/>
            </a:pPr>
            <a:r>
              <a:rPr lang="en-US" sz="2100" dirty="0"/>
              <a:t>Complexity refers to how difficult a problem is to solve.</a:t>
            </a:r>
          </a:p>
          <a:p>
            <a:pPr>
              <a:buNone/>
            </a:pPr>
            <a:r>
              <a:rPr lang="en-US" sz="2100" b="1" dirty="0"/>
              <a:t>Types of Complexity:</a:t>
            </a:r>
          </a:p>
          <a:p>
            <a:pPr>
              <a:buFont typeface="+mj-lt"/>
              <a:buAutoNum type="arabicPeriod"/>
            </a:pPr>
            <a:r>
              <a:rPr lang="en-US" sz="2100" b="1" dirty="0"/>
              <a:t>Time Complexity</a:t>
            </a:r>
            <a:r>
              <a:rPr lang="en-US" sz="2100" dirty="0"/>
              <a:t> – How long the algorithm takes.</a:t>
            </a:r>
          </a:p>
          <a:p>
            <a:pPr>
              <a:buFont typeface="+mj-lt"/>
              <a:buAutoNum type="arabicPeriod"/>
            </a:pPr>
            <a:r>
              <a:rPr lang="en-US" sz="2100" b="1" dirty="0"/>
              <a:t>Space Complexity</a:t>
            </a:r>
            <a:r>
              <a:rPr lang="en-US" sz="2100" dirty="0"/>
              <a:t> – How much memory it uses.</a:t>
            </a:r>
          </a:p>
          <a:p>
            <a:pPr>
              <a:buFont typeface="+mj-lt"/>
              <a:buAutoNum type="arabicPeriod"/>
            </a:pPr>
            <a:r>
              <a:rPr lang="en-US" sz="2100" b="1" dirty="0"/>
              <a:t>Computational Complexity</a:t>
            </a:r>
            <a:r>
              <a:rPr lang="en-US" sz="2100" dirty="0"/>
              <a:t> – How many calculations are required.</a:t>
            </a:r>
          </a:p>
          <a:p>
            <a:pPr>
              <a:buNone/>
            </a:pPr>
            <a:r>
              <a:rPr lang="en-US" sz="2100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Sorting numbers → Simple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Playing chess → Very complex (millions of possibilities)</a:t>
            </a:r>
          </a:p>
          <a:p>
            <a:pPr>
              <a:buNone/>
            </a:pPr>
            <a:r>
              <a:rPr lang="en-US" sz="2100" dirty="0"/>
              <a:t>👉 Higher complexity requires better algorithms and more computing power.</a:t>
            </a:r>
          </a:p>
        </p:txBody>
      </p:sp>
    </p:spTree>
    <p:extLst>
      <p:ext uri="{BB962C8B-B14F-4D97-AF65-F5344CB8AC3E}">
        <p14:creationId xmlns:p14="http://schemas.microsoft.com/office/powerpoint/2010/main" val="138797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E1637-ED8E-59AD-2E45-A4EF47041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4A5F69-BEF2-C26F-7A44-D394BE4F031C}"/>
              </a:ext>
            </a:extLst>
          </p:cNvPr>
          <p:cNvSpPr txBox="1"/>
          <p:nvPr/>
        </p:nvSpPr>
        <p:spPr>
          <a:xfrm>
            <a:off x="2281084" y="982176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/>
              <a:t>Types of AI Problems Based on Complexity</a:t>
            </a:r>
          </a:p>
          <a:p>
            <a:pPr>
              <a:buNone/>
            </a:pPr>
            <a:r>
              <a:rPr lang="en-IN" b="1" dirty="0"/>
              <a:t>Types of AI Problems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Simple Problems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Fixed rules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Limited data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Example: Calculator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Moderate Problems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Pattern recognition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Example: Image classification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Complex Problems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Dynamic environment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Multiple decisions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Example: Autonomous driving</a:t>
            </a:r>
          </a:p>
          <a:p>
            <a:pPr>
              <a:buNone/>
            </a:pPr>
            <a:r>
              <a:rPr lang="en-IN" dirty="0"/>
              <a:t>👉 As complexity increases, traditional programming becomes difficult.</a:t>
            </a:r>
          </a:p>
        </p:txBody>
      </p:sp>
    </p:spTree>
    <p:extLst>
      <p:ext uri="{BB962C8B-B14F-4D97-AF65-F5344CB8AC3E}">
        <p14:creationId xmlns:p14="http://schemas.microsoft.com/office/powerpoint/2010/main" val="6156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53E55-1894-218D-1AA3-5BFE214E2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112D7A-38B4-BE05-47FC-7464C7BF5586}"/>
              </a:ext>
            </a:extLst>
          </p:cNvPr>
          <p:cNvSpPr txBox="1"/>
          <p:nvPr/>
        </p:nvSpPr>
        <p:spPr>
          <a:xfrm>
            <a:off x="609599" y="1252902"/>
            <a:ext cx="8957187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100" b="1" dirty="0"/>
              <a:t>Data Requirements in AI</a:t>
            </a:r>
          </a:p>
          <a:p>
            <a:pPr algn="ctr">
              <a:buNone/>
            </a:pPr>
            <a:endParaRPr lang="en-US" sz="3100" b="1" dirty="0"/>
          </a:p>
          <a:p>
            <a:pPr>
              <a:buNone/>
            </a:pPr>
            <a:r>
              <a:rPr lang="en-US" sz="2500" b="1" dirty="0"/>
              <a:t>Data Requirements</a:t>
            </a:r>
          </a:p>
          <a:p>
            <a:pPr>
              <a:buNone/>
            </a:pPr>
            <a:r>
              <a:rPr lang="en-US" sz="2500" dirty="0"/>
              <a:t>AI systems learn from data.</a:t>
            </a:r>
          </a:p>
          <a:p>
            <a:pPr>
              <a:buNone/>
            </a:pPr>
            <a:r>
              <a:rPr lang="en-US" sz="2500" dirty="0"/>
              <a:t>Important factors: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Quantity</a:t>
            </a:r>
            <a:r>
              <a:rPr lang="en-US" sz="2500" dirty="0"/>
              <a:t> – Large datasets improve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Quality</a:t>
            </a:r>
            <a:r>
              <a:rPr lang="en-US" sz="2500" dirty="0"/>
              <a:t> – Clean and accurate data is important.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Diversity</a:t>
            </a:r>
            <a:r>
              <a:rPr lang="en-US" sz="2500" dirty="0"/>
              <a:t> – Data should represent real-world variations.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Labeling</a:t>
            </a:r>
            <a:r>
              <a:rPr lang="en-US" sz="2500" dirty="0"/>
              <a:t> – Required in supervised learning.</a:t>
            </a:r>
          </a:p>
          <a:p>
            <a:pPr>
              <a:buNone/>
            </a:pPr>
            <a:r>
              <a:rPr lang="en-US" sz="2500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Face recognition needs thousands of face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Chatbots need large text datasets.</a:t>
            </a:r>
          </a:p>
          <a:p>
            <a:pPr>
              <a:buNone/>
            </a:pPr>
            <a:r>
              <a:rPr lang="en-US" sz="2500" dirty="0"/>
              <a:t>👉 Poor data = Poor AI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8527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9B55-D965-A44E-686F-799108C4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7628E5-1569-353A-D5D5-65B6127D921B}"/>
              </a:ext>
            </a:extLst>
          </p:cNvPr>
          <p:cNvSpPr txBox="1"/>
          <p:nvPr/>
        </p:nvSpPr>
        <p:spPr>
          <a:xfrm>
            <a:off x="200786" y="744256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Solution Metrics (How to Measure AI Performance)</a:t>
            </a:r>
          </a:p>
          <a:p>
            <a:pPr>
              <a:buNone/>
            </a:pPr>
            <a:r>
              <a:rPr lang="en-IN" b="1" dirty="0"/>
              <a:t>Solution Evaluation Metrics</a:t>
            </a:r>
          </a:p>
          <a:p>
            <a:pPr>
              <a:buNone/>
            </a:pPr>
            <a:r>
              <a:rPr lang="en-IN" dirty="0"/>
              <a:t>To check if AI model works properly, we use metrics.</a:t>
            </a:r>
          </a:p>
          <a:p>
            <a:pPr>
              <a:buNone/>
            </a:pPr>
            <a:r>
              <a:rPr lang="en-IN" b="1" dirty="0"/>
              <a:t>For Classification: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F1-Score</a:t>
            </a:r>
          </a:p>
          <a:p>
            <a:pPr>
              <a:buNone/>
            </a:pPr>
            <a:r>
              <a:rPr lang="en-IN" b="1" dirty="0"/>
              <a:t>For Regression: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Mean Absolute Error (MAE)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Mean Squared Error (MSE)</a:t>
            </a:r>
          </a:p>
          <a:p>
            <a:pPr>
              <a:buNone/>
            </a:pPr>
            <a:r>
              <a:rPr lang="en-IN" b="1" dirty="0"/>
              <a:t>For Reinforcement Learning: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Total Reward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Average Reward</a:t>
            </a:r>
          </a:p>
          <a:p>
            <a:pPr>
              <a:buNone/>
            </a:pPr>
            <a:r>
              <a:rPr lang="en-IN" dirty="0"/>
              <a:t>👉 Metrics help compare models and improve performance.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0BE3B0-7D37-56B4-B966-3998F36364D5}"/>
                  </a:ext>
                </a:extLst>
              </p:cNvPr>
              <p:cNvSpPr txBox="1"/>
              <p:nvPr/>
            </p:nvSpPr>
            <p:spPr>
              <a:xfrm>
                <a:off x="6096000" y="744256"/>
                <a:ext cx="6096000" cy="2554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Accuracy</a:t>
                </a:r>
              </a:p>
              <a:p>
                <a:pPr>
                  <a:buNone/>
                </a:pPr>
                <a:r>
                  <a:rPr lang="en-IN" b="1" dirty="0"/>
                  <a:t>Formula: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TP = True Positive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TN = True Negative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FP = False Positive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FN = False Negative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0BE3B0-7D37-56B4-B966-3998F3636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44256"/>
                <a:ext cx="6096000" cy="2554482"/>
              </a:xfrm>
              <a:prstGeom prst="rect">
                <a:avLst/>
              </a:prstGeom>
              <a:blipFill>
                <a:blip r:embed="rId2"/>
                <a:stretch>
                  <a:fillRect l="-800" t="-955" b="-3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1DBC9-C4AE-F125-5FCC-4334361CBB25}"/>
                  </a:ext>
                </a:extLst>
              </p:cNvPr>
              <p:cNvSpPr txBox="1"/>
              <p:nvPr/>
            </p:nvSpPr>
            <p:spPr>
              <a:xfrm>
                <a:off x="6196393" y="4099085"/>
                <a:ext cx="6096000" cy="892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Precision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1DBC9-C4AE-F125-5FCC-4334361CB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393" y="4099085"/>
                <a:ext cx="6096000" cy="892488"/>
              </a:xfrm>
              <a:prstGeom prst="rect">
                <a:avLst/>
              </a:prstGeom>
              <a:blipFill>
                <a:blip r:embed="rId3"/>
                <a:stretch>
                  <a:fillRect l="-800" t="-27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76FE3E-BE7F-76AF-D6F7-2241432FC765}"/>
                  </a:ext>
                </a:extLst>
              </p:cNvPr>
              <p:cNvSpPr txBox="1"/>
              <p:nvPr/>
            </p:nvSpPr>
            <p:spPr>
              <a:xfrm>
                <a:off x="6296786" y="5391746"/>
                <a:ext cx="6144126" cy="892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Recall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76FE3E-BE7F-76AF-D6F7-2241432FC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786" y="5391746"/>
                <a:ext cx="6144126" cy="892488"/>
              </a:xfrm>
              <a:prstGeom prst="rect">
                <a:avLst/>
              </a:prstGeom>
              <a:blipFill>
                <a:blip r:embed="rId4"/>
                <a:stretch>
                  <a:fillRect l="-893" t="-27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08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A1FB-841B-D5AF-D1FB-F0579613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F15A66-A732-5892-BB44-3829F4FCBAEC}"/>
                  </a:ext>
                </a:extLst>
              </p:cNvPr>
              <p:cNvSpPr txBox="1"/>
              <p:nvPr/>
            </p:nvSpPr>
            <p:spPr>
              <a:xfrm>
                <a:off x="352927" y="983696"/>
                <a:ext cx="6096000" cy="1176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F1-Score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👉 Harmonic mean of Precision and Recall.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F15A66-A732-5892-BB44-3829F4FCB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27" y="983696"/>
                <a:ext cx="6096000" cy="1176861"/>
              </a:xfrm>
              <a:prstGeom prst="rect">
                <a:avLst/>
              </a:prstGeom>
              <a:blipFill>
                <a:blip r:embed="rId2"/>
                <a:stretch>
                  <a:fillRect l="-900" t="-2073" b="-77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8A18C6-E971-08DC-2B56-BC9335DEA435}"/>
                  </a:ext>
                </a:extLst>
              </p:cNvPr>
              <p:cNvSpPr txBox="1"/>
              <p:nvPr/>
            </p:nvSpPr>
            <p:spPr>
              <a:xfrm>
                <a:off x="352927" y="2770454"/>
                <a:ext cx="6096000" cy="1317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Mean Absolute Error (MAE)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nary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𝑎𝑐𝑡𝑢𝑎𝑙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𝑝𝑟𝑒𝑑𝑖𝑐𝑡𝑒𝑑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👉 Average of absolute differences.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8A18C6-E971-08DC-2B56-BC9335DEA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27" y="2770454"/>
                <a:ext cx="6096000" cy="1317092"/>
              </a:xfrm>
              <a:prstGeom prst="rect">
                <a:avLst/>
              </a:prstGeom>
              <a:blipFill>
                <a:blip r:embed="rId3"/>
                <a:stretch>
                  <a:fillRect l="-900" t="-1843" b="-6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E94760-7A2E-9CC7-1F6E-391F7E754597}"/>
                  </a:ext>
                </a:extLst>
              </p:cNvPr>
              <p:cNvSpPr txBox="1"/>
              <p:nvPr/>
            </p:nvSpPr>
            <p:spPr>
              <a:xfrm>
                <a:off x="352927" y="4584466"/>
                <a:ext cx="6096000" cy="1317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Mean Squared Error (MSE)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𝑎𝑐𝑡𝑢𝑎𝑙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𝑝𝑟𝑒𝑑𝑖𝑐𝑡𝑒𝑑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👉 Average of squared differences.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E94760-7A2E-9CC7-1F6E-391F7E754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27" y="4584466"/>
                <a:ext cx="6096000" cy="1317092"/>
              </a:xfrm>
              <a:prstGeom prst="rect">
                <a:avLst/>
              </a:prstGeom>
              <a:blipFill>
                <a:blip r:embed="rId4"/>
                <a:stretch>
                  <a:fillRect l="-900" t="-1852" b="-6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A99939-E940-7EFF-CFC1-415CC8220BD0}"/>
                  </a:ext>
                </a:extLst>
              </p:cNvPr>
              <p:cNvSpPr txBox="1"/>
              <p:nvPr/>
            </p:nvSpPr>
            <p:spPr>
              <a:xfrm>
                <a:off x="6096000" y="819797"/>
                <a:ext cx="6096000" cy="17021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Reinforcement Learning Metrics</a:t>
                </a:r>
              </a:p>
              <a:p>
                <a:pPr>
                  <a:buNone/>
                </a:pPr>
                <a:r>
                  <a:rPr lang="en-IN" b="1" dirty="0"/>
                  <a:t>Total Reward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𝑅𝑒𝑤𝑎𝑟𝑑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👉 Sum of all rewards received.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A99939-E940-7EFF-CFC1-415CC8220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819797"/>
                <a:ext cx="6096000" cy="1702197"/>
              </a:xfrm>
              <a:prstGeom prst="rect">
                <a:avLst/>
              </a:prstGeom>
              <a:blipFill>
                <a:blip r:embed="rId5"/>
                <a:stretch>
                  <a:fillRect l="-800" t="-1429" b="-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BD1D0C-63B5-18A7-8A7B-7BE48E1AD1A7}"/>
                  </a:ext>
                </a:extLst>
              </p:cNvPr>
              <p:cNvSpPr txBox="1"/>
              <p:nvPr/>
            </p:nvSpPr>
            <p:spPr>
              <a:xfrm>
                <a:off x="6320589" y="3429000"/>
                <a:ext cx="5743074" cy="943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Average Reward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𝐴𝑣𝑒𝑟𝑎𝑔𝑒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𝑅𝑒𝑤𝑎𝑟𝑑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m:rPr>
                              <m:nor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𝑅𝑒𝑤𝑎𝑟𝑑</m:t>
                          </m:r>
                        </m:num>
                        <m:den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m:rPr>
                              <m:nor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m:rPr>
                              <m:nor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𝑆𝑡𝑒𝑝𝑠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BD1D0C-63B5-18A7-8A7B-7BE48E1AD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589" y="3429000"/>
                <a:ext cx="5743074" cy="943848"/>
              </a:xfrm>
              <a:prstGeom prst="rect">
                <a:avLst/>
              </a:prstGeom>
              <a:blipFill>
                <a:blip r:embed="rId6"/>
                <a:stretch>
                  <a:fillRect l="-955" t="-32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65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16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387ED-B35F-1CD4-9C3A-B4D956FB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973B82-ECC8-DA9A-9A10-6586F3C1873E}"/>
              </a:ext>
            </a:extLst>
          </p:cNvPr>
          <p:cNvSpPr txBox="1"/>
          <p:nvPr/>
        </p:nvSpPr>
        <p:spPr>
          <a:xfrm>
            <a:off x="1750142" y="1266869"/>
            <a:ext cx="60960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/>
              <a:t>Introduction to Reinforcement Learning (RL)</a:t>
            </a:r>
          </a:p>
          <a:p>
            <a:pPr>
              <a:buNone/>
            </a:pPr>
            <a:r>
              <a:rPr lang="en-US" sz="2500" b="1" dirty="0"/>
              <a:t>Reinforcement Learning</a:t>
            </a:r>
          </a:p>
          <a:p>
            <a:pPr>
              <a:buNone/>
            </a:pPr>
            <a:r>
              <a:rPr lang="en-US" sz="2500" dirty="0"/>
              <a:t>Reinforcement Learning is a type of machine learning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An </a:t>
            </a:r>
            <a:r>
              <a:rPr lang="en-US" sz="2500" b="1" dirty="0"/>
              <a:t>agent</a:t>
            </a:r>
            <a:r>
              <a:rPr lang="en-US" sz="2500" dirty="0"/>
              <a:t> learns by interacting with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It takes </a:t>
            </a:r>
            <a:r>
              <a:rPr lang="en-US" sz="2500" b="1" dirty="0"/>
              <a:t>actions</a:t>
            </a:r>
            <a:r>
              <a:rPr lang="en-US" sz="25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Receives </a:t>
            </a:r>
            <a:r>
              <a:rPr lang="en-US" sz="2500" b="1" dirty="0"/>
              <a:t>rewards or penalties</a:t>
            </a:r>
            <a:r>
              <a:rPr lang="en-US" sz="25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Learns to maximize total reward.</a:t>
            </a:r>
          </a:p>
          <a:p>
            <a:pPr>
              <a:buNone/>
            </a:pPr>
            <a:r>
              <a:rPr lang="en-US" sz="2500" dirty="0"/>
              <a:t>👉 Learning by trial and error.</a:t>
            </a:r>
          </a:p>
        </p:txBody>
      </p:sp>
    </p:spTree>
    <p:extLst>
      <p:ext uri="{BB962C8B-B14F-4D97-AF65-F5344CB8AC3E}">
        <p14:creationId xmlns:p14="http://schemas.microsoft.com/office/powerpoint/2010/main" val="715378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E0585-F2C1-DD3E-5969-F1B6CD6F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364AFE-E406-63B8-2A62-BD5A0C582720}"/>
              </a:ext>
            </a:extLst>
          </p:cNvPr>
          <p:cNvSpPr txBox="1"/>
          <p:nvPr/>
        </p:nvSpPr>
        <p:spPr>
          <a:xfrm>
            <a:off x="704817" y="904568"/>
            <a:ext cx="52535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Components of Reinforcement Learning</a:t>
            </a:r>
          </a:p>
          <a:p>
            <a:pPr>
              <a:buNone/>
            </a:pPr>
            <a:r>
              <a:rPr lang="en-US" b="1" dirty="0"/>
              <a:t>Main Components of RL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Agent</a:t>
            </a:r>
            <a:r>
              <a:rPr lang="en-US" dirty="0"/>
              <a:t> – The learner (robot, AI model)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Environment</a:t>
            </a:r>
            <a:r>
              <a:rPr lang="en-US" dirty="0"/>
              <a:t> – Where agent acts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State</a:t>
            </a:r>
            <a:r>
              <a:rPr lang="en-US" dirty="0"/>
              <a:t> – Current situation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Action</a:t>
            </a:r>
            <a:r>
              <a:rPr lang="en-US" dirty="0"/>
              <a:t> – Decision taken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Reward</a:t>
            </a:r>
            <a:r>
              <a:rPr lang="en-US" dirty="0"/>
              <a:t> – Feedback received</a:t>
            </a:r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Game playing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Agent: Game player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Action: Move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Reward: Win or lose points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D8F71-47A5-7293-1587-F4063CD604C4}"/>
              </a:ext>
            </a:extLst>
          </p:cNvPr>
          <p:cNvSpPr txBox="1"/>
          <p:nvPr/>
        </p:nvSpPr>
        <p:spPr>
          <a:xfrm>
            <a:off x="6361471" y="865239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Reinforcement Learning in Sequential Decision Problems</a:t>
            </a:r>
          </a:p>
          <a:p>
            <a:pPr>
              <a:buNone/>
            </a:pPr>
            <a:r>
              <a:rPr lang="en-US" b="1" dirty="0"/>
              <a:t>Sequential Decision Problems</a:t>
            </a:r>
          </a:p>
          <a:p>
            <a:pPr>
              <a:buNone/>
            </a:pPr>
            <a:r>
              <a:rPr lang="en-US" dirty="0"/>
              <a:t>In RL: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Decisions are made step by step.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Current action affects future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Goal: Maximize long-term reward.</a:t>
            </a:r>
          </a:p>
          <a:p>
            <a:pPr>
              <a:buNone/>
            </a:pPr>
            <a:r>
              <a:rPr lang="en-US" b="1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Self-driving cars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Robotics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Stock trading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Game playing (Chess, Go)</a:t>
            </a:r>
          </a:p>
          <a:p>
            <a:pPr>
              <a:buNone/>
            </a:pPr>
            <a:r>
              <a:rPr lang="en-US" dirty="0"/>
              <a:t>👉 RL is powerful for dynamic and real-time decision-making problems.</a:t>
            </a:r>
          </a:p>
        </p:txBody>
      </p:sp>
    </p:spTree>
    <p:extLst>
      <p:ext uri="{BB962C8B-B14F-4D97-AF65-F5344CB8AC3E}">
        <p14:creationId xmlns:p14="http://schemas.microsoft.com/office/powerpoint/2010/main" val="3288912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ADCE-0C52-464D-FE8B-F70F36C1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5878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3F3680DA-F5F8-4226-B96B-91A690E07638}" vid="{97E33D02-E2EA-4E43-BC00-72FDFBFFD2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201</TotalTime>
  <Words>605</Words>
  <Application>Microsoft Office PowerPoint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 Singh</dc:creator>
  <cp:lastModifiedBy>Tarun Singh</cp:lastModifiedBy>
  <cp:revision>3</cp:revision>
  <dcterms:created xsi:type="dcterms:W3CDTF">2026-02-17T03:15:27Z</dcterms:created>
  <dcterms:modified xsi:type="dcterms:W3CDTF">2026-02-18T10:25:42Z</dcterms:modified>
</cp:coreProperties>
</file>