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D2D38-E1AE-B458-BE27-EADFF0FDD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12CC0-0359-E29D-AD54-5C1481661A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CEB5C-FF38-EE0C-F6B1-6864FA5A3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55DE-27BF-4F11-AE83-7F2CB4B4DC4E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4EEAD-C58E-B9BD-98B4-65C628B9E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CA4C3-E41C-7367-2172-3A0FF8A60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93B08-3490-4DC3-8C35-2ACFEDBDC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265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759EF-29A4-829F-D8D9-D54D9378D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5D685-93E2-4B57-1EFA-478032C38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ADBF9-FA0A-7630-FFBB-AF579EB73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55DE-27BF-4F11-AE83-7F2CB4B4DC4E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527EE-0145-6B86-DA52-EDE2FBC1D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C18D7-ACF0-7C60-D56A-6AC561617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93B08-3490-4DC3-8C35-2ACFEDBDC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831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90C73-FA95-A837-594A-3111CC0B4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B21D5-E480-7C53-F15D-7D72137D0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5A25D-C814-2887-D10F-14C969A70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55DE-27BF-4F11-AE83-7F2CB4B4DC4E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50B21-6C7D-1651-8826-5ABBFC852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D3504-56C8-A122-B193-830D7288D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93B08-3490-4DC3-8C35-2ACFEDBDC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527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EA3C1-D913-E77A-05C1-F3ED6E396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CB471-5478-B310-DD15-E37A87ACA9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169B1A-DC9A-153A-E7CB-087F08BE8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68FEF-9A80-2C48-1043-1D27363B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55DE-27BF-4F11-AE83-7F2CB4B4DC4E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FF842-FDD5-ACE1-1EB4-8DEFCC9C4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BAE97-52B6-5983-2C31-982295742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93B08-3490-4DC3-8C35-2ACFEDBDC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264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857CF-3B93-0264-37EA-F04168E4C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2FE48-E12E-6E3B-B71B-2EC115298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78FCE-3B04-1870-B2C4-B759A7172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C83D1D-2763-B7F3-BE01-7D8820599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A33CC0-26CA-115C-6FCE-209117B25F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C908E3-1262-C265-CCF7-627D30199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55DE-27BF-4F11-AE83-7F2CB4B4DC4E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EC1F56-8632-F292-CA82-B26C1FABD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8BDF16-BAEB-CC74-695A-9026A371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93B08-3490-4DC3-8C35-2ACFEDBDC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466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FE738-53D3-0D24-70C2-698EB7B30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1C9F7E-6BF4-61CB-BED3-BB0E33C91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55DE-27BF-4F11-AE83-7F2CB4B4DC4E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FD1E93-85CD-0C47-8982-747FCAB77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8F8D5-9B16-A661-20B6-857D9E6A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93B08-3490-4DC3-8C35-2ACFEDBDC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58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7B802-679A-4764-A03D-3B03E4995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55DE-27BF-4F11-AE83-7F2CB4B4DC4E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4D6E4C-B33C-1AF1-ACD6-42FEC995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9ED53-5DAA-37A9-17D9-381B36F9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93B08-3490-4DC3-8C35-2ACFEDBDC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281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0A2BA-569E-7F3F-768A-477538435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37F89-ADAD-A4C4-1B8B-211379E68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211D8-C3E7-2D67-4412-F9883030E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9E6F1-1BFC-7A6E-73BA-ECCE44186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55DE-27BF-4F11-AE83-7F2CB4B4DC4E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F301E-AA25-AE42-DEFC-9E3DAF1DC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93C33-1AB3-AAB6-1BDE-A721404B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93B08-3490-4DC3-8C35-2ACFEDBDC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08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899D8-6048-D6FE-AB2B-E646EF9C4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6A16F7-8851-D4AD-4106-EE6DC79668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C8BB5-A381-CAB1-8C6E-70EE78711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AF0BE-D6D6-1500-22E6-1E0746B08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55DE-27BF-4F11-AE83-7F2CB4B4DC4E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F2085-B625-811F-F241-3B8950206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CEFF9-A4B2-4F5D-BBBE-630E1A573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93B08-3490-4DC3-8C35-2ACFEDBDC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66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FA59-A448-7E83-8CE6-ECD5F979A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6AF5D-A432-8A7D-D497-3CB9D8259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43670-2A1F-03B5-E006-A725DB86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55DE-27BF-4F11-AE83-7F2CB4B4DC4E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DA136-4BB7-595B-84AA-5F5E38AAA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0BDD9-DD0C-3BFC-560B-58E3BDBAB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93B08-3490-4DC3-8C35-2ACFEDBDC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741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8D5554-6FCA-2989-DF8B-D7A7D8734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2117B0-8989-AA63-C6E3-71C8B89B3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CF707-0A28-FD7A-EF1A-40207372A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55DE-27BF-4F11-AE83-7F2CB4B4DC4E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2ACC0-8BD5-52A1-3775-410A219EC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246B6-4228-992F-9B99-CD6EF901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93B08-3490-4DC3-8C35-2ACFEDBDC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04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6A5F04-E8C6-CC55-F921-58B8A9F9C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74A07-6D01-00DA-82EB-D3A4F3FD0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F34CF-0ECD-0642-7515-224068893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B55DE-27BF-4F11-AE83-7F2CB4B4DC4E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3E156-8740-D606-3745-DB7672C38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46D4D-B112-DF7B-14A0-01AF1A00F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93B08-3490-4DC3-8C35-2ACFEDBDC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081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1219200"/>
          </a:xfrm>
          <a:prstGeom prst="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09600" y="243841"/>
            <a:ext cx="1097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rPr sz="7200"/>
              <a:t>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41120"/>
            <a:ext cx="109728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i="1">
                <a:solidFill>
                  <a:srgbClr val="16A085"/>
                </a:solidFill>
              </a:defRPr>
            </a:pPr>
            <a:r>
              <a:rPr sz="2667"/>
              <a:t>Measuring What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94561"/>
            <a:ext cx="5852160" cy="128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9B59B6"/>
                </a:solidFill>
              </a:defRPr>
            </a:pPr>
            <a:r>
              <a:rPr sz="2133" dirty="0"/>
              <a:t>Assessing Model Performance</a:t>
            </a:r>
          </a:p>
          <a:p>
            <a:pPr>
              <a:spcAft>
                <a:spcPts val="1333"/>
              </a:spcAft>
              <a:defRPr sz="1400">
                <a:solidFill>
                  <a:srgbClr val="16A085"/>
                </a:solidFill>
              </a:defRPr>
            </a:pPr>
            <a:r>
              <a:rPr sz="1867" dirty="0"/>
              <a:t>📊 Metrics | ✓ Validation</a:t>
            </a:r>
            <a:endParaRPr sz="1600" dirty="0"/>
          </a:p>
          <a:p>
            <a:pPr>
              <a:spcAft>
                <a:spcPts val="667"/>
              </a:spcAft>
              <a:defRPr sz="1000">
                <a:solidFill>
                  <a:srgbClr val="646464"/>
                </a:solidFill>
              </a:defRPr>
            </a:pPr>
            <a:r>
              <a:rPr sz="1333" dirty="0"/>
              <a:t>Cross-Validation, Confusion Matrix, Precision/Recall, ROC-AUC</a:t>
            </a:r>
          </a:p>
        </p:txBody>
      </p:sp>
      <p:sp>
        <p:nvSpPr>
          <p:cNvPr id="7" name="Rectangle 6"/>
          <p:cNvSpPr/>
          <p:nvPr/>
        </p:nvSpPr>
        <p:spPr>
          <a:xfrm>
            <a:off x="6705600" y="2194560"/>
            <a:ext cx="1828800" cy="731520"/>
          </a:xfrm>
          <a:prstGeom prst="rect">
            <a:avLst/>
          </a:prstGeom>
          <a:solidFill>
            <a:srgbClr val="9B59B6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67"/>
              <a:t>LEARN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600" y="3657600"/>
            <a:ext cx="1828800" cy="731520"/>
          </a:xfrm>
          <a:prstGeom prst="rect">
            <a:avLst/>
          </a:prstGeom>
          <a:solidFill>
            <a:srgbClr val="16A085"/>
          </a:solidFill>
          <a:ln w="254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67"/>
              <a:t>APPLY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705600" y="5120640"/>
            <a:ext cx="1828800" cy="731520"/>
          </a:xfrm>
          <a:prstGeom prst="rect">
            <a:avLst/>
          </a:prstGeom>
          <a:solidFill>
            <a:srgbClr val="9B59B6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67"/>
              <a:t>MASTER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6675120"/>
            <a:ext cx="12009120" cy="182880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1" name="Picture 2" descr="LPU Distance Education| Recognitions &amp; Approvals">
            <a:extLst>
              <a:ext uri="{FF2B5EF4-FFF2-40B4-BE49-F238E27FC236}">
                <a16:creationId xmlns:a16="http://schemas.microsoft.com/office/drawing/2014/main" id="{4C427397-BDE8-88F7-3A19-77EB8E0161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A0A99E8-BFD7-033E-323E-FEFCE9983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Overview</a:t>
            </a:r>
            <a:r>
              <a:rPr lang="en-IN" sz="4267" dirty="0"/>
              <a:t> of core concepts</a:t>
            </a:r>
            <a:endParaRPr sz="4267"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3200" dirty="0"/>
              <a:t>Cross-Validation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3200" dirty="0"/>
              <a:t>k-fold, stratified CV, avoid overfitting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3200" dirty="0"/>
              <a:t>Precision &amp; Recall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3200" dirty="0"/>
              <a:t>TP/FP/FN/TN, trade-offs, business impact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3200" dirty="0"/>
              <a:t>ROC-AUC &amp; PR Curves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3200" dirty="0"/>
              <a:t>Threshold optimization, imbalanced data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3200" dirty="0"/>
              <a:t>Choosing Metrics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3200" dirty="0"/>
              <a:t>Decision framework, real-world examples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80B243D5-4358-00D7-4C17-9D01416DEC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26D58435-3A66-AA01-6B4C-A7FA6CD69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1. Cross-Validation -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367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Single Split Problem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Data: 80% train, 20% test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Issues: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- Test set might be easy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  → Model seems good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- Test set might be hard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  → Model seems bad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- Only 1 measurement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  → Unreliable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3974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CV Solution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Split into k=5 folds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Create 5 models: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Each tests on 1 fold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Each trains on 4 folds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Average 5 results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Benefits: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- Reliable average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- Detect overfitting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- Better estimate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37DC74D1-1D88-F4B4-6083-12AE90DC3B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4384556E-4B27-A04E-6241-028CCD650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2. Cross-Validation Process</a:t>
            </a:r>
          </a:p>
        </p:txBody>
      </p:sp>
      <p:pic>
        <p:nvPicPr>
          <p:cNvPr id="5" name="Picture 4" descr="01_cross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39" y="889852"/>
            <a:ext cx="11831967" cy="5836204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7088DCCB-FAA0-225B-B452-04DDAB2623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D47B3544-A7A8-A83D-24F6-03C7788AD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3. CV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5752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CROSS-VALIDATION EXAMPLE: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Dataset: 1000 patient records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5-FOLD CV PROCESS:</a:t>
            </a:r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Fold 1: Train 800 → Test 200 → Accuracy 85%</a:t>
            </a:r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Fold 2: Train 800 → Test 200 → Accuracy 84%</a:t>
            </a:r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Fold 3: Train 800 → Test 200 → Accuracy 86%</a:t>
            </a:r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Fold 4: Train 800 → Test 200 → Accuracy 85%</a:t>
            </a:r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Fold 5: Train 800 → Test 200 → Accuracy 87%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RESULT: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CV Score = Mean of folds = 85.4%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Std Dev = 1.02% (low = consistent)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INTERPRETATION:</a:t>
            </a:r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Expected performance on new data: 85-86%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Model is reliable and stable!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WHY BETTER THAN SINGLE SPLIT:</a:t>
            </a:r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Single split: 85% (unreliable, one time)</a:t>
            </a:r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5-fold CV: 85.4% +/- 1.0% (reliable, 5 times)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The standard deviation matters!</a:t>
            </a:r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- Low std: Consistent, reliable model</a:t>
            </a:r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- High std: Unstable, unreliable model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C0D0FBC2-8287-D351-B453-60A394C175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CABF2A5D-EBDC-3648-D256-4DC15AAA9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4. Confusion Matrix -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5486400" cy="2500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Good Predictions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TP (True Positive):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Predicted YES,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Actually YES ✓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TN (True Negative):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Predicted NO,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Actually NO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3089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Bad Predictions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FP (False Positive):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Predicted YES,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Actually NO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False alarm!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FN (False Negative):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Predicted NO,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Actually YES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Missed case!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3F4977DA-62D7-1913-AE6D-5710CE38EE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27AB3A53-9E61-D8B2-8712-095AA9C12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5. Confusion Matrix &amp; Metrics</a:t>
            </a:r>
          </a:p>
        </p:txBody>
      </p:sp>
      <p:pic>
        <p:nvPicPr>
          <p:cNvPr id="5" name="Picture 4" descr="02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1"/>
            <a:ext cx="11460480" cy="5189263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947A5379-7F88-055F-B561-463910D5E2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CAC1281-E986-34CE-2892-F5B044E5C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6. Precision - Prediction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91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Formula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Precision = TP/(TP+FP)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Question: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Of predictions I made,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how many were correct?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20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Example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Cancer screening: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Predicted YES: 100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Actually YES: 90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Precision = 90/100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= 90%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7788FEBC-DF27-C176-6067-E173C84A2C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E652FE9E-9E60-5ECA-FAFF-A961856A3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7. Recall -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91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Formula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Recall = TP/(TP+FN)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Question: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Of actual positives,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how many did I catch?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20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Example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Cancer screening: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Actually YES: 150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Caught: 90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Recall = 90/150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= 60%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F5972848-F7EA-E353-C653-C897CE9D92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F227D8C-D86C-6A1C-B1DC-0E0BE4CFE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8. Precision vs Recall Trade-off</a:t>
            </a:r>
          </a:p>
        </p:txBody>
      </p:sp>
      <p:pic>
        <p:nvPicPr>
          <p:cNvPr id="5" name="Picture 4" descr="03_precision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14225"/>
            <a:ext cx="11882290" cy="6448362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3A3E375D-DF54-2FA9-85FB-F9A91B577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CC37191E-C6CA-540D-A934-BC8CAA2AB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9. When to Optimize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3315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Real-World Metric Selection</a:t>
            </a:r>
          </a:p>
          <a:p>
            <a:pPr>
              <a:spcAft>
                <a:spcPts val="133"/>
              </a:spcAft>
              <a:defRPr sz="1050" b="1">
                <a:solidFill>
                  <a:srgbClr val="FF6B6B"/>
                </a:solidFill>
              </a:defRPr>
            </a:pPr>
            <a:r>
              <a:rPr sz="1400"/>
              <a:t>Email Spam Filter</a:t>
            </a:r>
          </a:p>
          <a:p>
            <a:pPr>
              <a:spcAft>
                <a:spcPts val="133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Goal: HIGH PRECISION</a:t>
            </a:r>
          </a:p>
          <a:p>
            <a:pPr>
              <a:spcAft>
                <a:spcPts val="6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Why: Deleting real email = bad</a:t>
            </a:r>
          </a:p>
          <a:p>
            <a:pPr>
              <a:spcAft>
                <a:spcPts val="133"/>
              </a:spcAft>
              <a:defRPr sz="1050" b="1">
                <a:solidFill>
                  <a:srgbClr val="FF6B6B"/>
                </a:solidFill>
              </a:defRPr>
            </a:pPr>
            <a:r>
              <a:rPr sz="1400"/>
              <a:t>Disease Detection</a:t>
            </a:r>
          </a:p>
          <a:p>
            <a:pPr>
              <a:spcAft>
                <a:spcPts val="133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Goal: HIGH RECALL</a:t>
            </a:r>
          </a:p>
          <a:p>
            <a:pPr>
              <a:spcAft>
                <a:spcPts val="6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Why: Missing disease = dangerous</a:t>
            </a:r>
          </a:p>
          <a:p>
            <a:pPr>
              <a:spcAft>
                <a:spcPts val="133"/>
              </a:spcAft>
              <a:defRPr sz="1050" b="1">
                <a:solidFill>
                  <a:srgbClr val="FF6B6B"/>
                </a:solidFill>
              </a:defRPr>
            </a:pPr>
            <a:r>
              <a:rPr sz="1400"/>
              <a:t>Fraud Detection</a:t>
            </a:r>
          </a:p>
          <a:p>
            <a:pPr>
              <a:spcAft>
                <a:spcPts val="133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Goal: BALANCED F1</a:t>
            </a:r>
          </a:p>
          <a:p>
            <a:pPr>
              <a:spcAft>
                <a:spcPts val="6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Why: Both FP and FN costly</a:t>
            </a:r>
          </a:p>
          <a:p>
            <a:pPr>
              <a:spcAft>
                <a:spcPts val="133"/>
              </a:spcAft>
              <a:defRPr sz="1050" b="1">
                <a:solidFill>
                  <a:srgbClr val="FF6B6B"/>
                </a:solidFill>
              </a:defRPr>
            </a:pPr>
            <a:r>
              <a:rPr sz="1400"/>
              <a:t>Resume Screening</a:t>
            </a:r>
          </a:p>
          <a:p>
            <a:pPr>
              <a:spcAft>
                <a:spcPts val="133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Goal: HIGH PRECISION</a:t>
            </a:r>
          </a:p>
          <a:p>
            <a:pPr>
              <a:spcAft>
                <a:spcPts val="6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Why: Interview wrong = wasteful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E13D2A22-E5E4-3597-D5C1-903EA9BE2C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65C367CF-7482-15CD-D99E-C6EC1AB9B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10. ROC-AUC Curve</a:t>
            </a:r>
          </a:p>
        </p:txBody>
      </p:sp>
      <p:pic>
        <p:nvPicPr>
          <p:cNvPr id="5" name="Picture 4" descr="04_roc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0"/>
            <a:ext cx="11460480" cy="4863355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73E2E6DB-500F-A363-184A-8D45BEDF1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3188A3AE-DEE8-C908-BAD4-F8781D649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11. Precision-Recall Curve</a:t>
            </a:r>
          </a:p>
        </p:txBody>
      </p:sp>
      <p:pic>
        <p:nvPicPr>
          <p:cNvPr id="5" name="Picture 4" descr="05_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83" y="814224"/>
            <a:ext cx="11795146" cy="6163747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8C72DAE6-497B-A994-7A5E-FAC6B18504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3E47BB8F-48E9-0FB9-D11E-3251F96FD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12. Metrics Selection Guide</a:t>
            </a:r>
          </a:p>
        </p:txBody>
      </p:sp>
      <p:pic>
        <p:nvPicPr>
          <p:cNvPr id="5" name="Picture 4" descr="06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792478"/>
            <a:ext cx="11460480" cy="6130024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6AA5FA70-3AC5-F382-2250-053928BE26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A1E0BF04-2C5D-BD89-5E75-A01748BAC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2894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ALWAYS use Cross-Validation</a:t>
            </a:r>
          </a:p>
          <a:p>
            <a:pPr>
              <a:spcAft>
                <a:spcPts val="6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k=5 folds standard</a:t>
            </a:r>
          </a:p>
          <a:p>
            <a:pPr>
              <a:spcAft>
                <a:spcPts val="133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Accuracy is MISLEADING</a:t>
            </a:r>
          </a:p>
          <a:p>
            <a:pPr>
              <a:spcAft>
                <a:spcPts val="6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Report Precision/Recall instead</a:t>
            </a:r>
          </a:p>
          <a:p>
            <a:pPr>
              <a:spcAft>
                <a:spcPts val="133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Precision vs Recall = BUSINESS choice</a:t>
            </a:r>
          </a:p>
          <a:p>
            <a:pPr>
              <a:spcAft>
                <a:spcPts val="6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Not technical, depends on costs</a:t>
            </a:r>
          </a:p>
          <a:p>
            <a:pPr>
              <a:spcAft>
                <a:spcPts val="133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Choose metric based on PROBLEM</a:t>
            </a:r>
          </a:p>
          <a:p>
            <a:pPr>
              <a:spcAft>
                <a:spcPts val="6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Fraud: F1 | Cancer: Recall | Spam: Precision</a:t>
            </a:r>
          </a:p>
          <a:p>
            <a:pPr>
              <a:spcAft>
                <a:spcPts val="133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Report std deviation too</a:t>
            </a:r>
          </a:p>
          <a:p>
            <a:pPr>
              <a:spcAft>
                <a:spcPts val="6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85.4% ± 1.0% (good) vs 85% (vague)</a:t>
            </a:r>
          </a:p>
          <a:p>
            <a:pPr>
              <a:spcAft>
                <a:spcPts val="133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Imbalanced data = PR Curve</a:t>
            </a:r>
          </a:p>
          <a:p>
            <a:pPr>
              <a:spcAft>
                <a:spcPts val="6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Not ROC-AUC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775260F0-FB95-C3B0-9D05-1DFE091777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7529DF67-FC22-4037-3E85-F33EC8434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625</Words>
  <Application>Microsoft Office PowerPoint</Application>
  <PresentationFormat>Widescreen</PresentationFormat>
  <Paragraphs>150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Bharti</dc:creator>
  <cp:lastModifiedBy>Rohit Bharti</cp:lastModifiedBy>
  <cp:revision>22</cp:revision>
  <dcterms:created xsi:type="dcterms:W3CDTF">2026-01-17T10:00:27Z</dcterms:created>
  <dcterms:modified xsi:type="dcterms:W3CDTF">2026-01-17T10:08:11Z</dcterms:modified>
</cp:coreProperties>
</file>