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57" r:id="rId3"/>
    <p:sldId id="260" r:id="rId4"/>
    <p:sldId id="261" r:id="rId5"/>
    <p:sldId id="262" r:id="rId6"/>
    <p:sldId id="265" r:id="rId7"/>
    <p:sldId id="266" r:id="rId8"/>
    <p:sldId id="267" r:id="rId9"/>
    <p:sldId id="270" r:id="rId10"/>
    <p:sldId id="271" r:id="rId11"/>
    <p:sldId id="272" r:id="rId12"/>
    <p:sldId id="275" r:id="rId13"/>
    <p:sldId id="276" r:id="rId14"/>
    <p:sldId id="277" r:id="rId15"/>
    <p:sldId id="280" r:id="rId16"/>
    <p:sldId id="281" r:id="rId17"/>
    <p:sldId id="282" r:id="rId18"/>
    <p:sldId id="285" r:id="rId19"/>
    <p:sldId id="286" r:id="rId20"/>
    <p:sldId id="287" r:id="rId21"/>
    <p:sldId id="290" r:id="rId22"/>
    <p:sldId id="291" r:id="rId23"/>
    <p:sldId id="292" r:id="rId24"/>
    <p:sldId id="293" r:id="rId25"/>
    <p:sldId id="294" r:id="rId26"/>
    <p:sldId id="29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B299-6F3B-B815-13D9-10EEA8D9DA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62EF21-B3D1-0023-A954-F82C27B098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D110-008F-2FA9-C509-99198E979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AEE69-B944-2E1A-AE0F-EBF6CF39F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CF8C9-CFDA-1C25-FAD4-917241FBE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083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796DF-99AC-BFB4-5231-DE85477F9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1657-BE57-B4D9-0561-79FA8D259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4789B-FB05-9D5F-6CF6-5824E4F8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F8A51-D4D0-503A-DD33-6E80BB04B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5FBE2-DDBE-17AF-D6EB-339B1FAE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336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0FCD7-EC25-4EC4-9051-020663D83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4531-73CE-C8D7-FD74-0DC1AA72F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71F3F-7737-6FC3-9CEF-CF7DC196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0F91-5D5C-6E78-B976-42A69AD0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CF79-DF61-EFCD-3288-D0B51AFD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09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D5E70-BAB8-CD21-1A7D-AB5F7325C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2431-5D3B-97D5-1412-D821FD2FE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31ABE-C0A5-CD79-137D-EBABAE884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164679-F386-7814-45AD-B7919A97F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F4D10-FEC7-5317-9930-93688179B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1017-A050-1108-E4CF-F6357A5BC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7607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940D0-7459-B849-AAF1-4ACB30271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4173-6E1E-AEFA-41DA-57726B3DA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C59BD-87B1-1203-3256-ACAE19B11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3FECA1-7F32-4A30-B2FC-C62383E38C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7F328-AD55-CD96-FA81-C9964C3D9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3D8790-C568-FA83-232D-B6566ECDD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C3D24-90CB-0933-FEE2-ED524B5E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233E4-5CBD-1DF0-EF02-65FC83BE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375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7FE1D-B14C-C162-E9E2-7F7B96231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CDE02-7E2F-E6D4-A9A1-17FEDF271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AB17B-1B08-3C29-4525-AC705B79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CF18D-3278-2553-89B6-01FD927A5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691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C8EB4D-2B5F-9D5F-EF89-EFDBF011B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DD986-74A9-4D5B-0FC9-70CA782D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9EEFD-C403-E03A-4645-5774A7AB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23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B945D-6E52-334F-7BE0-50104D0E2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D911BE-D8BF-0573-3F82-8C51DF9F1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9C4D7-465D-6E90-FEFB-89C766C7A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67CA70-6631-A64B-A806-BB3F933D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94C9A-8C17-27C4-64AD-E1F920807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D6AEE-E44D-1BFD-3314-BD073EC0E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995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C5F52-5738-E62E-829F-083BB7C6A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54C75-C66C-F5BA-C179-B920713FD4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DEA34-F8BF-3C29-BC6A-537BC718F5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52A19-B86B-A11E-531B-0201FC3E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6FF3E-6339-2306-DEC5-FCA69988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CD760-E578-1048-22C2-607EC63E5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039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789B-A254-7F4E-8076-F5EA31AD1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E114C1-B754-BDD2-11D2-9CBB73164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D6A06-95D2-5F09-A70E-08AB3B084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5BDF9-8F19-9E60-6A6D-43BC7526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147D3-902E-C6F0-CAE2-A8E19CDC6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808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B19FA0-ADF6-0EAC-C5F1-84A6BF8BC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A383F0-7E4B-95D9-4F18-E1C21D46F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3C3D9-0332-AB80-68BD-E7657D1D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A37BB-748C-FF08-1694-7B0E45968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7E63C-B9DF-CF9B-FAE8-1BFC2488C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999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59409-A667-1BC5-60C8-2C9133B8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797F4-AE58-E829-279B-407C8369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88977-849F-576E-4E34-92B90EE843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1CA6D-ED98-4C54-9037-10CED7C13475}" type="datetimeFigureOut">
              <a:rPr lang="en-IN" smtClean="0"/>
              <a:t>17-01-2026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92C2D0-4A19-8C0B-C31D-591B84DB63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CCD43-0D60-44D7-48F9-9A3C12384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08619-8A53-4654-8D5E-8C6BD100FA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75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1219200"/>
          </a:xfrm>
          <a:prstGeom prst="rect">
            <a:avLst/>
          </a:prstGeom>
          <a:solidFill>
            <a:srgbClr val="1E88E5"/>
          </a:solidFill>
          <a:ln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609600" y="243840"/>
            <a:ext cx="10972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rPr sz="7200"/>
              <a:t>SUPERVISED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341120"/>
            <a:ext cx="109728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i="1">
                <a:solidFill>
                  <a:srgbClr val="16A085"/>
                </a:solidFill>
              </a:defRPr>
            </a:pPr>
            <a:r>
              <a:rPr sz="2667"/>
              <a:t>Learning from Labeled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194561"/>
            <a:ext cx="5852160" cy="128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1E88E5"/>
                </a:solidFill>
              </a:defRPr>
            </a:pPr>
            <a:r>
              <a:rPr sz="2133" dirty="0"/>
              <a:t>Predicting from Examples</a:t>
            </a:r>
          </a:p>
          <a:p>
            <a:pPr>
              <a:spcAft>
                <a:spcPts val="1333"/>
              </a:spcAft>
              <a:defRPr sz="1400">
                <a:solidFill>
                  <a:srgbClr val="16A085"/>
                </a:solidFill>
              </a:defRPr>
            </a:pPr>
            <a:r>
              <a:rPr sz="1867" dirty="0"/>
              <a:t>📈 Regression | 📊 Classification</a:t>
            </a:r>
            <a:endParaRPr sz="1600" dirty="0"/>
          </a:p>
          <a:p>
            <a:pPr>
              <a:spcAft>
                <a:spcPts val="667"/>
              </a:spcAft>
              <a:defRPr sz="1000">
                <a:solidFill>
                  <a:srgbClr val="646464"/>
                </a:solidFill>
              </a:defRPr>
            </a:pPr>
            <a:r>
              <a:rPr sz="1333" dirty="0"/>
              <a:t>Linear Regression, Logistic, Trees, SVM, KNN, Forests, Naive Bayes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0" y="2194560"/>
            <a:ext cx="1828800" cy="731520"/>
          </a:xfrm>
          <a:prstGeom prst="rect">
            <a:avLst/>
          </a:prstGeom>
          <a:solidFill>
            <a:srgbClr val="1E88E5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6705600" y="3657600"/>
            <a:ext cx="1828800" cy="731520"/>
          </a:xfrm>
          <a:prstGeom prst="rect">
            <a:avLst/>
          </a:prstGeom>
          <a:solidFill>
            <a:srgbClr val="16A085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APPLY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5120640"/>
            <a:ext cx="1828800" cy="731520"/>
          </a:xfrm>
          <a:prstGeom prst="rect">
            <a:avLst/>
          </a:prstGeom>
          <a:solidFill>
            <a:srgbClr val="1E88E5"/>
          </a:solidFill>
          <a:ln w="254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rPr sz="1867"/>
              <a:t>MASTER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6675120"/>
            <a:ext cx="12009120" cy="182880"/>
          </a:xfrm>
          <a:prstGeom prst="rect">
            <a:avLst/>
          </a:prstGeom>
          <a:solidFill>
            <a:srgbClr val="16A085"/>
          </a:solidFill>
          <a:ln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11" name="Picture 2" descr="LPU Distance Education| Recognitions &amp; Approvals">
            <a:extLst>
              <a:ext uri="{FF2B5EF4-FFF2-40B4-BE49-F238E27FC236}">
                <a16:creationId xmlns:a16="http://schemas.microsoft.com/office/drawing/2014/main" id="{6AE69A6E-2271-6F79-4B88-F856105B25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99721902-F21B-1050-B16E-441D5AD11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527985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Overview</a:t>
            </a:r>
            <a:r>
              <a:rPr lang="en-IN" sz="4267" dirty="0"/>
              <a:t> of the </a:t>
            </a:r>
            <a:r>
              <a:rPr sz="4267" dirty="0"/>
              <a:t>Algorithms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528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Linear Regression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y=</a:t>
            </a:r>
            <a:r>
              <a:rPr sz="2000" dirty="0" err="1"/>
              <a:t>mx+b</a:t>
            </a:r>
            <a:r>
              <a:rPr sz="2000" dirty="0"/>
              <a:t> | House prices, continuous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Logistic Regression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Sigmoid | Spam, binary classification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Decision Trees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Rules | Loan approval, interpretable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SVM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Kernels | Image recognition, complex boundaries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KNN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Neighbors | Recommendations, simple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Random Forest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Ensemble | Fraud, robust &amp; fast</a:t>
            </a:r>
          </a:p>
          <a:p>
            <a:pPr>
              <a:spcAft>
                <a:spcPts val="267"/>
              </a:spcAft>
              <a:defRPr sz="1100" b="1">
                <a:solidFill>
                  <a:srgbClr val="FF6B6B"/>
                </a:solidFill>
              </a:defRPr>
            </a:pPr>
            <a:r>
              <a:rPr sz="2000" dirty="0"/>
              <a:t>Naive Bayes </a:t>
            </a:r>
          </a:p>
          <a:p>
            <a:pPr>
              <a:spcAft>
                <a:spcPts val="800"/>
              </a:spcAft>
              <a:defRPr sz="900">
                <a:solidFill>
                  <a:srgbClr val="2C3E50"/>
                </a:solidFill>
              </a:defRPr>
            </a:pPr>
            <a:r>
              <a:rPr sz="2000" dirty="0"/>
              <a:t>Probabilistic | Email, text classification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1B7F38D-BB7C-E24F-05CC-5523803CA4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AD9B562-5E80-033F-F184-4F0ACB542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Linear Regression - Visual</a:t>
            </a:r>
          </a:p>
        </p:txBody>
      </p:sp>
      <p:pic>
        <p:nvPicPr>
          <p:cNvPr id="5" name="Picture 4" descr="01_linear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663924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18B9E2FF-C446-99A1-EBAB-BF9B004FDB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C7DAEC93-BBE4-3113-3042-E4C30F5B0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Linear Regression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Zillow, Redfin (real estate)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Stock price prediction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Demand forecasting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Climate modeling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dosage calc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Very fast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Interpretable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Simple baseline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Linear only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Poor for complex data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F0E3666A-25D3-9D99-F8D8-B821BA0935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F889370-A9AF-95B1-A693-F2336A2BE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1. Linear Regression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Formula: y = mx + b (straight line)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Continuous numbers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Speed: Very fast (milliseconds)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Interpretability: Very high (see coefficients)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Continuous + linear data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Avoid When: Non-linear relationships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sklearn.linear_model import LinearRegression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9589B1C1-424C-2BBB-390C-6BFCFB63BD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4006DE6-AD09-092B-8B62-DDA4FBC61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Logistic Regression - Visual</a:t>
            </a:r>
          </a:p>
        </p:txBody>
      </p:sp>
      <p:pic>
        <p:nvPicPr>
          <p:cNvPr id="5" name="Picture 4" descr="02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663924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CA8F363-9EAD-9D37-3CA1-6996BE3AC2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288A412-F5AF-8CDD-2B45-23767DF53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0803987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Logistic Regression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Gmail spam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diagnosis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Fraud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Loan approval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Customer churn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Probability output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Fast inference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Interpretable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Binary only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Linear boundaries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AE70A3A9-256A-B217-457C-41AB8A384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662E838-86DD-4697-C7BA-4EB662E30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0803988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2. Logistic Regression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Function: Sigmoid: P = 1/(1+e^(-z))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Probability (0 to 1)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Threshold: 0.5 for binary decision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Speed: Very fast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Binary + probabilities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Avoid When: Multiclass (needs modification)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sklearn.linear_model import LogisticRegression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ABAC6EC-1EBF-4F23-8D0A-1AFBAEA12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82E7CB4-FC13-9DD6-7A5B-9CCFDE1DC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Decision Trees - Visual</a:t>
            </a:r>
          </a:p>
        </p:txBody>
      </p:sp>
      <p:pic>
        <p:nvPicPr>
          <p:cNvPr id="5" name="Picture 4" descr="03_decision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6645152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1BA5F521-3CC1-97C4-C0FA-8AE00DB65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D80F495-94E7-B65B-5CE0-94DF66D23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Decision Trees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Loan approval (banks)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diagnosis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Customer segmentation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Fraud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Employee hiring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Interpretable/explainable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Non-linear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No scaling needed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Overfits easily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Unstable (high variance)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7CB0D441-ADE0-1A47-789E-523CCA02AC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717569B-D7F0-FDF4-F6C6-204B000C4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3. Decision Trees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Structure: Recursive if-then-else rules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Class or numeric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Interpretability: Very high (see exact path)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Training: Medium speed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Explainability + non-linear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Problem: Overfits → use Random Forest!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sklearn.tree import DecisionTreeClassifier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088A41F-599B-44CE-90CB-BCD705FB6B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FA4B210-578C-B07D-A3C3-93913B491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SVM - Visual</a:t>
            </a:r>
          </a:p>
        </p:txBody>
      </p:sp>
      <p:pic>
        <p:nvPicPr>
          <p:cNvPr id="5" name="Picture 4" descr="04_sv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663738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687EE5FE-F350-6830-05F7-156024C873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6DFD7B2-8D8D-9F63-BA11-840577410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SVM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classification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Face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Text classification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Handwriting recognition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Bioinformatics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in high dimensions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Flexible kernels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Memory efficient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 training (large data)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Hard to interpret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E3F7F2A2-9888-1BD5-3095-ABF916830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477FF6C-2600-CAB9-D2DC-F9F77C7CA4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15608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4. SVM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Concept: Maximum margin separator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Kernels: Linear, RBF, Polynomial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Output: Class + decision function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Dimensions: Excels in high dimensions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Complex boundaries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Scaling: Requires feature scaling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sklearn.svm import SVC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0787221E-4015-0355-5A2D-20ADB01753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1C949C39-AA67-8799-5ECA-9D2D92EB5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KNN - Visual</a:t>
            </a:r>
          </a:p>
        </p:txBody>
      </p:sp>
      <p:pic>
        <p:nvPicPr>
          <p:cNvPr id="5" name="Picture 4" descr="05_k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0"/>
            <a:ext cx="11460480" cy="663738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5A6D7B97-64E6-8B45-02A3-B06B912904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0BC7B33-831C-AA47-47E5-299710293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KNN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Netflix recommendations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Amazon product similarity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Spotify music discovery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Anomaly detection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Image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Simple &amp; intuitive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No training needed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with non-linear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 prediction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Memory intensive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44C48737-A5D6-9768-8ECB-CF4026BD0D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DE3799A5-B1D4-77F6-0E08-A2ED72EFD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5. KNN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Algorithm: Find k nearest + vote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k value: Usually 3, 5, or 7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Distance: Euclidean or Manhattan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Training: None (lazy learner)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Recommendations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Problem: Slow + memory-heavy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sklearn.neighbors import KNeighborsClassifier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9FA8B75-F00C-5DF1-A7A6-81A7BFC63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BAEF8652-91F2-3169-8D42-BACA0350E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Random Forest - Visual</a:t>
            </a:r>
          </a:p>
        </p:txBody>
      </p:sp>
      <p:pic>
        <p:nvPicPr>
          <p:cNvPr id="5" name="Picture 4" descr="06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14225"/>
            <a:ext cx="11460480" cy="6313350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E446D55-7254-4868-679D-E697FF67BF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8955A358-0047-F90F-3058-38886FA2F2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Random Forest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Fraud detection (Visa, MC)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Kaggle competitions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diagnosis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Feature ranking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Credit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Reduces overfitting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Feature importance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Very robust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Industry standard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Slower prediction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927CDD33-C9C6-6FFB-330C-DDB1F6B7FA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D95DE1A-20EA-8788-C735-AB9A843A25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6. Random Forest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170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Concept: Ensemble voting of trees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Trees: Usually 100-1000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Best For: Production + robustness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Feature importance: Built-in ranking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Accuracy: Usually 85-95%</a:t>
            </a:r>
          </a:p>
          <a:p>
            <a:pPr>
              <a:spcAft>
                <a:spcPts val="667"/>
              </a:spcAft>
              <a:defRPr sz="1100" b="1">
                <a:solidFill>
                  <a:srgbClr val="FF6B6B"/>
                </a:solidFill>
              </a:defRPr>
            </a:pPr>
            <a:r>
              <a:rPr sz="1467"/>
              <a:t>Speed: Medium (faster than SVM)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sklearn.ensemble import RandomForestClassifier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229E1125-3279-3969-0CBA-11AD0B1ED8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6699D4CA-D6C7-4A0E-65DB-31A79F64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7. Naive Bayes - Visual</a:t>
            </a:r>
          </a:p>
        </p:txBody>
      </p:sp>
      <p:pic>
        <p:nvPicPr>
          <p:cNvPr id="5" name="Picture 4" descr="07_naive_bay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6619471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76562E99-C4E9-5B5D-5AAC-30C57266B6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FA72F829-27B5-B611-33FA-0B15BB592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7. Naive Bayes -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5486400" cy="1910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E88E5"/>
                </a:solidFill>
              </a:defRPr>
            </a:pPr>
            <a:r>
              <a:rPr sz="1733"/>
              <a:t>Real Use Cases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Gmail spam filtering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Twitter sentiment analysis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Document classification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Medical diagnosis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• Comment spam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1036320"/>
            <a:ext cx="5730240" cy="220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33"/>
              </a:spcAft>
              <a:defRPr sz="1300" b="1">
                <a:solidFill>
                  <a:srgbClr val="16A085"/>
                </a:solidFill>
              </a:defRPr>
            </a:pPr>
            <a:r>
              <a:rPr sz="1733"/>
              <a:t>Pros &amp; Cons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Very fast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Works with small data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✓ Probability output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endParaRPr sz="1333"/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Independence assumption</a:t>
            </a:r>
          </a:p>
          <a:p>
            <a:pPr>
              <a:spcAft>
                <a:spcPts val="667"/>
              </a:spcAft>
              <a:defRPr sz="1000">
                <a:solidFill>
                  <a:srgbClr val="2C3E50"/>
                </a:solidFill>
              </a:defRPr>
            </a:pPr>
            <a:r>
              <a:rPr sz="1333"/>
              <a:t>✗ Not state-of-the-art</a:t>
            </a:r>
          </a:p>
        </p:txBody>
      </p:sp>
      <p:pic>
        <p:nvPicPr>
          <p:cNvPr id="7" name="Picture 2" descr="LPU Distance Education| Recognitions &amp; Approvals">
            <a:extLst>
              <a:ext uri="{FF2B5EF4-FFF2-40B4-BE49-F238E27FC236}">
                <a16:creationId xmlns:a16="http://schemas.microsoft.com/office/drawing/2014/main" id="{B16045AB-78DF-14C0-6D37-6DD262A5A1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215ADF05-A4FB-0A7C-ECAB-10A7FA4CD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7. Naive Bayes -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1"/>
            <a:ext cx="11460480" cy="2046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Formula: P(Class|Data) = P(Data|Class) × P(Class)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Variants: Multinomial, Gaussian, Bernoulli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Speed: Very fast training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Best For: Text + small datasets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Independence: Naive assumption (works anyway!)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1333"/>
              <a:t>Interpretability: Moderate</a:t>
            </a:r>
          </a:p>
          <a:p>
            <a:pPr>
              <a:spcAft>
                <a:spcPts val="667"/>
              </a:spcAft>
              <a:defRPr sz="900">
                <a:solidFill>
                  <a:srgbClr val="4CAF50"/>
                </a:solidFill>
                <a:latin typeface="Courier New"/>
              </a:defRPr>
            </a:pPr>
            <a:r>
              <a:rPr sz="1200"/>
              <a:t>Code: from sklearn.naive_bayes import MultinomialNB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824E3236-5DD7-AAB0-107D-6DF34C7299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5256FE4-19DB-E244-692B-DE5D71BE6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Train/Test Split - The Foundation</a:t>
            </a:r>
          </a:p>
        </p:txBody>
      </p:sp>
      <p:pic>
        <p:nvPicPr>
          <p:cNvPr id="5" name="Picture 4" descr="08_trai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75361"/>
            <a:ext cx="11460480" cy="5084385"/>
          </a:xfrm>
          <a:prstGeom prst="rect">
            <a:avLst/>
          </a:prstGeom>
        </p:spPr>
      </p:pic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6FA05C29-D475-B7FD-3DF8-8235F77A5F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4F1A9F20-1935-1F0F-9936-72B7E4A6D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1" y="21745"/>
            <a:ext cx="11399519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Algorithm Comparison &amp; When to Use Each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Linear Reg      → Continuous, linear   → House prices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Logistic Reg    → Binary, probability  → Spam detection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Decision Tree   → Interpretable, rules → Loan approval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SVM             → Complex boundaries   → Image recognition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KNN             → Simple, neighbors    → Recommendations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Random Forest   → Robust, ensemble     → Fraud detection</a:t>
            </a:r>
          </a:p>
          <a:p>
            <a:pPr>
              <a:spcAft>
                <a:spcPts val="667"/>
              </a:spcAft>
              <a:defRPr sz="1000" b="1">
                <a:solidFill>
                  <a:srgbClr val="FF6B6B"/>
                </a:solidFill>
              </a:defRPr>
            </a:pPr>
            <a:r>
              <a:rPr sz="3200" dirty="0"/>
              <a:t>Naive Bayes     → Fast, text           → Email classification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D5EA7AAB-E1FD-AE76-B0FB-5293E9C858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5B5A81F5-88F1-2592-8856-A1E4239BA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6A0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12009120" cy="792480"/>
          </a:xfrm>
          <a:prstGeom prst="rect">
            <a:avLst/>
          </a:prstGeom>
          <a:solidFill>
            <a:srgbClr val="E8EEF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26720" y="21745"/>
            <a:ext cx="11399520" cy="7489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6A085"/>
                </a:solidFill>
              </a:defRPr>
            </a:pPr>
            <a:r>
              <a:rPr sz="4267" dirty="0"/>
              <a:t>Next Steps in Your ML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36320"/>
            <a:ext cx="11460480" cy="5003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2800" dirty="0"/>
              <a:t>Next: Unsupervised Learning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2800" dirty="0"/>
              <a:t>K-Means, Hierarchical, PCA, DBSCAN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2800" dirty="0"/>
              <a:t>Then: Neural Networks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2800" dirty="0"/>
              <a:t>Deep Learning, Backprop, CNNs, RNNs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2800" dirty="0"/>
              <a:t>Then: NLP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2800" dirty="0"/>
              <a:t>Tokenization, Word2Vec, Transformers, GPT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2800" dirty="0"/>
              <a:t>Then: Computer Vision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2800" dirty="0"/>
              <a:t>Object Detection, Image Segmentation</a:t>
            </a:r>
          </a:p>
          <a:p>
            <a:pPr>
              <a:spcAft>
                <a:spcPts val="267"/>
              </a:spcAft>
              <a:defRPr sz="1100" b="1">
                <a:solidFill>
                  <a:srgbClr val="1E88E5"/>
                </a:solidFill>
              </a:defRPr>
            </a:pPr>
            <a:r>
              <a:rPr sz="2800" dirty="0"/>
              <a:t>Then: Time Series</a:t>
            </a:r>
          </a:p>
          <a:p>
            <a:pPr>
              <a:spcAft>
                <a:spcPts val="800"/>
              </a:spcAft>
              <a:defRPr sz="1000">
                <a:solidFill>
                  <a:srgbClr val="2C3E50"/>
                </a:solidFill>
              </a:defRPr>
            </a:pPr>
            <a:r>
              <a:rPr sz="2800" dirty="0"/>
              <a:t>ARIMA, LSTM, Forecasting</a:t>
            </a:r>
          </a:p>
        </p:txBody>
      </p:sp>
      <p:pic>
        <p:nvPicPr>
          <p:cNvPr id="6" name="Picture 2" descr="LPU Distance Education| Recognitions &amp; Approvals">
            <a:extLst>
              <a:ext uri="{FF2B5EF4-FFF2-40B4-BE49-F238E27FC236}">
                <a16:creationId xmlns:a16="http://schemas.microsoft.com/office/drawing/2014/main" id="{B5339BF2-F5B2-666A-1F5C-9DDC30988C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256" b="22480"/>
          <a:stretch>
            <a:fillRect/>
          </a:stretch>
        </p:blipFill>
        <p:spPr bwMode="auto">
          <a:xfrm>
            <a:off x="11230708" y="70278"/>
            <a:ext cx="906096" cy="27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B.Design In Product and Industrial Course: Fees, Eligibility ...">
            <a:extLst>
              <a:ext uri="{FF2B5EF4-FFF2-40B4-BE49-F238E27FC236}">
                <a16:creationId xmlns:a16="http://schemas.microsoft.com/office/drawing/2014/main" id="{7676A862-4DDA-A26B-0B1D-685F6A873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" y="70278"/>
            <a:ext cx="671414" cy="385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976</Words>
  <Application>Microsoft Office PowerPoint</Application>
  <PresentationFormat>Widescreen</PresentationFormat>
  <Paragraphs>204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Bharti</dc:creator>
  <cp:lastModifiedBy>Rohit Bharti</cp:lastModifiedBy>
  <cp:revision>41</cp:revision>
  <dcterms:created xsi:type="dcterms:W3CDTF">2026-01-17T06:15:26Z</dcterms:created>
  <dcterms:modified xsi:type="dcterms:W3CDTF">2026-01-17T08:55:12Z</dcterms:modified>
</cp:coreProperties>
</file>