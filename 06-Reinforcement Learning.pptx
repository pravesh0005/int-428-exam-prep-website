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57" r:id="rId3"/>
    <p:sldId id="260" r:id="rId4"/>
    <p:sldId id="261" r:id="rId5"/>
    <p:sldId id="262" r:id="rId6"/>
    <p:sldId id="265" r:id="rId7"/>
    <p:sldId id="266" r:id="rId8"/>
    <p:sldId id="267" r:id="rId9"/>
    <p:sldId id="270" r:id="rId10"/>
    <p:sldId id="271" r:id="rId11"/>
    <p:sldId id="272" r:id="rId12"/>
    <p:sldId id="275" r:id="rId13"/>
    <p:sldId id="276" r:id="rId14"/>
    <p:sldId id="277" r:id="rId15"/>
    <p:sldId id="280" r:id="rId16"/>
    <p:sldId id="281" r:id="rId17"/>
    <p:sldId id="282" r:id="rId18"/>
    <p:sldId id="283" r:id="rId19"/>
    <p:sldId id="285" r:id="rId20"/>
    <p:sldId id="286" r:id="rId21"/>
    <p:sldId id="287" r:id="rId22"/>
    <p:sldId id="2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9A9A-40AF-7706-1AF3-39C1723B2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194DC-7734-CFEB-8390-9090AB9AD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007E4-596C-F955-7B6B-F118A7DF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0B82B-0370-F683-98B5-628D0D588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EDCC0-1E22-D965-4D11-A224B189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54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AF4A-2EB8-7AD7-7F36-A3691291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0B6F2-C3C3-BE24-9483-E1D9B2B3F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E791E-A0BE-D945-E1CA-3E656A83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8397A-82BA-5F50-8F02-86BC8428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AD567-E2C8-9A74-791E-C249B0A6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64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84AA-3A0B-1DFE-2B1C-CE6B2C24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82E5D-09D9-FEE0-8584-D8DFD6A6D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69E9-E00F-24F8-40B3-3AD8A39B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09BF4-2AED-A576-72AC-2E4E9D06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7CF0E-E106-09A1-9ADB-4956EEB0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8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4097-1442-09FA-0CB5-6B49C234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05925-7D2F-8FBA-6BE8-67517294B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D6F2F-D469-DD08-F861-953969989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AD05C-F3F8-6336-6013-193D84B67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437FE-7547-12CA-A988-A741C8C1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E5D8C-A24E-A49C-CACD-4D46E5E91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41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215E-3C6D-9CC8-1C72-04D0269A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A54D5-063D-8069-E040-A1F1BA8E2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A97BA-FD47-B3BF-E6BB-5629C07C6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E4E2DD-746D-E716-E798-4FBD60F38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62A25-11DD-03B4-C807-04E62DD78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7AD3E3-38D6-1418-5FF6-858D3789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964F5B-1412-0BA6-5905-E7531F17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0373C3-1FCD-0CD4-5B66-D95F00A5D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3D91-E027-601E-6668-6E4C0069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6403B-19A8-98BE-EA71-9430B93F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5AC54-37A5-9F45-F047-DDBA21AB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4E914-5BA3-7CB7-39F9-070988E9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3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A4720-EB84-5F09-0E5A-08B15763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E464A9-29FA-7BF9-091C-ED0F5297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75E73-8F16-040E-08B6-FEC6F76E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91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AD1C-70FF-28BF-D441-3BF7E07E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30A72-D4BB-DD02-78CD-F6A26C152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2373D-D73C-9221-793D-1958E9C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3234D-8152-B1E9-F88D-1C69B453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54469-D5B8-6C80-EE5B-1C33623C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4EC5C-952B-6D35-E63B-42466B312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6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B5FF-FA54-B8C0-FA50-874BBE1F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55865-1E81-F07E-5C9F-9DF4E8A13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32F18-DB14-ADBF-55D4-FE9239F06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7D0FE-57B3-2ADD-C939-6D78BDC0D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F1DD3-B6F0-BB30-53F0-24AD6020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B410F-5A9E-A354-92B5-C74A5AFB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97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9BE5-19BF-736A-6559-FE35DFDE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AEA1B-4D30-C0F1-336E-110BEE9FA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1475C-77D0-A643-CAE8-7CA4FAB4E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B3914-FC13-367E-EA1F-40E719A5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E2F3F-EF63-CC5B-1FC1-237DC442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3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919E4-B419-C6D9-EA28-C79E0245F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0DF4C-AF4B-000A-D491-76E41D99D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A2163-FA60-5E55-A145-B24B484E6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CB478-F2D6-7E1D-4968-EB4FD4E3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4A3FD-38AC-7205-0921-26DAA11D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40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F0B3F-915A-7CBF-0F71-A2BD2F241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BF23E-9D37-EA44-CC65-73F97E863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954DD-408E-C0AB-EBF0-3427E79F5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8A53-9E4B-466F-B332-AD64D48F917A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C0AD9-CF96-06A2-6A5E-3B543A8D4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B5271-214A-A70D-9285-5EA37FB31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2A23A-AC2A-4911-A941-8308AC66B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26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1219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09600" y="243840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7200"/>
              <a:t>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41120"/>
            <a:ext cx="109728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i="1">
                <a:solidFill>
                  <a:srgbClr val="FF9800"/>
                </a:solidFill>
              </a:defRPr>
            </a:pPr>
            <a:r>
              <a:rPr sz="2667"/>
              <a:t>Learning Through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94561"/>
            <a:ext cx="5852160" cy="128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FF6B6B"/>
                </a:solidFill>
              </a:defRPr>
            </a:pPr>
            <a:r>
              <a:rPr sz="2133" dirty="0"/>
              <a:t>Sequential Decision Making</a:t>
            </a:r>
          </a:p>
          <a:p>
            <a:pPr>
              <a:spcAft>
                <a:spcPts val="1333"/>
              </a:spcAft>
              <a:defRPr sz="1400">
                <a:solidFill>
                  <a:srgbClr val="FF9800"/>
                </a:solidFill>
              </a:defRPr>
            </a:pPr>
            <a:r>
              <a:rPr sz="1867" dirty="0"/>
              <a:t>🎮 Game Playing | 🤖 Robotics</a:t>
            </a:r>
            <a:endParaRPr sz="1600" dirty="0"/>
          </a:p>
          <a:p>
            <a:pPr>
              <a:spcAft>
                <a:spcPts val="667"/>
              </a:spcAft>
              <a:defRPr sz="1000">
                <a:solidFill>
                  <a:srgbClr val="646464"/>
                </a:solidFill>
              </a:defRPr>
            </a:pPr>
            <a:r>
              <a:rPr sz="1333" dirty="0"/>
              <a:t>MDP, Q-Learning, DQN, Policy Gradient, Actor-Critic, Exploration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600" y="2194560"/>
            <a:ext cx="1828800" cy="731520"/>
          </a:xfrm>
          <a:prstGeom prst="rect">
            <a:avLst/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3657600"/>
            <a:ext cx="1828800" cy="731520"/>
          </a:xfrm>
          <a:prstGeom prst="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APPLY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5120640"/>
            <a:ext cx="1828800" cy="731520"/>
          </a:xfrm>
          <a:prstGeom prst="rect">
            <a:avLst/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MASTER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75120"/>
            <a:ext cx="12009120" cy="18288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1" name="Picture 2" descr="LPU Distance Education| Recognitions &amp; Approvals">
            <a:extLst>
              <a:ext uri="{FF2B5EF4-FFF2-40B4-BE49-F238E27FC236}">
                <a16:creationId xmlns:a16="http://schemas.microsoft.com/office/drawing/2014/main" id="{3D03E883-A86F-D1C0-17E8-7E57C26EA0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59EA8F7-DB04-E767-A049-0F00A3313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Overview</a:t>
            </a:r>
            <a:r>
              <a:rPr lang="en-IN" sz="4267" dirty="0"/>
              <a:t> of the </a:t>
            </a:r>
            <a:r>
              <a:rPr sz="4267" dirty="0"/>
              <a:t>Core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26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Markov Decision Process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Foundation, states, actions, rewards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Q-Learning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Learn Q-values, table-based, discrete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Deep Q-Network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Q-Learning + neural networks, high-dim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Policy Gradient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Optimize policy directly, continuous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Actor-Critic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Combine actor + critic, stable learning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Exploration vs Exploitation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Balance discovery and exploitation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3129D488-187D-F2F4-2A2E-7592DA34F8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3911DCD-9E01-5D34-14A3-629137BA7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MDP - State Transition Diagram</a:t>
            </a:r>
          </a:p>
        </p:txBody>
      </p:sp>
      <p:pic>
        <p:nvPicPr>
          <p:cNvPr id="5" name="Picture 4" descr="01_m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13" y="770733"/>
            <a:ext cx="11874927" cy="6087267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AF4D256E-1DCB-81CD-5867-3A8ABD25E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01BD8BF0-FCE2-7DD6-9533-82857AB70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MDP -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548640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Core Elements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State (S): Description of situation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Action (A): Agent decides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Reward (R): Feedback signal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Policy (π): State → Action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Value (V): Expected reward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Q-value: Q(s,a) value of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Applications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Chess, Go (AlphaGo)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Atari games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Robotics control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Autonomous driving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Trading bots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Recommendation engines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27398745-6A52-3A80-C429-C4B1F64A3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D85D011-DE3D-DB6B-0147-B73BA4F3C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MDP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74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Agent: Learns by interaction with environment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Goal: Maximize cumulative reward over time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Components: States, Actions, Rewards, Transitions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Policy: Function mapping states to actions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Trajectory: Sequence of S → A → R transitions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gymnasium import Env (OpenAI Gym)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F805BBBD-B3B4-FAC4-28EE-FF3EEE1B09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D63AD31-E56E-454F-A7A2-FFC16CA68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Q-Learning - Convergence &amp; Q-Table</a:t>
            </a:r>
          </a:p>
        </p:txBody>
      </p:sp>
      <p:pic>
        <p:nvPicPr>
          <p:cNvPr id="5" name="Picture 4" descr="02_q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59"/>
            <a:ext cx="11460480" cy="5014267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3AAAD59B-859D-2ED4-26AA-2B7696DBF3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6E59455-9711-C336-7D0F-CF38F4714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Q-Learning - Pros &amp; 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Advantages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Simple, interpretable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Off-policy learning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Guaranteed to converge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Low computation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Works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1"/>
            <a:ext cx="573024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Limitations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Only discrete spaces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Q-table scales poorly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10×10 grid = 10^20 states!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Can't handle images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Slow for large spaces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54F36512-9F48-6165-B70B-6DADCB329E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EBA504C1-EA46-40FB-B1C3-BBE971A4D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Q-Learning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446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Type: Value-based, off-policy, model-free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Output: Q-table: S×A matrix of values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Algorithm: Iterative Q-value updates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Best For: Small discrete problems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stable_baselines3 import QLearning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A564274-2461-4038-D6E2-C895429E52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5007A79-0149-0243-E049-0F915D19B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DQN - Neural Network Architecture</a:t>
            </a:r>
          </a:p>
        </p:txBody>
      </p:sp>
      <p:pic>
        <p:nvPicPr>
          <p:cNvPr id="5" name="Picture 4" descr="03_dq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0733"/>
            <a:ext cx="11962070" cy="6151705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E745CD91-9C26-39AA-285D-0C770E0BAA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F5D1BC32-5559-E721-5D06-DE6512C8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DQN - Key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615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Experience Replay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Store transitions in buffer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Sample mini-batches randomly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Reduces correlation in data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Improves sample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1"/>
            <a:ext cx="5730240" cy="1615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Target Network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Separate stable target Q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Update every N steps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Prevents divergence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More stable training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06434A3A-A20E-3EA7-B102-2C912BF104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6821205-5B5F-7A5B-E08C-E47C6662A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DQN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446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Type: Value-based, deep RL, CNN + Q-learning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Input: High-dimensional: pixels, sensor data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Output: Q-value for each action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Best For: Visual tasks, complex games, continuous control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stable_baselines3 import DQN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2FC10FC9-9270-FB1A-4D38-6B6E424B0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D061088-1755-38AE-D695-831CABE6D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Policy Gradient - Learning Curve</a:t>
            </a:r>
          </a:p>
        </p:txBody>
      </p:sp>
      <p:pic>
        <p:nvPicPr>
          <p:cNvPr id="5" name="Picture 4" descr="04_policy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0"/>
            <a:ext cx="11460480" cy="5118594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5089512-29B9-2C95-1437-DDF4EE17EF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76643E5-D1DF-BF35-FD02-EF2D9B00F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Policy Gradient -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615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REINFORCE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Basic policy gradient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High variance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Simple but slow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Good for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1"/>
            <a:ext cx="5730240" cy="1615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PPO (Recommended)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Proximal Policy Optimization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Stable, efficient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Industry standard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State-of-the-art results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57202DAA-1843-4913-0E04-50D7306DEE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AE85111-A928-1D73-E595-29EC3C1A9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Policy Gradient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446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Type: Policy-based, on-policy, model-free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Output: Probability distribution over actions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Best For: Continuous action spaces, robotic control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Variants: REINFORCE, TRPO, PPO, A3C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stable_baselines3 import PPO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3E590B5C-09FA-FCCC-4CC8-7651897A4A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238405D-F927-BA4B-3D6D-FD986D4CD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Actor-Critic - Architecture</a:t>
            </a:r>
          </a:p>
        </p:txBody>
      </p:sp>
      <p:pic>
        <p:nvPicPr>
          <p:cNvPr id="5" name="Picture 4" descr="05_actor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0"/>
            <a:ext cx="11460480" cy="6645152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4C7680EF-37D0-0230-A73D-ECB17FE223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3CD24F2-AE4C-75B6-CC6F-C90A1E20C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Actor-Critic -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615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A3C (Distributed)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Asynchronous advantage actor-critic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Parallel workers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Fast training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Handles discrete+continuous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1"/>
            <a:ext cx="5730240" cy="1615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DDPG (Continuous)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Deep deterministic policy gradient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Off-policy learning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Continuous actions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Used in robotics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2E43961F-4112-88DC-15CE-3B7A19C066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A37C152-F781-7C1E-01BC-6F0E61187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Actor-Critic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74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Type: Hybrid: combines value + policy methods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Actor: Policy network π(a|s)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Critic: Value network V(s)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Best For: Most practical applications, stable learning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Variants: A3C, A2C, DDPG, TD3, SAC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stable_baselines3 import A2C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93AF14A7-E054-38C9-6803-4A00982F13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AAF8BAD1-10C8-0C3E-0EF1-EDCD4EAB5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6795194" cy="7489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16A085"/>
                </a:solidFill>
              </a:defRPr>
            </a:pPr>
            <a:r>
              <a:rPr sz="4267"/>
              <a:t>6. Exploration vs 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5486400" cy="308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The Dilemma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Explore: Try new actions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Exploit: Use best known action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Explore too much: Waste time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Exploit too much: Miss better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options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Solution: ε-Greedy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Start explore, gradually exploit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50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Strategies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ε-Greedy: random + best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Softmax: probability-weighted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UCB: upper confidence bound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Thompson sampling: Bayesian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Entropy bonus: encourage variety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Common: Start ε=1, decay to 0.1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E6B84A25-159E-C0AA-0D55-031439F56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5398223-C8EC-D8F3-6BA3-A8B9322C5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9747605" cy="7489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16A085"/>
                </a:solidFill>
              </a:defRPr>
            </a:pPr>
            <a:r>
              <a:rPr sz="4267"/>
              <a:t>6. Exploration - Epsilon Decay &amp; Strategies</a:t>
            </a:r>
          </a:p>
        </p:txBody>
      </p:sp>
      <p:pic>
        <p:nvPicPr>
          <p:cNvPr id="5" name="Picture 4" descr="06_expl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4039057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1E8F166A-A95C-26E6-5DE3-3CBD9A3641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A6D84A67-722E-7590-D2A3-114AFB740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6904967" cy="7489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16A085"/>
                </a:solidFill>
              </a:defRPr>
            </a:pPr>
            <a:r>
              <a:rPr sz="4267"/>
              <a:t>6. Exploration - 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279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ε-Greedy Decay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Start: ε = 1.0 (100% explore)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Decay: ε = ε * decay_rate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End: ε = 0.1 (10% explore)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Example: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Episodes 1-100: Try random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Episodes 101-500: Mostly exploit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Episodes 501+: 90% exploit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50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Best Practices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Start with high exploration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Decay gradually over time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Don't go to 0% exploration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Keep 1-10% exploration always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Tune decay rate for domain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Results: Better convergence!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C008580A-C81F-6ACE-A8D5-A1A8DBD428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D7ED21E0-5614-7BC1-2675-7CAC18C43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Algorithm Comparison: When to Use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3495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50" b="1">
                <a:solidFill>
                  <a:srgbClr val="FF6B6B"/>
                </a:solidFill>
              </a:defRPr>
            </a:pPr>
            <a:r>
              <a:rPr sz="3200" dirty="0"/>
              <a:t>MDP             → Foundation concept        → Start here</a:t>
            </a:r>
          </a:p>
          <a:p>
            <a:pPr>
              <a:spcAft>
                <a:spcPts val="667"/>
              </a:spcAft>
              <a:defRPr sz="1050" b="1">
                <a:solidFill>
                  <a:srgbClr val="FF6B6B"/>
                </a:solidFill>
              </a:defRPr>
            </a:pPr>
            <a:r>
              <a:rPr sz="3200" dirty="0"/>
              <a:t>Q-Learning      → Small discrete spaces     → Grid worlds</a:t>
            </a:r>
          </a:p>
          <a:p>
            <a:pPr>
              <a:spcAft>
                <a:spcPts val="667"/>
              </a:spcAft>
              <a:defRPr sz="1050" b="1">
                <a:solidFill>
                  <a:srgbClr val="FF6B6B"/>
                </a:solidFill>
              </a:defRPr>
            </a:pPr>
            <a:r>
              <a:rPr sz="3200" dirty="0"/>
              <a:t>DQN             → Visual/high-dim, discrete → Atari games</a:t>
            </a:r>
          </a:p>
          <a:p>
            <a:pPr>
              <a:spcAft>
                <a:spcPts val="667"/>
              </a:spcAft>
              <a:defRPr sz="1050" b="1">
                <a:solidFill>
                  <a:srgbClr val="FF6B6B"/>
                </a:solidFill>
              </a:defRPr>
            </a:pPr>
            <a:r>
              <a:rPr sz="3200" dirty="0"/>
              <a:t>Policy Grad     → Continuous actions        → Robotics</a:t>
            </a:r>
          </a:p>
          <a:p>
            <a:pPr>
              <a:spcAft>
                <a:spcPts val="667"/>
              </a:spcAft>
              <a:defRPr sz="1050" b="1">
                <a:solidFill>
                  <a:srgbClr val="FF6B6B"/>
                </a:solidFill>
              </a:defRPr>
            </a:pPr>
            <a:r>
              <a:rPr sz="3200" dirty="0"/>
              <a:t>Actor-Critic    → Any problem, most stable  → Recommended!</a:t>
            </a:r>
          </a:p>
          <a:p>
            <a:pPr>
              <a:spcAft>
                <a:spcPts val="667"/>
              </a:spcAft>
              <a:defRPr sz="1050" b="1">
                <a:solidFill>
                  <a:srgbClr val="FF6B6B"/>
                </a:solidFill>
              </a:defRPr>
            </a:pPr>
            <a:r>
              <a:rPr sz="3200" dirty="0"/>
              <a:t>Exploration     → Balance learn/exploit     → All algorithms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EBA01EB9-3282-BEBD-C6BE-EAEA4B4D49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FF00FAC-EAFE-2E6D-A462-DC16D20D4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RL Applications &amp;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95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Games: AlphaGo, Dota 2, StarCraft II (superhuman)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Robotics: Boston Dynamics dogs, manipulation tasks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Autonomous: Self-driving cars, vehicle control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Trading: Algorithmic stock trading, portfolio optimization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Healthcare: Drug discovery, treatment planning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NLP: Language models, dialogue systems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3C370B7F-B749-3DDD-73E6-020A8D78DA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A373BF39-0FC0-04A5-EB97-4B869D8E9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878</Words>
  <Application>Microsoft Office PowerPoint</Application>
  <PresentationFormat>Widescreen</PresentationFormat>
  <Paragraphs>171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Bharti</dc:creator>
  <cp:lastModifiedBy>Rohit Bharti</cp:lastModifiedBy>
  <cp:revision>33</cp:revision>
  <dcterms:created xsi:type="dcterms:W3CDTF">2026-01-17T09:09:02Z</dcterms:created>
  <dcterms:modified xsi:type="dcterms:W3CDTF">2026-01-17T09:45:36Z</dcterms:modified>
</cp:coreProperties>
</file>