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AB31C-F1F7-C042-690C-53DA4B491C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FEB1F0-5B2C-BF92-BA15-629440B965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087D8-8ED2-6B41-4F7A-25A8DE742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945C6-05D4-4A4C-A580-18C26E06617B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93EE0-A15B-0423-2B79-55547A09C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AE1FE-B02E-9299-C065-00E04C99D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9A05-1403-4DFF-ABB9-100F9E4FC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2019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9ADC-72E9-9278-512D-581A651C9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E91A-CD48-5CE9-0251-8F2814AF8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F6985-088B-C990-2439-5A7043FB8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945C6-05D4-4A4C-A580-18C26E06617B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84FDE-1B20-3CDE-D4DE-C4FCFB4E6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60B99-CAF7-5C92-B887-99756B77E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9A05-1403-4DFF-ABB9-100F9E4FC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044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936D1-A28D-F379-A7C7-CD2768C7B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9D205F-3783-31D6-1B10-7117E7C49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E997B-D341-7CB3-BB85-8C426E7B5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945C6-05D4-4A4C-A580-18C26E06617B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1E2D8-60A8-2554-4EA5-44546CE66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7483A-4E25-9ECA-AE56-A49554DD6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9A05-1403-4DFF-ABB9-100F9E4FC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4152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968CE-F501-40A0-EF12-724AFE35A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2A806-5569-96D1-C6E3-1365AAE66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5731E3-C781-DC63-98D6-591A22E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A00AA4-6C40-20F1-1922-C495A6148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945C6-05D4-4A4C-A580-18C26E06617B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BEA50-EFBE-1B83-1CE1-D914341AD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F7A89-9863-D06C-2EF7-49E3C5C3D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9A05-1403-4DFF-ABB9-100F9E4FC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5453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0E7DF-FF1E-2BF6-A1E7-2D0C5B672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99D50-6CCA-5E02-DC01-6F9196D97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4B646-EF0A-25ED-FCBB-6FD51BC40B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C7ED00-838E-2D4A-7206-B06B02646C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80BC29-1BE2-2A39-74CB-6CAE5A876D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D64631-8ED7-698D-1EB3-DF5EABE19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945C6-05D4-4A4C-A580-18C26E06617B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087CA1-121F-E54B-30E0-AD0DD745C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87DA86-1F37-272A-1E92-278E3B71B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9A05-1403-4DFF-ABB9-100F9E4FC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928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182CA-75B6-2896-C51A-E84F19BF4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FF9E83-EE06-DF5B-054B-03F87977A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945C6-05D4-4A4C-A580-18C26E06617B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E5EFA1-0DE2-540C-760D-9BD7BE9CB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7B18CC-16C0-7471-5D17-89A5D4D68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9A05-1403-4DFF-ABB9-100F9E4FC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2327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A183F5-816A-E747-C5A4-7C8136707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945C6-05D4-4A4C-A580-18C26E06617B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9F7C20-6D55-4E17-5B08-94D58C1FF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C4E55-8D12-267C-55FC-CCE578822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9A05-1403-4DFF-ABB9-100F9E4FC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2445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CBDA5-1391-F344-3E43-F71D7C962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4ED1A-0F28-22D7-8562-8F65AD6D4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1AEE55-A768-988F-705A-F41C395FAF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279DB2-C43E-0C19-20EA-1DF348354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945C6-05D4-4A4C-A580-18C26E06617B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1D45BA-937A-87E4-FE4B-AA25BCFC7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042769-4806-CC45-ED47-60F0B9960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9A05-1403-4DFF-ABB9-100F9E4FC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1347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F06C8-7F7C-2667-DA01-DF0FEDC6F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B1534C-7A55-042D-5662-DC7771675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715160-9A4D-5788-8682-711DEB419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FDABBD-8F12-E333-885D-DEFDFF194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945C6-05D4-4A4C-A580-18C26E06617B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76A81-D231-3466-7912-F5167732B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491BDA-5C56-49CA-DC4A-72A6B5D19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9A05-1403-4DFF-ABB9-100F9E4FC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1660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4A76C-FC5F-307B-8A64-979EA5D5A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813499-E8FA-2C49-3C23-BE6B1BC76C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21710-2A3C-E192-3B02-A85DD978D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945C6-05D4-4A4C-A580-18C26E06617B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11173-41F0-8BE9-7244-DBBD04553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8F549-9863-39BC-BAD9-94AE56F53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9A05-1403-4DFF-ABB9-100F9E4FC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181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3A43BB-B92E-FE75-F0E4-3E0E225C92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179E34-B850-8634-C88C-988F892B4C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9E557-4778-AFFD-EE39-533073C21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945C6-05D4-4A4C-A580-18C26E06617B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6A494-FABA-7682-3291-D1870B73C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1799C-41E3-09EA-491E-3F378A31A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9A05-1403-4DFF-ABB9-100F9E4FC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647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222A5D-5879-568E-7D63-2354B2E2C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0C6DD-003D-94AF-4D92-9C1AE7A4B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F6F45-DDDF-3031-1551-86818F7D8D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945C6-05D4-4A4C-A580-18C26E06617B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EA038-7535-EF30-F202-592D3127EF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5CBE7-67B5-D2A7-E31A-DD694950E3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6B9A05-1403-4DFF-ABB9-100F9E4FC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172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172940-4AB5-D776-D695-39E44EBEBC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9E062289-58C3-1810-631E-E4F4762584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05553776-797E-EBAB-9B85-B380E86E90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4720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  <a:ln>
            <a:solidFill>
              <a:srgbClr val="E8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0803987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E88E5"/>
                </a:solidFill>
              </a:defRPr>
            </a:pPr>
            <a:r>
              <a:rPr sz="4267" dirty="0"/>
              <a:t>Learning Path: Concept to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0"/>
            <a:ext cx="11460480" cy="567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1E88E5"/>
                </a:solidFill>
              </a:defRPr>
            </a:pPr>
            <a:r>
              <a:rPr sz="2133"/>
              <a:t>For Each Concept, We'll Cover:</a:t>
            </a:r>
          </a:p>
          <a:p>
            <a:pPr>
              <a:spcAft>
                <a:spcPts val="267"/>
              </a:spcAft>
              <a:defRPr sz="1100" b="1">
                <a:solidFill>
                  <a:srgbClr val="1E88E5"/>
                </a:solidFill>
              </a:defRPr>
            </a:pPr>
            <a:r>
              <a:rPr sz="1467"/>
              <a:t>1. Topic</a:t>
            </a:r>
          </a:p>
          <a:p>
            <a:pPr>
              <a:spcAft>
                <a:spcPts val="800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What concept are we learning?</a:t>
            </a:r>
          </a:p>
          <a:p>
            <a:pPr>
              <a:spcAft>
                <a:spcPts val="267"/>
              </a:spcAft>
              <a:defRPr sz="1100" b="1">
                <a:solidFill>
                  <a:srgbClr val="1E88E5"/>
                </a:solidFill>
              </a:defRPr>
            </a:pPr>
            <a:r>
              <a:rPr sz="1467"/>
              <a:t>2. Definition</a:t>
            </a:r>
          </a:p>
          <a:p>
            <a:pPr>
              <a:spcAft>
                <a:spcPts val="800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Precise mathematical definition and properties</a:t>
            </a:r>
          </a:p>
          <a:p>
            <a:pPr>
              <a:spcAft>
                <a:spcPts val="267"/>
              </a:spcAft>
              <a:defRPr sz="1100" b="1">
                <a:solidFill>
                  <a:srgbClr val="1E88E5"/>
                </a:solidFill>
              </a:defRPr>
            </a:pPr>
            <a:r>
              <a:rPr sz="1467"/>
              <a:t>3. Example</a:t>
            </a:r>
          </a:p>
          <a:p>
            <a:pPr>
              <a:spcAft>
                <a:spcPts val="800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Concrete real-world example with numbers</a:t>
            </a:r>
          </a:p>
          <a:p>
            <a:pPr>
              <a:spcAft>
                <a:spcPts val="267"/>
              </a:spcAft>
              <a:defRPr sz="1100" b="1">
                <a:solidFill>
                  <a:srgbClr val="1E88E5"/>
                </a:solidFill>
              </a:defRPr>
            </a:pPr>
            <a:r>
              <a:rPr sz="1467"/>
              <a:t>4. Visual</a:t>
            </a:r>
          </a:p>
          <a:p>
            <a:pPr>
              <a:spcAft>
                <a:spcPts val="800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Diagram showing the concept geometrically</a:t>
            </a:r>
          </a:p>
          <a:p>
            <a:pPr>
              <a:spcAft>
                <a:spcPts val="267"/>
              </a:spcAft>
              <a:defRPr sz="1100" b="1">
                <a:solidFill>
                  <a:srgbClr val="1E88E5"/>
                </a:solidFill>
              </a:defRPr>
            </a:pPr>
            <a:r>
              <a:rPr sz="1467"/>
              <a:t>5. ML Application</a:t>
            </a:r>
          </a:p>
          <a:p>
            <a:pPr>
              <a:spcAft>
                <a:spcPts val="800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How is this ACTUALLY used in machine learning?</a:t>
            </a:r>
          </a:p>
          <a:p>
            <a:pPr>
              <a:spcAft>
                <a:spcPts val="267"/>
              </a:spcAft>
              <a:defRPr sz="1100" b="0">
                <a:solidFill>
                  <a:srgbClr val="16A085"/>
                </a:solidFill>
              </a:defRPr>
            </a:pPr>
            <a:r>
              <a:rPr sz="1467"/>
              <a:t>   - Algorithm</a:t>
            </a:r>
          </a:p>
          <a:p>
            <a:pPr>
              <a:spcAft>
                <a:spcPts val="800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Which ML algorithm uses this?</a:t>
            </a:r>
          </a:p>
          <a:p>
            <a:pPr>
              <a:spcAft>
                <a:spcPts val="267"/>
              </a:spcAft>
              <a:defRPr sz="1100" b="0">
                <a:solidFill>
                  <a:srgbClr val="16A085"/>
                </a:solidFill>
              </a:defRPr>
            </a:pPr>
            <a:r>
              <a:rPr sz="1467"/>
              <a:t>   - Why</a:t>
            </a:r>
          </a:p>
          <a:p>
            <a:pPr>
              <a:spcAft>
                <a:spcPts val="800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Why is this concept critical there?</a:t>
            </a:r>
          </a:p>
          <a:p>
            <a:pPr>
              <a:spcAft>
                <a:spcPts val="267"/>
              </a:spcAft>
              <a:defRPr sz="1100" b="0">
                <a:solidFill>
                  <a:srgbClr val="16A085"/>
                </a:solidFill>
              </a:defRPr>
            </a:pPr>
            <a:r>
              <a:rPr sz="1467"/>
              <a:t>   - Benefit</a:t>
            </a:r>
          </a:p>
          <a:p>
            <a:pPr>
              <a:spcAft>
                <a:spcPts val="800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What performance improvement does it give?</a:t>
            </a:r>
          </a:p>
          <a:p>
            <a:pPr>
              <a:spcAft>
                <a:spcPts val="267"/>
              </a:spcAft>
              <a:defRPr sz="1100" b="0">
                <a:solidFill>
                  <a:srgbClr val="16A085"/>
                </a:solidFill>
              </a:defRPr>
            </a:pPr>
            <a:r>
              <a:rPr sz="1467"/>
              <a:t>   - Code</a:t>
            </a:r>
          </a:p>
          <a:p>
            <a:pPr>
              <a:spcAft>
                <a:spcPts val="800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Actual Python implementation or library usage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46E30A7D-DB82-36E0-F652-4C738D48A8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205EEFAE-33BE-B81D-8385-007D703EA2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  <a:ln>
            <a:solidFill>
              <a:srgbClr val="E8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0803988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E88E5"/>
                </a:solidFill>
              </a:defRPr>
            </a:pPr>
            <a:r>
              <a:rPr sz="4267" dirty="0"/>
              <a:t>Vectors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5608320" cy="2772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 b="1">
                <a:solidFill>
                  <a:srgbClr val="1E88E5"/>
                </a:solidFill>
              </a:defRPr>
            </a:pPr>
            <a:r>
              <a:rPr sz="1867" dirty="0"/>
              <a:t>What is a Vector?</a:t>
            </a:r>
          </a:p>
          <a:p>
            <a:pPr>
              <a:spcAft>
                <a:spcPts val="1333"/>
              </a:spcAft>
              <a:defRPr sz="1100">
                <a:solidFill>
                  <a:srgbClr val="2C3E50"/>
                </a:solidFill>
              </a:defRPr>
            </a:pPr>
            <a:r>
              <a:rPr sz="1467" dirty="0"/>
              <a:t>An ordered list of numbers (components) representing: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 dirty="0"/>
              <a:t>• Position in space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 dirty="0"/>
              <a:t>• Direction and magnitude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 dirty="0"/>
              <a:t>• Data features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 dirty="0"/>
              <a:t>• Weights in networks</a:t>
            </a:r>
          </a:p>
          <a:p>
            <a:pPr>
              <a:spcAft>
                <a:spcPts val="1600"/>
              </a:spcAft>
              <a:defRPr sz="1000" b="1">
                <a:solidFill>
                  <a:srgbClr val="4CAF50"/>
                </a:solidFill>
                <a:latin typeface="Courier New"/>
              </a:defRPr>
            </a:pPr>
            <a:r>
              <a:rPr sz="1333" dirty="0"/>
              <a:t>Notation: v = [v1, v2, ..., </a:t>
            </a:r>
            <a:r>
              <a:rPr sz="1333" dirty="0" err="1"/>
              <a:t>vn</a:t>
            </a:r>
            <a:r>
              <a:rPr sz="1333" dirty="0"/>
              <a:t>]</a:t>
            </a:r>
          </a:p>
          <a:p>
            <a:pPr>
              <a:defRPr sz="1000" b="1">
                <a:solidFill>
                  <a:srgbClr val="4CAF50"/>
                </a:solidFill>
                <a:latin typeface="Courier New"/>
              </a:defRPr>
            </a:pPr>
            <a:r>
              <a:rPr sz="1333" dirty="0"/>
              <a:t>|v| = sqrt(v1² + v2² + ... + vn²)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9840" y="1036321"/>
            <a:ext cx="5486400" cy="3731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 b="1">
                <a:solidFill>
                  <a:srgbClr val="16A085"/>
                </a:solidFill>
              </a:defRPr>
            </a:pPr>
            <a:r>
              <a:rPr sz="1867"/>
              <a:t>Vector Operations</a:t>
            </a:r>
          </a:p>
          <a:p>
            <a:pPr>
              <a:spcAft>
                <a:spcPts val="267"/>
              </a:spcAft>
              <a:defRPr sz="1000" b="1">
                <a:solidFill>
                  <a:srgbClr val="1E88E5"/>
                </a:solidFill>
              </a:defRPr>
            </a:pPr>
            <a:r>
              <a:rPr sz="1333"/>
              <a:t>Dimension</a:t>
            </a:r>
          </a:p>
          <a:p>
            <a:pPr>
              <a:spcAft>
                <a:spcPts val="933"/>
              </a:spcAft>
              <a:defRPr sz="900">
                <a:solidFill>
                  <a:srgbClr val="2C3E50"/>
                </a:solidFill>
              </a:defRPr>
            </a:pPr>
            <a:r>
              <a:rPr sz="1200"/>
              <a:t>Number of components</a:t>
            </a:r>
          </a:p>
          <a:p>
            <a:pPr>
              <a:spcAft>
                <a:spcPts val="267"/>
              </a:spcAft>
              <a:defRPr sz="1000" b="1">
                <a:solidFill>
                  <a:srgbClr val="1E88E5"/>
                </a:solidFill>
              </a:defRPr>
            </a:pPr>
            <a:r>
              <a:rPr sz="1333"/>
              <a:t>Unit Vector</a:t>
            </a:r>
          </a:p>
          <a:p>
            <a:pPr>
              <a:spcAft>
                <a:spcPts val="933"/>
              </a:spcAft>
              <a:defRPr sz="900">
                <a:solidFill>
                  <a:srgbClr val="2C3E50"/>
                </a:solidFill>
              </a:defRPr>
            </a:pPr>
            <a:r>
              <a:rPr sz="1200"/>
              <a:t>Magnitude = 1</a:t>
            </a:r>
          </a:p>
          <a:p>
            <a:pPr>
              <a:spcAft>
                <a:spcPts val="267"/>
              </a:spcAft>
              <a:defRPr sz="1000" b="1">
                <a:solidFill>
                  <a:srgbClr val="1E88E5"/>
                </a:solidFill>
              </a:defRPr>
            </a:pPr>
            <a:r>
              <a:rPr sz="1333"/>
              <a:t>Addition</a:t>
            </a:r>
          </a:p>
          <a:p>
            <a:pPr>
              <a:spcAft>
                <a:spcPts val="933"/>
              </a:spcAft>
              <a:defRPr sz="900">
                <a:solidFill>
                  <a:srgbClr val="2C3E50"/>
                </a:solidFill>
              </a:defRPr>
            </a:pPr>
            <a:r>
              <a:rPr sz="1200"/>
              <a:t>Element-wise sum</a:t>
            </a:r>
          </a:p>
          <a:p>
            <a:pPr>
              <a:spcAft>
                <a:spcPts val="267"/>
              </a:spcAft>
              <a:defRPr sz="1000" b="1">
                <a:solidFill>
                  <a:srgbClr val="1E88E5"/>
                </a:solidFill>
              </a:defRPr>
            </a:pPr>
            <a:r>
              <a:rPr sz="1333"/>
              <a:t>Scaling</a:t>
            </a:r>
          </a:p>
          <a:p>
            <a:pPr>
              <a:spcAft>
                <a:spcPts val="933"/>
              </a:spcAft>
              <a:defRPr sz="900">
                <a:solidFill>
                  <a:srgbClr val="2C3E50"/>
                </a:solidFill>
              </a:defRPr>
            </a:pPr>
            <a:r>
              <a:rPr sz="1200"/>
              <a:t>Multiply by scalar</a:t>
            </a:r>
          </a:p>
          <a:p>
            <a:pPr>
              <a:spcAft>
                <a:spcPts val="267"/>
              </a:spcAft>
              <a:defRPr sz="1000" b="1">
                <a:solidFill>
                  <a:srgbClr val="1E88E5"/>
                </a:solidFill>
              </a:defRPr>
            </a:pPr>
            <a:r>
              <a:rPr sz="1333"/>
              <a:t>Dot Product</a:t>
            </a:r>
          </a:p>
          <a:p>
            <a:pPr>
              <a:spcAft>
                <a:spcPts val="933"/>
              </a:spcAft>
              <a:defRPr sz="900">
                <a:solidFill>
                  <a:srgbClr val="2C3E50"/>
                </a:solidFill>
              </a:defRPr>
            </a:pPr>
            <a:r>
              <a:rPr sz="1200"/>
              <a:t>Similarity measure</a:t>
            </a:r>
          </a:p>
          <a:p>
            <a:pPr>
              <a:spcAft>
                <a:spcPts val="267"/>
              </a:spcAft>
              <a:defRPr sz="1000" b="1">
                <a:solidFill>
                  <a:srgbClr val="1E88E5"/>
                </a:solidFill>
              </a:defRPr>
            </a:pPr>
            <a:r>
              <a:rPr sz="1333"/>
              <a:t>Orthogonal</a:t>
            </a:r>
          </a:p>
          <a:p>
            <a:pPr>
              <a:spcAft>
                <a:spcPts val="933"/>
              </a:spcAft>
              <a:defRPr sz="900">
                <a:solidFill>
                  <a:srgbClr val="2C3E50"/>
                </a:solidFill>
              </a:defRPr>
            </a:pPr>
            <a:r>
              <a:rPr sz="1200"/>
              <a:t>Perpendicular, independent</a:t>
            </a:r>
          </a:p>
        </p:txBody>
      </p:sp>
      <p:pic>
        <p:nvPicPr>
          <p:cNvPr id="7" name="Picture 2" descr="LPU Distance Education| Recognitions &amp; Approvals">
            <a:extLst>
              <a:ext uri="{FF2B5EF4-FFF2-40B4-BE49-F238E27FC236}">
                <a16:creationId xmlns:a16="http://schemas.microsoft.com/office/drawing/2014/main" id="{3C8E975C-EEB2-D94D-46C5-3452793CE2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139B7304-0DA5-B47B-407D-22A12F919C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  <a:ln>
            <a:solidFill>
              <a:srgbClr val="E8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0803987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E88E5"/>
                </a:solidFill>
              </a:defRPr>
            </a:pPr>
            <a:r>
              <a:rPr sz="4267" dirty="0"/>
              <a:t>Vectors: Student Profile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0903" y="882151"/>
            <a:ext cx="11460480" cy="359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FF6B6B"/>
                </a:solidFill>
              </a:defRPr>
            </a:pPr>
            <a:r>
              <a:rPr sz="1733"/>
              <a:t>Example: Each Student as a Feature Vector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9201"/>
            <a:ext cx="11094720" cy="2451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33"/>
              </a:spcAft>
              <a:defRPr sz="1000">
                <a:solidFill>
                  <a:srgbClr val="4CAF50"/>
                </a:solidFill>
                <a:latin typeface="Courier New"/>
              </a:defRPr>
            </a:pPr>
            <a:r>
              <a:rPr sz="1333" dirty="0"/>
              <a:t>Alice = [Age=20, GPA=3.8, Hours=5, Score=92, Projects=4]</a:t>
            </a:r>
          </a:p>
          <a:p>
            <a:pPr>
              <a:spcAft>
                <a:spcPts val="533"/>
              </a:spcAft>
              <a:defRPr sz="1000">
                <a:solidFill>
                  <a:srgbClr val="2C3E50"/>
                </a:solidFill>
              </a:defRPr>
            </a:pPr>
            <a:endParaRPr sz="1333" dirty="0"/>
          </a:p>
          <a:p>
            <a:pPr>
              <a:spcAft>
                <a:spcPts val="533"/>
              </a:spcAft>
              <a:defRPr sz="1000">
                <a:solidFill>
                  <a:srgbClr val="4CAF50"/>
                </a:solidFill>
                <a:latin typeface="Courier New"/>
              </a:defRPr>
            </a:pPr>
            <a:r>
              <a:rPr sz="1333" dirty="0"/>
              <a:t>Magnitude: |Alice| = sqrt(20² + 3.8² + 5² + 92² + 4²) = sqrt(8919.44) ≈ 94.4</a:t>
            </a:r>
          </a:p>
          <a:p>
            <a:pPr>
              <a:spcAft>
                <a:spcPts val="533"/>
              </a:spcAft>
              <a:defRPr sz="1000">
                <a:solidFill>
                  <a:srgbClr val="2C3E50"/>
                </a:solidFill>
              </a:defRPr>
            </a:pPr>
            <a:endParaRPr sz="1333" dirty="0"/>
          </a:p>
          <a:p>
            <a:pPr>
              <a:spcAft>
                <a:spcPts val="533"/>
              </a:spcAft>
              <a:defRPr sz="1000">
                <a:solidFill>
                  <a:srgbClr val="4CAF50"/>
                </a:solidFill>
                <a:latin typeface="Courier New"/>
              </a:defRPr>
            </a:pPr>
            <a:r>
              <a:rPr sz="1333" dirty="0"/>
              <a:t>Addition (combine profiles): Alice + Bob = [20+21, 3.8+3.2, ...]</a:t>
            </a:r>
          </a:p>
          <a:p>
            <a:pPr>
              <a:spcAft>
                <a:spcPts val="533"/>
              </a:spcAft>
              <a:defRPr sz="1000">
                <a:solidFill>
                  <a:srgbClr val="2C3E50"/>
                </a:solidFill>
              </a:defRPr>
            </a:pPr>
            <a:endParaRPr sz="1333" dirty="0"/>
          </a:p>
          <a:p>
            <a:pPr>
              <a:spcAft>
                <a:spcPts val="533"/>
              </a:spcAft>
              <a:defRPr sz="1000">
                <a:solidFill>
                  <a:srgbClr val="4CAF50"/>
                </a:solidFill>
                <a:latin typeface="Courier New"/>
              </a:defRPr>
            </a:pPr>
            <a:r>
              <a:rPr sz="1333" dirty="0"/>
              <a:t>Scaling (double effort): 2 × [Hours] = 2 × 5 = 10 hours</a:t>
            </a:r>
          </a:p>
          <a:p>
            <a:pPr>
              <a:spcAft>
                <a:spcPts val="533"/>
              </a:spcAft>
              <a:defRPr sz="1000">
                <a:solidFill>
                  <a:srgbClr val="2C3E50"/>
                </a:solidFill>
              </a:defRPr>
            </a:pPr>
            <a:endParaRPr sz="1333" dirty="0"/>
          </a:p>
          <a:p>
            <a:pPr>
              <a:spcAft>
                <a:spcPts val="533"/>
              </a:spcAft>
              <a:defRPr sz="1000">
                <a:solidFill>
                  <a:srgbClr val="4CAF50"/>
                </a:solidFill>
                <a:latin typeface="Courier New"/>
              </a:defRPr>
            </a:pPr>
            <a:r>
              <a:rPr sz="1333" dirty="0"/>
              <a:t>Unit Vector (normalize): Alice/|Alice| = [0.212, 0.040, 0.053, 0.975, 0.042]</a:t>
            </a:r>
          </a:p>
        </p:txBody>
      </p:sp>
      <p:pic>
        <p:nvPicPr>
          <p:cNvPr id="7" name="Picture 2" descr="LPU Distance Education| Recognitions &amp; Approvals">
            <a:extLst>
              <a:ext uri="{FF2B5EF4-FFF2-40B4-BE49-F238E27FC236}">
                <a16:creationId xmlns:a16="http://schemas.microsoft.com/office/drawing/2014/main" id="{C95C78F8-21FB-3B23-C923-87A3BD0570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5F6162D5-D823-B60B-6807-07ACB002B9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  <a:ln>
            <a:solidFill>
              <a:srgbClr val="E8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0803987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E88E5"/>
                </a:solidFill>
              </a:defRPr>
            </a:pPr>
            <a:r>
              <a:rPr sz="4267" dirty="0"/>
              <a:t>Vectors: Visual Representation</a:t>
            </a:r>
          </a:p>
        </p:txBody>
      </p:sp>
      <p:pic>
        <p:nvPicPr>
          <p:cNvPr id="5" name="Picture 4" descr="01_ve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76" y="862758"/>
            <a:ext cx="11731430" cy="5924964"/>
          </a:xfrm>
          <a:prstGeom prst="rect">
            <a:avLst/>
          </a:prstGeom>
        </p:spPr>
      </p:pic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5CAB9C5C-A8D5-42CA-2A48-F7B61007F7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165AFCBB-BF3E-F184-4C78-FD4172C01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  <a:ln>
            <a:solidFill>
              <a:srgbClr val="E8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0803987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E88E5"/>
                </a:solidFill>
              </a:defRPr>
            </a:pPr>
            <a:r>
              <a:rPr sz="4267" dirty="0"/>
              <a:t>Vectors in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5608320" cy="2062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 b="1">
                <a:solidFill>
                  <a:srgbClr val="1E88E5"/>
                </a:solidFill>
              </a:defRPr>
            </a:pPr>
            <a:r>
              <a:rPr sz="1867"/>
              <a:t>How ML Uses Vectors</a:t>
            </a:r>
          </a:p>
          <a:p>
            <a:pPr>
              <a:spcAft>
                <a:spcPts val="1333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Every data point is a vector!</a:t>
            </a:r>
          </a:p>
          <a:p>
            <a:pPr>
              <a:spcAft>
                <a:spcPts val="933"/>
              </a:spcAft>
              <a:defRPr sz="900">
                <a:solidFill>
                  <a:srgbClr val="2C3E50"/>
                </a:solidFill>
              </a:defRPr>
            </a:pPr>
            <a:r>
              <a:rPr sz="1200"/>
              <a:t>Image: [pixel_R, pixel_G, pixel_B, ...] (1000s of values)</a:t>
            </a:r>
          </a:p>
          <a:p>
            <a:pPr>
              <a:spcAft>
                <a:spcPts val="933"/>
              </a:spcAft>
              <a:defRPr sz="900">
                <a:solidFill>
                  <a:srgbClr val="2C3E50"/>
                </a:solidFill>
              </a:defRPr>
            </a:pPr>
            <a:r>
              <a:rPr sz="1200"/>
              <a:t>Text: [word_freq_the, word_freq_and, ...] (embedding vectors)</a:t>
            </a:r>
          </a:p>
          <a:p>
            <a:pPr>
              <a:spcAft>
                <a:spcPts val="933"/>
              </a:spcAft>
              <a:defRPr sz="900">
                <a:solidFill>
                  <a:srgbClr val="2C3E50"/>
                </a:solidFill>
              </a:defRPr>
            </a:pPr>
            <a:r>
              <a:rPr sz="1200"/>
              <a:t>Audio: [amplitude_1ms, amplitude_2ms, ...] (sound waves)</a:t>
            </a:r>
          </a:p>
          <a:p>
            <a:pPr>
              <a:spcAft>
                <a:spcPts val="933"/>
              </a:spcAft>
              <a:defRPr sz="900">
                <a:solidFill>
                  <a:srgbClr val="2C3E50"/>
                </a:solidFill>
              </a:defRPr>
            </a:pPr>
            <a:r>
              <a:rPr sz="1200"/>
              <a:t>Sensor: [temp, pressure, humidity, ...] (IoT data)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9840" y="1036321"/>
            <a:ext cx="5486400" cy="2803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 b="1">
                <a:solidFill>
                  <a:srgbClr val="16A085"/>
                </a:solidFill>
              </a:defRPr>
            </a:pPr>
            <a:r>
              <a:rPr sz="1867"/>
              <a:t>Algorithms Using Vectors</a:t>
            </a:r>
          </a:p>
          <a:p>
            <a:pPr>
              <a:spcAft>
                <a:spcPts val="267"/>
              </a:spcAft>
              <a:defRPr sz="1100" b="1">
                <a:solidFill>
                  <a:srgbClr val="4CAF50"/>
                </a:solidFill>
              </a:defRPr>
            </a:pPr>
            <a:r>
              <a:rPr sz="1467"/>
              <a:t>K-Means Clustering</a:t>
            </a:r>
          </a:p>
          <a:p>
            <a:pPr>
              <a:spcAft>
                <a:spcPts val="1067"/>
              </a:spcAft>
              <a:defRPr sz="900">
                <a:solidFill>
                  <a:srgbClr val="2C3E50"/>
                </a:solidFill>
              </a:defRPr>
            </a:pPr>
            <a:r>
              <a:rPr sz="1200"/>
              <a:t>Finds closest vectors using distance</a:t>
            </a:r>
          </a:p>
          <a:p>
            <a:pPr>
              <a:spcAft>
                <a:spcPts val="267"/>
              </a:spcAft>
              <a:defRPr sz="1100" b="1">
                <a:solidFill>
                  <a:srgbClr val="4CAF50"/>
                </a:solidFill>
              </a:defRPr>
            </a:pPr>
            <a:r>
              <a:rPr sz="1467"/>
              <a:t>Neural Networks</a:t>
            </a:r>
          </a:p>
          <a:p>
            <a:pPr>
              <a:spcAft>
                <a:spcPts val="1067"/>
              </a:spcAft>
              <a:defRPr sz="900">
                <a:solidFill>
                  <a:srgbClr val="2C3E50"/>
                </a:solidFill>
              </a:defRPr>
            </a:pPr>
            <a:r>
              <a:rPr sz="1200"/>
              <a:t>Transforms input vectors through layers</a:t>
            </a:r>
          </a:p>
          <a:p>
            <a:pPr>
              <a:spcAft>
                <a:spcPts val="267"/>
              </a:spcAft>
              <a:defRPr sz="1100" b="1">
                <a:solidFill>
                  <a:srgbClr val="4CAF50"/>
                </a:solidFill>
              </a:defRPr>
            </a:pPr>
            <a:r>
              <a:rPr sz="1467"/>
              <a:t>KNN</a:t>
            </a:r>
          </a:p>
          <a:p>
            <a:pPr>
              <a:spcAft>
                <a:spcPts val="1067"/>
              </a:spcAft>
              <a:defRPr sz="900">
                <a:solidFill>
                  <a:srgbClr val="2C3E50"/>
                </a:solidFill>
              </a:defRPr>
            </a:pPr>
            <a:r>
              <a:rPr sz="1200"/>
              <a:t>Finds k nearest neighbor vectors</a:t>
            </a:r>
          </a:p>
          <a:p>
            <a:pPr>
              <a:spcAft>
                <a:spcPts val="267"/>
              </a:spcAft>
              <a:defRPr sz="1100" b="1">
                <a:solidFill>
                  <a:srgbClr val="4CAF50"/>
                </a:solidFill>
              </a:defRPr>
            </a:pPr>
            <a:r>
              <a:rPr sz="1467"/>
              <a:t>Embeddings</a:t>
            </a:r>
          </a:p>
          <a:p>
            <a:pPr>
              <a:spcAft>
                <a:spcPts val="1067"/>
              </a:spcAft>
              <a:defRPr sz="900">
                <a:solidFill>
                  <a:srgbClr val="2C3E50"/>
                </a:solidFill>
              </a:defRPr>
            </a:pPr>
            <a:r>
              <a:rPr sz="1200"/>
              <a:t>Maps words/images to vector space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608320"/>
            <a:ext cx="11460480" cy="1036320"/>
          </a:xfrm>
          <a:prstGeom prst="rect">
            <a:avLst/>
          </a:prstGeom>
          <a:solidFill>
            <a:srgbClr val="F5F5F5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548640" y="5669281"/>
            <a:ext cx="11216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CAF50"/>
                </a:solidFill>
                <a:latin typeface="Courier New"/>
              </a:defRPr>
            </a:pPr>
            <a:r>
              <a:rPr sz="1200"/>
              <a:t>Code Example:  import numpy as np  |  x = np.array([0.5, 0.3, 0.8])  |  magnitude = np.linalg.norm(x)  |  # [sklearn, tensorflow, pytorch all work with vectors]</a:t>
            </a:r>
          </a:p>
        </p:txBody>
      </p:sp>
      <p:pic>
        <p:nvPicPr>
          <p:cNvPr id="9" name="Picture 2" descr="LPU Distance Education| Recognitions &amp; Approvals">
            <a:extLst>
              <a:ext uri="{FF2B5EF4-FFF2-40B4-BE49-F238E27FC236}">
                <a16:creationId xmlns:a16="http://schemas.microsoft.com/office/drawing/2014/main" id="{15F7A2D3-B539-2380-0423-1463E25A58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7FA19612-9A61-FF22-BE3F-0F6B8B7B5B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  <a:ln>
            <a:solidFill>
              <a:srgbClr val="E8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0803988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E88E5"/>
                </a:solidFill>
              </a:defRPr>
            </a:pPr>
            <a:r>
              <a:rPr sz="4267" dirty="0"/>
              <a:t>Dot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5608320" cy="2064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 b="1">
                <a:solidFill>
                  <a:srgbClr val="1E88E5"/>
                </a:solidFill>
              </a:defRPr>
            </a:pPr>
            <a:r>
              <a:rPr sz="1867"/>
              <a:t>What is Dot Product?</a:t>
            </a:r>
          </a:p>
          <a:p>
            <a:pPr>
              <a:spcAft>
                <a:spcPts val="1333"/>
              </a:spcAft>
              <a:defRPr sz="1100">
                <a:solidFill>
                  <a:srgbClr val="2C3E50"/>
                </a:solidFill>
              </a:defRPr>
            </a:pPr>
            <a:r>
              <a:rPr sz="1467"/>
              <a:t>Multiply corresponding components and sum:</a:t>
            </a:r>
          </a:p>
          <a:p>
            <a:pPr>
              <a:spcAft>
                <a:spcPts val="1600"/>
              </a:spcAft>
              <a:defRPr sz="1200" b="1">
                <a:solidFill>
                  <a:srgbClr val="4CAF50"/>
                </a:solidFill>
                <a:latin typeface="Courier New"/>
              </a:defRPr>
            </a:pPr>
            <a:r>
              <a:rPr sz="1600"/>
              <a:t>v · u = v1*u1 + v2*u2 + ... + vn*un</a:t>
            </a:r>
          </a:p>
          <a:p>
            <a:pPr>
              <a:spcAft>
                <a:spcPts val="1600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Result: Single number showing similarity</a:t>
            </a:r>
          </a:p>
          <a:p>
            <a:pPr>
              <a:defRPr sz="1000" b="1">
                <a:solidFill>
                  <a:srgbClr val="4CAF50"/>
                </a:solidFill>
                <a:latin typeface="Courier New"/>
              </a:defRPr>
            </a:pPr>
            <a:r>
              <a:rPr sz="1333"/>
              <a:t>Geometric: v · u = |v| * |u| * cos(θ)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9840" y="1036320"/>
            <a:ext cx="5486400" cy="2759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 b="1">
                <a:solidFill>
                  <a:srgbClr val="16A085"/>
                </a:solidFill>
              </a:defRPr>
            </a:pPr>
            <a:r>
              <a:rPr sz="1867"/>
              <a:t>Interpretation</a:t>
            </a:r>
          </a:p>
          <a:p>
            <a:pPr>
              <a:spcAft>
                <a:spcPts val="267"/>
              </a:spcAft>
              <a:defRPr sz="1000" b="1">
                <a:solidFill>
                  <a:srgbClr val="1E88E5"/>
                </a:solidFill>
              </a:defRPr>
            </a:pPr>
            <a:r>
              <a:rPr sz="1333"/>
              <a:t>Large Positive</a:t>
            </a:r>
          </a:p>
          <a:p>
            <a:pPr>
              <a:spcAft>
                <a:spcPts val="1200"/>
              </a:spcAft>
              <a:defRPr sz="900">
                <a:solidFill>
                  <a:srgbClr val="2C3E50"/>
                </a:solidFill>
              </a:defRPr>
            </a:pPr>
            <a:r>
              <a:rPr sz="1200"/>
              <a:t>Vectors very similar (parallel)</a:t>
            </a:r>
          </a:p>
          <a:p>
            <a:pPr>
              <a:spcAft>
                <a:spcPts val="267"/>
              </a:spcAft>
              <a:defRPr sz="1000" b="1">
                <a:solidFill>
                  <a:srgbClr val="1E88E5"/>
                </a:solidFill>
              </a:defRPr>
            </a:pPr>
            <a:r>
              <a:rPr sz="1333"/>
              <a:t>Zero</a:t>
            </a:r>
          </a:p>
          <a:p>
            <a:pPr>
              <a:spcAft>
                <a:spcPts val="1200"/>
              </a:spcAft>
              <a:defRPr sz="900">
                <a:solidFill>
                  <a:srgbClr val="2C3E50"/>
                </a:solidFill>
              </a:defRPr>
            </a:pPr>
            <a:r>
              <a:rPr sz="1200"/>
              <a:t>Vectors independent (perpendicular)</a:t>
            </a:r>
          </a:p>
          <a:p>
            <a:pPr>
              <a:spcAft>
                <a:spcPts val="267"/>
              </a:spcAft>
              <a:defRPr sz="1000" b="1">
                <a:solidFill>
                  <a:srgbClr val="1E88E5"/>
                </a:solidFill>
              </a:defRPr>
            </a:pPr>
            <a:r>
              <a:rPr sz="1333"/>
              <a:t>Large Negative</a:t>
            </a:r>
          </a:p>
          <a:p>
            <a:pPr>
              <a:spcAft>
                <a:spcPts val="1200"/>
              </a:spcAft>
              <a:defRPr sz="900">
                <a:solidFill>
                  <a:srgbClr val="2C3E50"/>
                </a:solidFill>
              </a:defRPr>
            </a:pPr>
            <a:r>
              <a:rPr sz="1200"/>
              <a:t>Vectors opposite (anti-parallel)</a:t>
            </a:r>
          </a:p>
          <a:p>
            <a:pPr>
              <a:spcAft>
                <a:spcPts val="267"/>
              </a:spcAft>
              <a:defRPr sz="1000" b="1">
                <a:solidFill>
                  <a:srgbClr val="1E88E5"/>
                </a:solidFill>
              </a:defRPr>
            </a:pPr>
            <a:r>
              <a:rPr sz="1333"/>
              <a:t>Magnitude</a:t>
            </a:r>
          </a:p>
          <a:p>
            <a:pPr>
              <a:spcAft>
                <a:spcPts val="1200"/>
              </a:spcAft>
              <a:defRPr sz="900">
                <a:solidFill>
                  <a:srgbClr val="2C3E50"/>
                </a:solidFill>
              </a:defRPr>
            </a:pPr>
            <a:r>
              <a:rPr sz="1200"/>
              <a:t>v · v = |v|² (length squared)</a:t>
            </a:r>
          </a:p>
        </p:txBody>
      </p:sp>
      <p:pic>
        <p:nvPicPr>
          <p:cNvPr id="7" name="Picture 2" descr="LPU Distance Education| Recognitions &amp; Approvals">
            <a:extLst>
              <a:ext uri="{FF2B5EF4-FFF2-40B4-BE49-F238E27FC236}">
                <a16:creationId xmlns:a16="http://schemas.microsoft.com/office/drawing/2014/main" id="{EC4E1B83-E7B0-1E84-9B80-2A8D5A1E2F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332AF9F7-BDA4-7605-4F49-6F213A4A3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  <a:ln>
            <a:solidFill>
              <a:srgbClr val="E8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763897" y="42296"/>
            <a:ext cx="10238187" cy="70788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1E88E5"/>
                </a:solidFill>
              </a:defRPr>
            </a:pPr>
            <a:r>
              <a:rPr sz="4000" dirty="0"/>
              <a:t>Dot Product: Netflix Recommendation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11460480" cy="359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FF6B6B"/>
                </a:solidFill>
              </a:defRPr>
            </a:pPr>
            <a:r>
              <a:rPr sz="1733"/>
              <a:t>How Netflix Recommends Movies (Simplified)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9200"/>
            <a:ext cx="11094720" cy="2646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Movie Features: [Action, Comedy, Drama, Romance, Sci-Fi]</a:t>
            </a:r>
          </a:p>
          <a:p>
            <a:pPr>
              <a:spcAft>
                <a:spcPts val="400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400"/>
              </a:spcAft>
              <a:defRPr sz="1000">
                <a:solidFill>
                  <a:srgbClr val="4CAF50"/>
                </a:solidFill>
                <a:latin typeface="Courier New"/>
              </a:defRPr>
            </a:pPr>
            <a:r>
              <a:rPr sz="1333"/>
              <a:t>MovieA = [8, 3, 2, 1, 7]  (Action/Sci-Fi heavy)</a:t>
            </a:r>
          </a:p>
          <a:p>
            <a:pPr>
              <a:spcAft>
                <a:spcPts val="400"/>
              </a:spcAft>
              <a:defRPr sz="1000">
                <a:solidFill>
                  <a:srgbClr val="4CAF50"/>
                </a:solidFill>
                <a:latin typeface="Courier New"/>
              </a:defRPr>
            </a:pPr>
            <a:r>
              <a:rPr sz="1333"/>
              <a:t>MovieB = [7, 2, 3, 2, 8]  (Similar: Action/Sci-Fi)</a:t>
            </a:r>
          </a:p>
          <a:p>
            <a:pPr>
              <a:spcAft>
                <a:spcPts val="400"/>
              </a:spcAft>
              <a:defRPr sz="1000">
                <a:solidFill>
                  <a:srgbClr val="4CAF50"/>
                </a:solidFill>
                <a:latin typeface="Courier New"/>
              </a:defRPr>
            </a:pPr>
            <a:r>
              <a:rPr sz="1333"/>
              <a:t>MovieC = [1, 9, 2, 8, 0]  (Comedy/Romance, different)</a:t>
            </a:r>
          </a:p>
          <a:p>
            <a:pPr>
              <a:spcAft>
                <a:spcPts val="400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400"/>
              </a:spcAft>
              <a:defRPr sz="1000">
                <a:solidFill>
                  <a:srgbClr val="4CAF50"/>
                </a:solidFill>
                <a:latin typeface="Courier New"/>
              </a:defRPr>
            </a:pPr>
            <a:r>
              <a:rPr sz="1333"/>
              <a:t>Similarity(A, B) = 8*7 + 3*2 + 2*3 + 1*2 + 7*8 = 56+6+6+2+56 = 126 ← HIGH!</a:t>
            </a:r>
          </a:p>
          <a:p>
            <a:pPr>
              <a:spcAft>
                <a:spcPts val="400"/>
              </a:spcAft>
              <a:defRPr sz="1000">
                <a:solidFill>
                  <a:srgbClr val="4CAF50"/>
                </a:solidFill>
                <a:latin typeface="Courier New"/>
              </a:defRPr>
            </a:pPr>
            <a:r>
              <a:rPr sz="1333"/>
              <a:t>Similarity(A, C) = 8*1 + 3*9 + 2*2 + 1*8 + 7*0 = 8+27+4+8+0 = 47 ← LOWER</a:t>
            </a:r>
          </a:p>
          <a:p>
            <a:pPr>
              <a:spcAft>
                <a:spcPts val="400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400"/>
              </a:spcAft>
              <a:defRPr sz="1200" b="1">
                <a:solidFill>
                  <a:srgbClr val="1E88E5"/>
                </a:solidFill>
              </a:defRPr>
            </a:pPr>
            <a:r>
              <a:rPr sz="1600"/>
              <a:t>Result: Netflix recommends B after A! (Higher dot product = more similar)</a:t>
            </a:r>
          </a:p>
        </p:txBody>
      </p:sp>
      <p:pic>
        <p:nvPicPr>
          <p:cNvPr id="7" name="Picture 2" descr="LPU Distance Education| Recognitions &amp; Approvals">
            <a:extLst>
              <a:ext uri="{FF2B5EF4-FFF2-40B4-BE49-F238E27FC236}">
                <a16:creationId xmlns:a16="http://schemas.microsoft.com/office/drawing/2014/main" id="{11E4344B-6DB6-1548-6341-98822BB646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13A9B924-25CA-614A-6B95-38A827B544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  <a:ln>
            <a:solidFill>
              <a:srgbClr val="E8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0803988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E88E5"/>
                </a:solidFill>
              </a:defRPr>
            </a:pPr>
            <a:r>
              <a:rPr sz="4267" dirty="0"/>
              <a:t>Dot Product: Visual Representation</a:t>
            </a:r>
          </a:p>
        </p:txBody>
      </p:sp>
      <p:pic>
        <p:nvPicPr>
          <p:cNvPr id="5" name="Picture 4" descr="02_dot_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41011"/>
            <a:ext cx="11868854" cy="5946711"/>
          </a:xfrm>
          <a:prstGeom prst="rect">
            <a:avLst/>
          </a:prstGeom>
        </p:spPr>
      </p:pic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A53405D3-82E4-DAE7-E38D-5472609103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752EFA73-3F4F-AE3F-066E-41675C245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  <a:ln>
            <a:solidFill>
              <a:srgbClr val="E8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0803987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E88E5"/>
                </a:solidFill>
              </a:defRPr>
            </a:pPr>
            <a:r>
              <a:rPr sz="4267" dirty="0"/>
              <a:t>Dot Product in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0"/>
            <a:ext cx="5608320" cy="2682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 b="1">
                <a:solidFill>
                  <a:srgbClr val="1E88E5"/>
                </a:solidFill>
              </a:defRPr>
            </a:pPr>
            <a:r>
              <a:rPr sz="1867"/>
              <a:t>Neural Network Neuron</a:t>
            </a:r>
          </a:p>
          <a:p>
            <a:pPr>
              <a:spcAft>
                <a:spcPts val="1067"/>
              </a:spcAft>
              <a:defRPr sz="1100">
                <a:solidFill>
                  <a:srgbClr val="2C3E50"/>
                </a:solidFill>
              </a:defRPr>
            </a:pPr>
            <a:r>
              <a:rPr sz="1467"/>
              <a:t>Every neuron computes:</a:t>
            </a:r>
          </a:p>
          <a:p>
            <a:pPr>
              <a:spcAft>
                <a:spcPts val="1600"/>
              </a:spcAft>
              <a:defRPr sz="1100" b="1">
                <a:solidFill>
                  <a:srgbClr val="4CAF50"/>
                </a:solidFill>
                <a:latin typeface="Courier New"/>
              </a:defRPr>
            </a:pPr>
            <a:r>
              <a:rPr sz="1467"/>
              <a:t>output = weights · inputs + bias</a:t>
            </a:r>
          </a:p>
          <a:p>
            <a:pPr>
              <a:spcAft>
                <a:spcPts val="10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Example:</a:t>
            </a:r>
          </a:p>
          <a:p>
            <a:pPr>
              <a:spcAft>
                <a:spcPts val="400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w = [0.5, -0.2, 0.8]</a:t>
            </a:r>
          </a:p>
          <a:p>
            <a:pPr>
              <a:spcAft>
                <a:spcPts val="400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x = [0.3, 0.1, 0.9]</a:t>
            </a:r>
          </a:p>
          <a:p>
            <a:pPr>
              <a:spcAft>
                <a:spcPts val="400"/>
              </a:spcAft>
              <a:defRPr sz="900" b="1">
                <a:solidFill>
                  <a:srgbClr val="4CAF50"/>
                </a:solidFill>
                <a:latin typeface="Courier New"/>
              </a:defRPr>
            </a:pPr>
            <a:r>
              <a:rPr sz="1200"/>
              <a:t>output = 0.5*0.3 + (-0.2)*0.1 + 0.8*0.9</a:t>
            </a:r>
          </a:p>
          <a:p>
            <a:pPr>
              <a:defRPr sz="900" b="1">
                <a:solidFill>
                  <a:srgbClr val="4CAF50"/>
                </a:solidFill>
                <a:latin typeface="Courier New"/>
              </a:defRPr>
            </a:pPr>
            <a:r>
              <a:rPr sz="1200"/>
              <a:t>     = 0.15 - 0.02 + 0.72 = 0.85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9840" y="1036321"/>
            <a:ext cx="5486400" cy="2803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 b="1">
                <a:solidFill>
                  <a:srgbClr val="16A085"/>
                </a:solidFill>
              </a:defRPr>
            </a:pPr>
            <a:r>
              <a:rPr sz="1867"/>
              <a:t>Real ML Applications</a:t>
            </a:r>
          </a:p>
          <a:p>
            <a:pPr>
              <a:spcAft>
                <a:spcPts val="267"/>
              </a:spcAft>
              <a:defRPr sz="1100" b="1">
                <a:solidFill>
                  <a:srgbClr val="4CAF50"/>
                </a:solidFill>
              </a:defRPr>
            </a:pPr>
            <a:r>
              <a:rPr sz="1467"/>
              <a:t>Transformer</a:t>
            </a:r>
          </a:p>
          <a:p>
            <a:pPr>
              <a:spcAft>
                <a:spcPts val="1067"/>
              </a:spcAft>
              <a:defRPr sz="900">
                <a:solidFill>
                  <a:srgbClr val="2C3E50"/>
                </a:solidFill>
              </a:defRPr>
            </a:pPr>
            <a:r>
              <a:rPr sz="1200"/>
              <a:t>Attention uses dot products (similarity between tokens)</a:t>
            </a:r>
          </a:p>
          <a:p>
            <a:pPr>
              <a:spcAft>
                <a:spcPts val="267"/>
              </a:spcAft>
              <a:defRPr sz="1100" b="1">
                <a:solidFill>
                  <a:srgbClr val="4CAF50"/>
                </a:solidFill>
              </a:defRPr>
            </a:pPr>
            <a:r>
              <a:rPr sz="1467"/>
              <a:t>Recommendation</a:t>
            </a:r>
          </a:p>
          <a:p>
            <a:pPr>
              <a:spcAft>
                <a:spcPts val="1067"/>
              </a:spcAft>
              <a:defRPr sz="900">
                <a:solidFill>
                  <a:srgbClr val="2C3E50"/>
                </a:solidFill>
              </a:defRPr>
            </a:pPr>
            <a:r>
              <a:rPr sz="1200"/>
              <a:t>Netflix: vector dot product for similarity</a:t>
            </a:r>
          </a:p>
          <a:p>
            <a:pPr>
              <a:spcAft>
                <a:spcPts val="267"/>
              </a:spcAft>
              <a:defRPr sz="1100" b="1">
                <a:solidFill>
                  <a:srgbClr val="4CAF50"/>
                </a:solidFill>
              </a:defRPr>
            </a:pPr>
            <a:r>
              <a:rPr sz="1467"/>
              <a:t>Image Search</a:t>
            </a:r>
          </a:p>
          <a:p>
            <a:pPr>
              <a:spcAft>
                <a:spcPts val="1067"/>
              </a:spcAft>
              <a:defRPr sz="900">
                <a:solidFill>
                  <a:srgbClr val="2C3E50"/>
                </a:solidFill>
              </a:defRPr>
            </a:pPr>
            <a:r>
              <a:rPr sz="1200"/>
              <a:t>Google: dot product of image embeddings</a:t>
            </a:r>
          </a:p>
          <a:p>
            <a:pPr>
              <a:spcAft>
                <a:spcPts val="267"/>
              </a:spcAft>
              <a:defRPr sz="1100" b="1">
                <a:solidFill>
                  <a:srgbClr val="4CAF50"/>
                </a:solidFill>
              </a:defRPr>
            </a:pPr>
            <a:r>
              <a:rPr sz="1467"/>
              <a:t>LLMs</a:t>
            </a:r>
          </a:p>
          <a:p>
            <a:pPr>
              <a:spcAft>
                <a:spcPts val="1067"/>
              </a:spcAft>
              <a:defRPr sz="900">
                <a:solidFill>
                  <a:srgbClr val="2C3E50"/>
                </a:solidFill>
              </a:defRPr>
            </a:pPr>
            <a:r>
              <a:rPr sz="1200"/>
              <a:t>ChatGPT: attention mechanism is dots of Q,K,V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608320"/>
            <a:ext cx="11460480" cy="103632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548640" y="5669281"/>
            <a:ext cx="11216640" cy="502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6B6B"/>
                </a:solidFill>
              </a:defRPr>
            </a:pPr>
            <a:r>
              <a:rPr sz="1333"/>
              <a:t>Performance Impact: GPUs compute billions of dot products per second (billions times faster than CPU)! This is why deep learning exploded when GPUs became available.</a:t>
            </a:r>
          </a:p>
        </p:txBody>
      </p:sp>
      <p:pic>
        <p:nvPicPr>
          <p:cNvPr id="9" name="Picture 2" descr="LPU Distance Education| Recognitions &amp; Approvals">
            <a:extLst>
              <a:ext uri="{FF2B5EF4-FFF2-40B4-BE49-F238E27FC236}">
                <a16:creationId xmlns:a16="http://schemas.microsoft.com/office/drawing/2014/main" id="{2FD3248B-8052-3B15-D87F-67EE8DDE2A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2967A7EC-AD68-1F02-F73C-76AAAD246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  <a:ln>
            <a:solidFill>
              <a:srgbClr val="E8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0803987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E88E5"/>
                </a:solidFill>
              </a:defRPr>
            </a:pPr>
            <a:r>
              <a:rPr sz="4267" dirty="0"/>
              <a:t>Matrix Multiplication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0"/>
            <a:ext cx="5608320" cy="2336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 b="1">
                <a:solidFill>
                  <a:srgbClr val="1E88E5"/>
                </a:solidFill>
              </a:defRPr>
            </a:pPr>
            <a:r>
              <a:rPr sz="1867"/>
              <a:t>What is Matrix Multiplication?</a:t>
            </a:r>
          </a:p>
          <a:p>
            <a:pPr>
              <a:spcAft>
                <a:spcPts val="1333"/>
              </a:spcAft>
              <a:defRPr sz="1100">
                <a:solidFill>
                  <a:srgbClr val="2C3E50"/>
                </a:solidFill>
              </a:defRPr>
            </a:pPr>
            <a:r>
              <a:rPr sz="1467"/>
              <a:t>Multiply matrix A (M×N) by matrix B (N×P)</a:t>
            </a:r>
          </a:p>
          <a:p>
            <a:pPr>
              <a:spcAft>
                <a:spcPts val="1067"/>
              </a:spcAft>
              <a:defRPr sz="1100">
                <a:solidFill>
                  <a:srgbClr val="2C3E50"/>
                </a:solidFill>
              </a:defRPr>
            </a:pPr>
            <a:r>
              <a:rPr sz="1467"/>
              <a:t>Result C (M×P) where:</a:t>
            </a:r>
          </a:p>
          <a:p>
            <a:pPr>
              <a:spcAft>
                <a:spcPts val="1600"/>
              </a:spcAft>
              <a:defRPr sz="1100" b="1">
                <a:solidFill>
                  <a:srgbClr val="4CAF50"/>
                </a:solidFill>
                <a:latin typeface="Courier New"/>
              </a:defRPr>
            </a:pPr>
            <a:r>
              <a:rPr sz="1467"/>
              <a:t>C[i,j] = row i of A · column j of B</a:t>
            </a:r>
          </a:p>
          <a:p>
            <a:pPr>
              <a:spcAft>
                <a:spcPts val="667"/>
              </a:spcAft>
              <a:defRPr sz="1100" b="1">
                <a:solidFill>
                  <a:srgbClr val="1E88E5"/>
                </a:solidFill>
              </a:defRPr>
            </a:pPr>
            <a:r>
              <a:rPr sz="1467"/>
              <a:t>Dimension Rule:</a:t>
            </a:r>
          </a:p>
          <a:p>
            <a:pPr>
              <a:defRPr sz="1200" b="1">
                <a:solidFill>
                  <a:srgbClr val="FF6B6B"/>
                </a:solidFill>
                <a:latin typeface="Courier New"/>
              </a:defRPr>
            </a:pPr>
            <a:r>
              <a:rPr sz="1600"/>
              <a:t>(M×N) × (N×P) = (M×P)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9840" y="1036321"/>
            <a:ext cx="5486400" cy="2328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 b="1">
                <a:solidFill>
                  <a:srgbClr val="16A085"/>
                </a:solidFill>
              </a:defRPr>
            </a:pPr>
            <a:r>
              <a:rPr sz="1867"/>
              <a:t>Why It Matters</a:t>
            </a:r>
          </a:p>
          <a:p>
            <a:pPr>
              <a:spcAft>
                <a:spcPts val="800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Foundation of ALL neural networks</a:t>
            </a:r>
          </a:p>
          <a:p>
            <a:pPr>
              <a:spcAft>
                <a:spcPts val="800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Most computationally expensive operation</a:t>
            </a:r>
          </a:p>
          <a:p>
            <a:pPr>
              <a:spcAft>
                <a:spcPts val="800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Where 90% of GPU time is spent</a:t>
            </a:r>
          </a:p>
          <a:p>
            <a:pPr>
              <a:spcAft>
                <a:spcPts val="800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Determines inference latency</a:t>
            </a:r>
          </a:p>
          <a:p>
            <a:pPr>
              <a:spcAft>
                <a:spcPts val="800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Limits model size on devices</a:t>
            </a:r>
          </a:p>
          <a:p>
            <a:pPr>
              <a:spcAft>
                <a:spcPts val="800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GPUs designed to optimize this</a:t>
            </a:r>
          </a:p>
        </p:txBody>
      </p:sp>
      <p:pic>
        <p:nvPicPr>
          <p:cNvPr id="7" name="Picture 2" descr="LPU Distance Education| Recognitions &amp; Approvals">
            <a:extLst>
              <a:ext uri="{FF2B5EF4-FFF2-40B4-BE49-F238E27FC236}">
                <a16:creationId xmlns:a16="http://schemas.microsoft.com/office/drawing/2014/main" id="{B2B41C15-1627-7ABF-8828-2EE5C82B20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B37F5E49-6F74-F555-9780-14402AA101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  <a:ln>
            <a:solidFill>
              <a:srgbClr val="E8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761236" y="42296"/>
            <a:ext cx="10293715" cy="70788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1E88E5"/>
                </a:solidFill>
              </a:defRPr>
            </a:pPr>
            <a:r>
              <a:rPr sz="4000" dirty="0"/>
              <a:t>Matrix Multiplication: Neural Network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11460480" cy="359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FF6B6B"/>
                </a:solidFill>
              </a:defRPr>
            </a:pPr>
            <a:r>
              <a:rPr sz="1733"/>
              <a:t>3-Layer Neural Network Forward 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28156"/>
            <a:ext cx="11094720" cy="487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67"/>
              </a:spcAft>
              <a:defRPr sz="900">
                <a:solidFill>
                  <a:srgbClr val="2C3E50"/>
                </a:solidFill>
              </a:defRPr>
            </a:pPr>
            <a:r>
              <a:rPr sz="1400" dirty="0"/>
              <a:t>Input: x = [0.5, 0.3]  (2D input image features)</a:t>
            </a:r>
          </a:p>
          <a:p>
            <a:pPr>
              <a:spcAft>
                <a:spcPts val="267"/>
              </a:spcAft>
              <a:defRPr sz="900">
                <a:solidFill>
                  <a:srgbClr val="2C3E50"/>
                </a:solidFill>
              </a:defRPr>
            </a:pPr>
            <a:endParaRPr sz="1400" dirty="0"/>
          </a:p>
          <a:p>
            <a:pPr>
              <a:spcAft>
                <a:spcPts val="267"/>
              </a:spcAft>
              <a:defRPr sz="1000" b="1">
                <a:solidFill>
                  <a:srgbClr val="1E88E5"/>
                </a:solidFill>
              </a:defRPr>
            </a:pPr>
            <a:r>
              <a:rPr sz="1400" dirty="0"/>
              <a:t>Layer 1 (W1: 2×128):  h1 = W1 × x          (2×128 × 2×1 = 128×1)</a:t>
            </a:r>
          </a:p>
          <a:p>
            <a:pPr>
              <a:spcAft>
                <a:spcPts val="267"/>
              </a:spcAft>
              <a:defRPr sz="900">
                <a:solidFill>
                  <a:srgbClr val="2C3E50"/>
                </a:solidFill>
              </a:defRPr>
            </a:pPr>
            <a:r>
              <a:rPr sz="1400" dirty="0"/>
              <a:t>          Output: 128 hidden neurons</a:t>
            </a:r>
          </a:p>
          <a:p>
            <a:pPr>
              <a:spcAft>
                <a:spcPts val="267"/>
              </a:spcAft>
              <a:defRPr sz="900">
                <a:solidFill>
                  <a:srgbClr val="2C3E50"/>
                </a:solidFill>
              </a:defRPr>
            </a:pPr>
            <a:endParaRPr sz="1400" dirty="0"/>
          </a:p>
          <a:p>
            <a:pPr>
              <a:spcAft>
                <a:spcPts val="267"/>
              </a:spcAft>
              <a:defRPr sz="1000" b="1">
                <a:solidFill>
                  <a:srgbClr val="1E88E5"/>
                </a:solidFill>
              </a:defRPr>
            </a:pPr>
            <a:r>
              <a:rPr sz="1400" dirty="0"/>
              <a:t>Layer 2 (W2: 128×64): h2 = W2 × h1         (128×64 × 128×1 = 64×1)</a:t>
            </a:r>
          </a:p>
          <a:p>
            <a:pPr>
              <a:spcAft>
                <a:spcPts val="267"/>
              </a:spcAft>
              <a:defRPr sz="900">
                <a:solidFill>
                  <a:srgbClr val="2C3E50"/>
                </a:solidFill>
              </a:defRPr>
            </a:pPr>
            <a:r>
              <a:rPr sz="1400" dirty="0"/>
              <a:t>          Output: 64 hidden neurons</a:t>
            </a:r>
          </a:p>
          <a:p>
            <a:pPr>
              <a:spcAft>
                <a:spcPts val="267"/>
              </a:spcAft>
              <a:defRPr sz="900">
                <a:solidFill>
                  <a:srgbClr val="2C3E50"/>
                </a:solidFill>
              </a:defRPr>
            </a:pPr>
            <a:endParaRPr sz="1400" dirty="0"/>
          </a:p>
          <a:p>
            <a:pPr>
              <a:spcAft>
                <a:spcPts val="267"/>
              </a:spcAft>
              <a:defRPr sz="1000" b="1">
                <a:solidFill>
                  <a:srgbClr val="1E88E5"/>
                </a:solidFill>
              </a:defRPr>
            </a:pPr>
            <a:r>
              <a:rPr sz="1400" dirty="0"/>
              <a:t>Layer 3 (W3: 64×10):  logits = W3 × h2     (64×10 × 64×1 = 10×1)</a:t>
            </a:r>
          </a:p>
          <a:p>
            <a:pPr>
              <a:spcAft>
                <a:spcPts val="267"/>
              </a:spcAft>
              <a:defRPr sz="900">
                <a:solidFill>
                  <a:srgbClr val="2C3E50"/>
                </a:solidFill>
              </a:defRPr>
            </a:pPr>
            <a:r>
              <a:rPr sz="1400" dirty="0"/>
              <a:t>          Output: 10 class probabilities (</a:t>
            </a:r>
            <a:r>
              <a:rPr sz="1400" dirty="0" err="1"/>
              <a:t>softmax</a:t>
            </a:r>
            <a:r>
              <a:rPr sz="1400" dirty="0"/>
              <a:t>)</a:t>
            </a:r>
          </a:p>
          <a:p>
            <a:pPr>
              <a:spcAft>
                <a:spcPts val="267"/>
              </a:spcAft>
              <a:defRPr sz="900">
                <a:solidFill>
                  <a:srgbClr val="2C3E50"/>
                </a:solidFill>
              </a:defRPr>
            </a:pPr>
            <a:endParaRPr sz="1400" dirty="0"/>
          </a:p>
          <a:p>
            <a:pPr>
              <a:spcAft>
                <a:spcPts val="267"/>
              </a:spcAft>
              <a:defRPr sz="1000" b="1">
                <a:solidFill>
                  <a:srgbClr val="1E88E5"/>
                </a:solidFill>
              </a:defRPr>
            </a:pPr>
            <a:r>
              <a:rPr sz="1400" dirty="0"/>
              <a:t>Computation:</a:t>
            </a:r>
          </a:p>
          <a:p>
            <a:pPr>
              <a:spcAft>
                <a:spcPts val="267"/>
              </a:spcAft>
              <a:defRPr sz="1000" b="1">
                <a:solidFill>
                  <a:srgbClr val="1E88E5"/>
                </a:solidFill>
              </a:defRPr>
            </a:pPr>
            <a:r>
              <a:rPr sz="1400" dirty="0"/>
              <a:t>- Layer 1: 2 * 128 = 256 multiplications</a:t>
            </a:r>
          </a:p>
          <a:p>
            <a:pPr>
              <a:spcAft>
                <a:spcPts val="267"/>
              </a:spcAft>
              <a:defRPr sz="1000" b="1">
                <a:solidFill>
                  <a:srgbClr val="1E88E5"/>
                </a:solidFill>
              </a:defRPr>
            </a:pPr>
            <a:r>
              <a:rPr sz="1400" dirty="0"/>
              <a:t>- Layer 2: 128 * 64 = 8,192 multiplications</a:t>
            </a:r>
          </a:p>
          <a:p>
            <a:pPr>
              <a:spcAft>
                <a:spcPts val="267"/>
              </a:spcAft>
              <a:defRPr sz="1000" b="1">
                <a:solidFill>
                  <a:srgbClr val="1E88E5"/>
                </a:solidFill>
              </a:defRPr>
            </a:pPr>
            <a:r>
              <a:rPr sz="1400" dirty="0"/>
              <a:t>- Layer 3: 64 * 10 = 640 multiplications</a:t>
            </a:r>
          </a:p>
          <a:p>
            <a:pPr>
              <a:spcAft>
                <a:spcPts val="267"/>
              </a:spcAft>
              <a:defRPr sz="1000" b="1">
                <a:solidFill>
                  <a:srgbClr val="1E88E5"/>
                </a:solidFill>
              </a:defRPr>
            </a:pPr>
            <a:r>
              <a:rPr sz="1400" dirty="0"/>
              <a:t>Total: 9,088 </a:t>
            </a:r>
            <a:r>
              <a:rPr sz="1400" dirty="0" err="1"/>
              <a:t>mults</a:t>
            </a:r>
            <a:r>
              <a:rPr sz="1400" dirty="0"/>
              <a:t> per sample!</a:t>
            </a:r>
          </a:p>
          <a:p>
            <a:pPr>
              <a:spcAft>
                <a:spcPts val="267"/>
              </a:spcAft>
              <a:defRPr sz="900">
                <a:solidFill>
                  <a:srgbClr val="2C3E50"/>
                </a:solidFill>
              </a:defRPr>
            </a:pPr>
            <a:endParaRPr sz="1400" dirty="0"/>
          </a:p>
          <a:p>
            <a:pPr>
              <a:spcAft>
                <a:spcPts val="267"/>
              </a:spcAft>
              <a:defRPr sz="900">
                <a:solidFill>
                  <a:srgbClr val="2C3E50"/>
                </a:solidFill>
              </a:defRPr>
            </a:pPr>
            <a:r>
              <a:rPr sz="1400" dirty="0"/>
              <a:t>Batch of 32 samples: 291,000 multiplications</a:t>
            </a:r>
          </a:p>
          <a:p>
            <a:pPr>
              <a:spcAft>
                <a:spcPts val="267"/>
              </a:spcAft>
              <a:defRPr sz="900">
                <a:solidFill>
                  <a:srgbClr val="2C3E50"/>
                </a:solidFill>
              </a:defRPr>
            </a:pPr>
            <a:r>
              <a:rPr sz="1400" dirty="0"/>
              <a:t>ImageNet (1000 classes): 128,000 multiplications per layer!</a:t>
            </a:r>
          </a:p>
        </p:txBody>
      </p:sp>
      <p:pic>
        <p:nvPicPr>
          <p:cNvPr id="7" name="Picture 2" descr="LPU Distance Education| Recognitions &amp; Approvals">
            <a:extLst>
              <a:ext uri="{FF2B5EF4-FFF2-40B4-BE49-F238E27FC236}">
                <a16:creationId xmlns:a16="http://schemas.microsoft.com/office/drawing/2014/main" id="{49219AC3-35F7-853A-E491-7255F6525B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86B9FED3-0B19-E479-D504-E8BFDB3A0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  <a:ln>
            <a:solidFill>
              <a:srgbClr val="E8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0803988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E88E5"/>
                </a:solidFill>
              </a:defRPr>
            </a:pPr>
            <a:r>
              <a:rPr sz="4267" dirty="0"/>
              <a:t>Matrix Multiplication: Visual Representation</a:t>
            </a:r>
          </a:p>
        </p:txBody>
      </p:sp>
      <p:pic>
        <p:nvPicPr>
          <p:cNvPr id="5" name="Picture 4" descr="03_matrix_m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" y="814225"/>
            <a:ext cx="11460480" cy="6645152"/>
          </a:xfrm>
          <a:prstGeom prst="rect">
            <a:avLst/>
          </a:prstGeom>
        </p:spPr>
      </p:pic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248F0E9C-0DC2-51A1-4E2D-74C177EA0F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6FD8475C-E8C6-C608-E4B0-55A8A6DBD1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  <a:ln>
            <a:solidFill>
              <a:srgbClr val="E8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0803988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E88E5"/>
                </a:solidFill>
              </a:defRPr>
            </a:pPr>
            <a:r>
              <a:rPr sz="4267" dirty="0"/>
              <a:t>Matrix Multiplication in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5608320" cy="2544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 b="1">
                <a:solidFill>
                  <a:srgbClr val="1E88E5"/>
                </a:solidFill>
              </a:defRPr>
            </a:pPr>
            <a:r>
              <a:rPr sz="1867"/>
              <a:t>Model Performance</a:t>
            </a:r>
          </a:p>
          <a:p>
            <a:pPr>
              <a:spcAft>
                <a:spcPts val="1333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GPU Acceleration Makes This Possible:</a:t>
            </a:r>
          </a:p>
          <a:p>
            <a:pPr>
              <a:spcAft>
                <a:spcPts val="267"/>
              </a:spcAft>
              <a:defRPr sz="1000" b="1">
                <a:solidFill>
                  <a:srgbClr val="4CAF50"/>
                </a:solidFill>
              </a:defRPr>
            </a:pPr>
            <a:r>
              <a:rPr sz="1333"/>
              <a:t>CPU (1 core)</a:t>
            </a:r>
          </a:p>
          <a:p>
            <a:pPr>
              <a:spcAft>
                <a:spcPts val="1067"/>
              </a:spcAft>
              <a:defRPr sz="900">
                <a:solidFill>
                  <a:srgbClr val="2C3E50"/>
                </a:solidFill>
              </a:defRPr>
            </a:pPr>
            <a:r>
              <a:rPr sz="1200"/>
              <a:t>1 mult/cycle = 100M mults/sec</a:t>
            </a:r>
          </a:p>
          <a:p>
            <a:pPr>
              <a:spcAft>
                <a:spcPts val="267"/>
              </a:spcAft>
              <a:defRPr sz="1000" b="1">
                <a:solidFill>
                  <a:srgbClr val="4CAF50"/>
                </a:solidFill>
              </a:defRPr>
            </a:pPr>
            <a:r>
              <a:rPr sz="1333"/>
              <a:t>GPU (100 cores)</a:t>
            </a:r>
          </a:p>
          <a:p>
            <a:pPr>
              <a:spcAft>
                <a:spcPts val="1067"/>
              </a:spcAft>
              <a:defRPr sz="900">
                <a:solidFill>
                  <a:srgbClr val="2C3E50"/>
                </a:solidFill>
              </a:defRPr>
            </a:pPr>
            <a:r>
              <a:rPr sz="1200"/>
              <a:t>100 mults/cycle = 10B mults/sec</a:t>
            </a:r>
          </a:p>
          <a:p>
            <a:pPr>
              <a:spcAft>
                <a:spcPts val="267"/>
              </a:spcAft>
              <a:defRPr sz="1000" b="1">
                <a:solidFill>
                  <a:srgbClr val="4CAF50"/>
                </a:solidFill>
              </a:defRPr>
            </a:pPr>
            <a:r>
              <a:rPr sz="1333"/>
              <a:t>Speedup</a:t>
            </a:r>
          </a:p>
          <a:p>
            <a:pPr>
              <a:spcAft>
                <a:spcPts val="1067"/>
              </a:spcAft>
              <a:defRPr sz="900">
                <a:solidFill>
                  <a:srgbClr val="2C3E50"/>
                </a:solidFill>
              </a:defRPr>
            </a:pPr>
            <a:r>
              <a:rPr sz="1200"/>
              <a:t>100x faster on GPU!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9840" y="1036321"/>
            <a:ext cx="5486400" cy="2803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 b="1">
                <a:solidFill>
                  <a:srgbClr val="16A085"/>
                </a:solidFill>
              </a:defRPr>
            </a:pPr>
            <a:r>
              <a:rPr sz="1867"/>
              <a:t>ML Applications</a:t>
            </a:r>
          </a:p>
          <a:p>
            <a:pPr>
              <a:spcAft>
                <a:spcPts val="267"/>
              </a:spcAft>
              <a:defRPr sz="1100" b="1">
                <a:solidFill>
                  <a:srgbClr val="4CAF50"/>
                </a:solidFill>
              </a:defRPr>
            </a:pPr>
            <a:r>
              <a:rPr sz="1467"/>
              <a:t>Neural Networks</a:t>
            </a:r>
          </a:p>
          <a:p>
            <a:pPr>
              <a:spcAft>
                <a:spcPts val="1067"/>
              </a:spcAft>
              <a:defRPr sz="900">
                <a:solidFill>
                  <a:srgbClr val="2C3E50"/>
                </a:solidFill>
              </a:defRPr>
            </a:pPr>
            <a:r>
              <a:rPr sz="1200"/>
              <a:t>Every forward/backward pass is matrix multiply</a:t>
            </a:r>
          </a:p>
          <a:p>
            <a:pPr>
              <a:spcAft>
                <a:spcPts val="267"/>
              </a:spcAft>
              <a:defRPr sz="1100" b="1">
                <a:solidFill>
                  <a:srgbClr val="4CAF50"/>
                </a:solidFill>
              </a:defRPr>
            </a:pPr>
            <a:r>
              <a:rPr sz="1467"/>
              <a:t>Deep Learning</a:t>
            </a:r>
          </a:p>
          <a:p>
            <a:pPr>
              <a:spcAft>
                <a:spcPts val="1067"/>
              </a:spcAft>
              <a:defRPr sz="900">
                <a:solidFill>
                  <a:srgbClr val="2C3E50"/>
                </a:solidFill>
              </a:defRPr>
            </a:pPr>
            <a:r>
              <a:rPr sz="1200"/>
              <a:t>ResNet: 50+ layers of matrix multiply</a:t>
            </a:r>
          </a:p>
          <a:p>
            <a:pPr>
              <a:spcAft>
                <a:spcPts val="267"/>
              </a:spcAft>
              <a:defRPr sz="1100" b="1">
                <a:solidFill>
                  <a:srgbClr val="4CAF50"/>
                </a:solidFill>
              </a:defRPr>
            </a:pPr>
            <a:r>
              <a:rPr sz="1467"/>
              <a:t>Transformers</a:t>
            </a:r>
          </a:p>
          <a:p>
            <a:pPr>
              <a:spcAft>
                <a:spcPts val="1067"/>
              </a:spcAft>
              <a:defRPr sz="900">
                <a:solidFill>
                  <a:srgbClr val="2C3E50"/>
                </a:solidFill>
              </a:defRPr>
            </a:pPr>
            <a:r>
              <a:rPr sz="1200"/>
              <a:t>GPT: hundreds of matrix multiplications</a:t>
            </a:r>
          </a:p>
          <a:p>
            <a:pPr>
              <a:spcAft>
                <a:spcPts val="267"/>
              </a:spcAft>
              <a:defRPr sz="1100" b="1">
                <a:solidFill>
                  <a:srgbClr val="4CAF50"/>
                </a:solidFill>
              </a:defRPr>
            </a:pPr>
            <a:r>
              <a:rPr sz="1467"/>
              <a:t>Convolutional</a:t>
            </a:r>
          </a:p>
          <a:p>
            <a:pPr>
              <a:spcAft>
                <a:spcPts val="1067"/>
              </a:spcAft>
              <a:defRPr sz="900">
                <a:solidFill>
                  <a:srgbClr val="2C3E50"/>
                </a:solidFill>
              </a:defRPr>
            </a:pPr>
            <a:r>
              <a:rPr sz="1200"/>
              <a:t>CNN: convolution = sliding matrix multiply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608320"/>
            <a:ext cx="11460480" cy="1036320"/>
          </a:xfrm>
          <a:prstGeom prst="rect">
            <a:avLst/>
          </a:prstGeom>
          <a:solidFill>
            <a:srgbClr val="F5F5F5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548640" y="5669281"/>
            <a:ext cx="11216640" cy="502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CAF50"/>
                </a:solidFill>
              </a:defRPr>
            </a:pPr>
            <a:r>
              <a:rPr sz="1333"/>
              <a:t>Why Deep Learning Exploded: GPUs are optimized for matrix multiplication. Without efficient matrix ops, training ResNet-50 would take DAYS on CPU, but only HOURS on GPU!</a:t>
            </a:r>
          </a:p>
        </p:txBody>
      </p:sp>
      <p:pic>
        <p:nvPicPr>
          <p:cNvPr id="9" name="Picture 2" descr="LPU Distance Education| Recognitions &amp; Approvals">
            <a:extLst>
              <a:ext uri="{FF2B5EF4-FFF2-40B4-BE49-F238E27FC236}">
                <a16:creationId xmlns:a16="http://schemas.microsoft.com/office/drawing/2014/main" id="{D706A8CA-0D72-C17B-844A-43A50A9264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E8DBFF71-3BBA-5C5E-C04E-5EE5E89AE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1218</Words>
  <Application>Microsoft Office PowerPoint</Application>
  <PresentationFormat>Widescreen</PresentationFormat>
  <Paragraphs>173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Bharti</dc:creator>
  <cp:lastModifiedBy>Rohit Bharti</cp:lastModifiedBy>
  <cp:revision>22</cp:revision>
  <dcterms:created xsi:type="dcterms:W3CDTF">2026-01-17T04:40:06Z</dcterms:created>
  <dcterms:modified xsi:type="dcterms:W3CDTF">2026-01-17T06:14:19Z</dcterms:modified>
</cp:coreProperties>
</file>